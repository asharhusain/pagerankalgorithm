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title treatment and both presenters retained. Scope proceeds serial → worked examples → OpenMP → MPI → measurements. References: project source files listed in later slide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PageRank is an importance signal, not a complete ranking. Damping is 0.85 in this implementation. Teleportation contributes (1-d)/N; dangling rank contributes dD/N.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matches the final narrative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source uses incoming adjacency in compressed sparse row form: in_offsets and in_sources, plus out_degree. Source: c/shared_graph.h.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Facts from c/shared_graph.h. The iteration stops when the global L1 change is below 1e-6, or at 10,000 iterations.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serial algorithm is a reference. Destination updates within one iteration are independent once dangling mass is known; iteration steps themselves depend on the preceding rank vector. Source: c/serial_pagerank.c.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Verbatim excerpt from c/serial_pagerank.c:42–51. Incoming CSR fields are defined in c/shared_graph.h.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Confirmed worked example from c/shared_graph.h; ranks displayed to four decimals. Convergence criterion L1 &lt; 1e-6. Final vector approximately [0.3202, 0.1736, 0.1736, 0.3326].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Confirmed worked example from c/shared_graph.h; ranks displayed to four decimals. Convergence criterion L1 &lt; 1e-6. Final vector approximately [0.2646, 0.3079, 0.2138, 0.2138].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 outputs/comparison.csv and report.md. These are application-reported medians. No stale historical measurements included.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Verbatim OpenMP directives from c/openmp_pagerank.c:33–49. The destination loop has no atomic or critical update. Static scheduling balances vertex counts, not necessarily incoming-edge work. Implicit barriers occur at loop completion.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OpenMP uses one shared address space; reductions combine thread-local partial sums. Small reduction-order differences are expected; correctness is assessed with rank tolerances, not bitwise equality. Source: c/openmp_pagerank.c.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implementation deterministically builds the same graph on each process. It does not scatter or partition the graph. Source: c/mpi_pagerank.c:26–38.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N=10, P=4 illustrative ownership. Counts are 2,3,2,3; imbalance at most one vertex. P&gt;N can create empty ranges; not benchmarked. Source: c/mpi_pagerank.c:36–60.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Exact order from c/mpi_pagerank.c: local dangling → Allreduce SUM → owned updates → Allgatherv → local error → Allreduce SUM → swap/common test. After convergence, MPI_Reduce MPI_MAX reports maximum elapsed time to rank 0; this is not an iteration collective.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N=10 fixture is explicit with 11 edges and is separate from the two four-node worked examples. The gather combines destination values, not graph data. Ownership ranges: [0,2), [2,5), [5,7), [7,10). Source: c/shared_graph.h and c/mpi_pagerank.c.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excerpts from c/mpi_pagerank.c lines 36–38, 73, 87–93. Ellipsis denotes omitted update loop, not source text. counts[p]=floor(N(p+1)/P)-floor(Np/P); displacements[p]=floor(Np/P).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Idealized update work only; no unsupported total wall-time complexity claim. Each rank constructs and stores same graph; two full vectors. Communication adds cost. Source: c/mpi_pagerank.c and c/shared_graph.h.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five benchmark sizes and every worker setting are shown. Medians from outputs/comparison.csv, converted from seconds to microseconds (displayed to 0.001 μs). OMP counts are threads; MPI counts are processes.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table from outputs/comparison.csv / report.md. Efficiency for one worker is speedup/1. Values are rounded; superlinear ratios can occur in single-host measurements and are not evidence of scalable efficiency.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Provenance: outputs/metadata.txt, outputs/comparison.csv, report.md. Host fields are separated for readability. Timing application-reported compute_elapsed; graph generation and process startup excluded. MPI is maximum elapsed across ranks. Single Intel host only; no cluster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values from outputs/metadata.txt and outputs/test_results.txt. Test suite: tests/test_pagerank.py. Suite reports six tests, zero failures/errors/skips; per-rank tolerance 5e-6 and final residual &lt;1e-6.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emphasizes measured conditions and memory trade-off. Avoid interpreting these tests as cluster scaling or universal MPI advantage.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thank-you close and presenter credits retained.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777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AB5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 311 · PARALLEL AND DISTRIBUTED COMPUTING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371600"/>
            <a:ext cx="5715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PageRank Algorithm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2461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serial recurrence to OpenMP and MPI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4919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AB5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Assignment I · Module I &amp; II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532180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Niranjan R Soorej · 2024BCS0117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Ashar Husain · 2024BCS0137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06640" y="1097280"/>
            <a:ext cx="2103120" cy="365760"/>
          </a:xfrm>
          <a:prstGeom prst="line">
            <a:avLst/>
          </a:prstGeom>
          <a:noFill/>
          <a:ln w="12700">
            <a:solidFill>
              <a:srgbClr val="344252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509760" y="1463040"/>
            <a:ext cx="-2651760" cy="1463040"/>
          </a:xfrm>
          <a:prstGeom prst="line">
            <a:avLst/>
          </a:prstGeom>
          <a:noFill/>
          <a:ln w="12700">
            <a:solidFill>
              <a:srgbClr val="344252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858000" y="2926080"/>
            <a:ext cx="1737360" cy="-91440"/>
          </a:xfrm>
          <a:prstGeom prst="line">
            <a:avLst/>
          </a:prstGeom>
          <a:noFill/>
          <a:ln w="12700">
            <a:solidFill>
              <a:srgbClr val="F2BD5B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8595360" y="2834640"/>
            <a:ext cx="2011680" cy="274320"/>
          </a:xfrm>
          <a:prstGeom prst="line">
            <a:avLst/>
          </a:prstGeom>
          <a:noFill/>
          <a:ln w="12700">
            <a:solidFill>
              <a:srgbClr val="344252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0607040" y="3108960"/>
            <a:ext cx="-3108960" cy="1554480"/>
          </a:xfrm>
          <a:prstGeom prst="line">
            <a:avLst/>
          </a:prstGeom>
          <a:noFill/>
          <a:ln w="12700">
            <a:solidFill>
              <a:srgbClr val="34425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7498080" y="4663440"/>
            <a:ext cx="2377440" cy="548640"/>
          </a:xfrm>
          <a:prstGeom prst="line">
            <a:avLst/>
          </a:prstGeom>
          <a:noFill/>
          <a:ln w="12700">
            <a:solidFill>
              <a:srgbClr val="344252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875520" y="5212080"/>
            <a:ext cx="822960" cy="-731520"/>
          </a:xfrm>
          <a:prstGeom prst="line">
            <a:avLst/>
          </a:prstGeom>
          <a:noFill/>
          <a:ln w="12700">
            <a:solidFill>
              <a:srgbClr val="344252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315200" y="1005840"/>
            <a:ext cx="201168" cy="201168"/>
          </a:xfrm>
          <a:prstGeom prst="ellipse">
            <a:avLst/>
          </a:prstGeom>
          <a:solidFill>
            <a:srgbClr val="0B0F14"/>
          </a:solidFill>
          <a:ln w="15240">
            <a:solidFill>
              <a:srgbClr val="64A7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18320" y="1371600"/>
            <a:ext cx="201168" cy="201168"/>
          </a:xfrm>
          <a:prstGeom prst="ellipse">
            <a:avLst/>
          </a:prstGeom>
          <a:solidFill>
            <a:srgbClr val="0B0F14"/>
          </a:solidFill>
          <a:ln w="15240">
            <a:solidFill>
              <a:srgbClr val="64A7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0" y="2834640"/>
            <a:ext cx="201168" cy="201168"/>
          </a:xfrm>
          <a:prstGeom prst="ellipse">
            <a:avLst/>
          </a:prstGeom>
          <a:solidFill>
            <a:srgbClr val="0B0F14"/>
          </a:solidFill>
          <a:ln w="15240">
            <a:solidFill>
              <a:srgbClr val="64A7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2743200"/>
            <a:ext cx="658368" cy="658368"/>
          </a:xfrm>
          <a:prstGeom prst="ellipse">
            <a:avLst/>
          </a:prstGeom>
          <a:solidFill>
            <a:srgbClr val="0B0F14"/>
          </a:solidFill>
          <a:ln w="15240">
            <a:solidFill>
              <a:srgbClr val="F2B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0" y="3017520"/>
            <a:ext cx="201168" cy="201168"/>
          </a:xfrm>
          <a:prstGeom prst="ellipse">
            <a:avLst/>
          </a:prstGeom>
          <a:solidFill>
            <a:srgbClr val="0B0F14"/>
          </a:solidFill>
          <a:ln w="15240">
            <a:solidFill>
              <a:srgbClr val="64A7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6640" y="4572000"/>
            <a:ext cx="201168" cy="201168"/>
          </a:xfrm>
          <a:prstGeom prst="ellipse">
            <a:avLst/>
          </a:prstGeom>
          <a:solidFill>
            <a:srgbClr val="0B0F14"/>
          </a:solidFill>
          <a:ln w="15240">
            <a:solidFill>
              <a:srgbClr val="64A7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0" y="5120640"/>
            <a:ext cx="201168" cy="201168"/>
          </a:xfrm>
          <a:prstGeom prst="ellipse">
            <a:avLst/>
          </a:prstGeom>
          <a:solidFill>
            <a:srgbClr val="0B0F14"/>
          </a:solidFill>
          <a:ln w="15240">
            <a:solidFill>
              <a:srgbClr val="64A7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07040" y="4389120"/>
            <a:ext cx="201168" cy="201168"/>
          </a:xfrm>
          <a:prstGeom prst="ellipse">
            <a:avLst/>
          </a:prstGeom>
          <a:solidFill>
            <a:srgbClr val="0B0F14"/>
          </a:solidFill>
          <a:ln w="15240">
            <a:solidFill>
              <a:srgbClr val="64A7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INTUITION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link is a vote — weighted by the page that casts it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6455664"/>
            <a:ext cx="11045952" cy="0"/>
          </a:xfrm>
          <a:prstGeom prst="line">
            <a:avLst/>
          </a:prstGeom>
          <a:noFill/>
          <a:ln w="8890">
            <a:solidFill>
              <a:srgbClr val="28323E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3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ASHAR HUSAIN · 2024BCS0137     /     NIRANJAN R SOOREJ · 2024BCS0117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0876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page shares its current rank across its outgoing links.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2316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page with no outgoing links is handled separately: its rank mass is redistributed uniformly.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955280" y="3200400"/>
            <a:ext cx="777240" cy="777240"/>
          </a:xfrm>
          <a:prstGeom prst="ellipse">
            <a:avLst/>
          </a:prstGeom>
          <a:solidFill>
            <a:srgbClr val="151C25"/>
          </a:solidFill>
          <a:ln w="15240">
            <a:solidFill>
              <a:srgbClr val="64A7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65008" y="34747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23560" y="1508760"/>
            <a:ext cx="201168" cy="201168"/>
          </a:xfrm>
          <a:prstGeom prst="ellipse">
            <a:avLst/>
          </a:prstGeom>
          <a:solidFill>
            <a:srgbClr val="151C25"/>
          </a:solidFill>
          <a:ln w="15240">
            <a:solidFill>
              <a:srgbClr val="F278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0" y="1609344"/>
            <a:ext cx="2103120" cy="1975104"/>
          </a:xfrm>
          <a:prstGeom prst="line">
            <a:avLst/>
          </a:prstGeom>
          <a:noFill/>
          <a:ln w="16510">
            <a:solidFill>
              <a:srgbClr val="F27878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5623560" y="2276856"/>
            <a:ext cx="201168" cy="201168"/>
          </a:xfrm>
          <a:prstGeom prst="ellipse">
            <a:avLst/>
          </a:prstGeom>
          <a:solidFill>
            <a:srgbClr val="151C25"/>
          </a:solidFill>
          <a:ln w="15240">
            <a:solidFill>
              <a:srgbClr val="F278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2377440"/>
            <a:ext cx="2103120" cy="1207008"/>
          </a:xfrm>
          <a:prstGeom prst="line">
            <a:avLst/>
          </a:prstGeom>
          <a:noFill/>
          <a:ln w="16510">
            <a:solidFill>
              <a:srgbClr val="F278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623560" y="3044952"/>
            <a:ext cx="201168" cy="201168"/>
          </a:xfrm>
          <a:prstGeom prst="ellipse">
            <a:avLst/>
          </a:prstGeom>
          <a:solidFill>
            <a:srgbClr val="151C25"/>
          </a:solidFill>
          <a:ln w="15240">
            <a:solidFill>
              <a:srgbClr val="F278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52160" y="3145536"/>
            <a:ext cx="2103120" cy="438912"/>
          </a:xfrm>
          <a:prstGeom prst="line">
            <a:avLst/>
          </a:prstGeom>
          <a:noFill/>
          <a:ln w="16510">
            <a:solidFill>
              <a:srgbClr val="F278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5623560" y="3813048"/>
            <a:ext cx="201168" cy="201168"/>
          </a:xfrm>
          <a:prstGeom prst="ellipse">
            <a:avLst/>
          </a:prstGeom>
          <a:solidFill>
            <a:srgbClr val="151C25"/>
          </a:solidFill>
          <a:ln w="15240">
            <a:solidFill>
              <a:srgbClr val="F278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52160" y="3913632"/>
            <a:ext cx="2103120" cy="-329184"/>
          </a:xfrm>
          <a:prstGeom prst="line">
            <a:avLst/>
          </a:prstGeom>
          <a:noFill/>
          <a:ln w="16510">
            <a:solidFill>
              <a:srgbClr val="F2787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5623560" y="4581144"/>
            <a:ext cx="201168" cy="201168"/>
          </a:xfrm>
          <a:prstGeom prst="ellipse">
            <a:avLst/>
          </a:prstGeom>
          <a:solidFill>
            <a:srgbClr val="151C25"/>
          </a:solidFill>
          <a:ln w="15240">
            <a:solidFill>
              <a:srgbClr val="F2787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52160" y="4681728"/>
            <a:ext cx="2103120" cy="-1097280"/>
          </a:xfrm>
          <a:prstGeom prst="line">
            <a:avLst/>
          </a:prstGeom>
          <a:noFill/>
          <a:ln w="16510">
            <a:solidFill>
              <a:srgbClr val="F27878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646920" y="4434840"/>
            <a:ext cx="347472" cy="347472"/>
          </a:xfrm>
          <a:prstGeom prst="ellipse">
            <a:avLst/>
          </a:prstGeom>
          <a:solidFill>
            <a:srgbClr val="151C25"/>
          </a:solidFill>
          <a:ln w="15240">
            <a:solidFill>
              <a:srgbClr val="F2BD5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46920" y="4434840"/>
            <a:ext cx="-978408" cy="-685800"/>
          </a:xfrm>
          <a:prstGeom prst="line">
            <a:avLst/>
          </a:prstGeom>
          <a:noFill/>
          <a:ln w="25400">
            <a:solidFill>
              <a:srgbClr val="F2BD5B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731520" y="3675888"/>
            <a:ext cx="914400" cy="292608"/>
          </a:xfrm>
          <a:prstGeom prst="roundRect">
            <a:avLst>
              <a:gd name="adj" fmla="val 43750"/>
            </a:avLst>
          </a:prstGeom>
          <a:solidFill>
            <a:srgbClr val="26313C"/>
          </a:solidFill>
          <a:ln w="12700">
            <a:solidFill>
              <a:srgbClr val="26313C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36987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0.85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422452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Teleportation keeps the model from getting trapped in link structure; it is distinct from dangling-mass redistribution.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ROADMAP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recurrence, three execution models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6455664"/>
            <a:ext cx="11045952" cy="0"/>
          </a:xfrm>
          <a:prstGeom prst="line">
            <a:avLst/>
          </a:prstGeom>
          <a:noFill/>
          <a:ln w="8890">
            <a:solidFill>
              <a:srgbClr val="28323E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3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ASHAR HUSAIN · 2024BCS0137     /     NIRANJAN R SOOREJ · 2024BCS0117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05840" y="2148840"/>
            <a:ext cx="457200" cy="457200"/>
          </a:xfrm>
          <a:prstGeom prst="ellipse">
            <a:avLst/>
          </a:prstGeom>
          <a:solidFill>
            <a:srgbClr val="151C25"/>
          </a:solidFill>
          <a:ln w="15240">
            <a:solidFill>
              <a:srgbClr val="64A7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276856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63040" y="2377440"/>
            <a:ext cx="1554480" cy="0"/>
          </a:xfrm>
          <a:prstGeom prst="line">
            <a:avLst/>
          </a:prstGeom>
          <a:noFill/>
          <a:ln w="25400">
            <a:solidFill>
              <a:srgbClr val="344252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 txBox="1"/>
          <p:nvPr/>
        </p:nvSpPr>
        <p:spPr>
          <a:xfrm>
            <a:off x="731520" y="2834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3101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algorithm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2148840"/>
            <a:ext cx="457200" cy="457200"/>
          </a:xfrm>
          <a:prstGeom prst="ellipse">
            <a:avLst/>
          </a:prstGeom>
          <a:solidFill>
            <a:srgbClr val="151C25"/>
          </a:solidFill>
          <a:ln w="15240">
            <a:solidFill>
              <a:srgbClr val="64A7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37560" y="2276856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49040" y="2377440"/>
            <a:ext cx="1554480" cy="0"/>
          </a:xfrm>
          <a:prstGeom prst="line">
            <a:avLst/>
          </a:prstGeom>
          <a:noFill/>
          <a:ln w="25400">
            <a:solidFill>
              <a:srgbClr val="344252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 txBox="1"/>
          <p:nvPr/>
        </p:nvSpPr>
        <p:spPr>
          <a:xfrm>
            <a:off x="3017520" y="2834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2971800" y="33101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four-node graphs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577840" y="2148840"/>
            <a:ext cx="457200" cy="457200"/>
          </a:xfrm>
          <a:prstGeom prst="ellipse">
            <a:avLst/>
          </a:prstGeom>
          <a:solidFill>
            <a:srgbClr val="151C25"/>
          </a:solidFill>
          <a:ln w="15240">
            <a:solidFill>
              <a:srgbClr val="64A7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23560" y="2276856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2377440"/>
            <a:ext cx="1554480" cy="0"/>
          </a:xfrm>
          <a:prstGeom prst="line">
            <a:avLst/>
          </a:prstGeom>
          <a:noFill/>
          <a:ln w="25400">
            <a:solidFill>
              <a:srgbClr val="344252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 txBox="1"/>
          <p:nvPr/>
        </p:nvSpPr>
        <p:spPr>
          <a:xfrm>
            <a:off x="5303520" y="2834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257800" y="33101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Shared-memory threads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63840" y="2148840"/>
            <a:ext cx="457200" cy="457200"/>
          </a:xfrm>
          <a:prstGeom prst="ellipse">
            <a:avLst/>
          </a:prstGeom>
          <a:solidFill>
            <a:srgbClr val="151C25"/>
          </a:solidFill>
          <a:ln w="15240">
            <a:solidFill>
              <a:srgbClr val="64A7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09560" y="2276856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321040" y="2377440"/>
            <a:ext cx="1554480" cy="0"/>
          </a:xfrm>
          <a:prstGeom prst="line">
            <a:avLst/>
          </a:prstGeom>
          <a:noFill/>
          <a:ln w="25400">
            <a:solidFill>
              <a:srgbClr val="344252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 txBox="1"/>
          <p:nvPr/>
        </p:nvSpPr>
        <p:spPr>
          <a:xfrm>
            <a:off x="7589520" y="2834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543800" y="33101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processes + collectives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149840" y="2148840"/>
            <a:ext cx="457200" cy="457200"/>
          </a:xfrm>
          <a:prstGeom prst="ellipse">
            <a:avLst/>
          </a:prstGeom>
          <a:solidFill>
            <a:srgbClr val="F2BD5B"/>
          </a:solidFill>
          <a:ln w="15240">
            <a:solidFill>
              <a:srgbClr val="F2BD5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195560" y="2276856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875520" y="2834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9829800" y="33101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sizes · measured medians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97280" y="4663440"/>
            <a:ext cx="9966960" cy="1051560"/>
          </a:xfrm>
          <a:prstGeom prst="roundRect">
            <a:avLst>
              <a:gd name="adj" fmla="val 12174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98448" y="4882896"/>
            <a:ext cx="109728" cy="109728"/>
          </a:xfrm>
          <a:prstGeom prst="ellipse">
            <a:avLst/>
          </a:prstGeom>
          <a:solidFill>
            <a:srgbClr val="F2BD5B"/>
          </a:solidFill>
          <a:ln w="15240">
            <a:solidFill>
              <a:srgbClr val="F2BD5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536192" y="481888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1325880" y="5285232"/>
            <a:ext cx="9509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parallelize destination updates while preserving a common iteration and stopping rule?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MODEL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task: estimate importance over a directed graph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6455664"/>
            <a:ext cx="11045952" cy="0"/>
          </a:xfrm>
          <a:prstGeom prst="line">
            <a:avLst/>
          </a:prstGeom>
          <a:noFill/>
          <a:ln w="8890">
            <a:solidFill>
              <a:srgbClr val="28323E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3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ASHAR HUSAIN · 2024BCS0137     /     NIRANJAN R SOOREJ · 2024BCS0117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508760"/>
            <a:ext cx="3429000" cy="3520440"/>
          </a:xfrm>
          <a:prstGeom prst="roundRect">
            <a:avLst>
              <a:gd name="adj" fmla="val 3733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" y="1728216"/>
            <a:ext cx="109728" cy="109728"/>
          </a:xfrm>
          <a:prstGeom prst="ellipse">
            <a:avLst/>
          </a:prstGeom>
          <a:solidFill>
            <a:srgbClr val="64A7FF"/>
          </a:solidFill>
          <a:ln w="15240">
            <a:solidFill>
              <a:srgbClr val="64A7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24712" y="166420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130552"/>
            <a:ext cx="2971800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or entities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are directed links. A node’s score depends on the scores flowing in from its predecessors.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1508760"/>
            <a:ext cx="3429000" cy="3520440"/>
          </a:xfrm>
          <a:prstGeom prst="roundRect">
            <a:avLst>
              <a:gd name="adj" fmla="val 3733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90288" y="1728216"/>
            <a:ext cx="109728" cy="109728"/>
          </a:xfrm>
          <a:prstGeom prst="ellipse">
            <a:avLst/>
          </a:prstGeom>
          <a:solidFill>
            <a:srgbClr val="F2BD5B"/>
          </a:solidFill>
          <a:ln w="15240">
            <a:solidFill>
              <a:srgbClr val="F2BD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28032" y="166420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130552"/>
            <a:ext cx="2971800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probability-like importance signal. All node ranks sum to approximately 1.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92440" y="1508760"/>
            <a:ext cx="3429000" cy="3520440"/>
          </a:xfrm>
          <a:prstGeom prst="roundRect">
            <a:avLst>
              <a:gd name="adj" fmla="val 3733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3608" y="1728216"/>
            <a:ext cx="109728" cy="109728"/>
          </a:xfrm>
          <a:prstGeom prst="ellipse">
            <a:avLst/>
          </a:prstGeom>
          <a:solidFill>
            <a:srgbClr val="54D6B0"/>
          </a:solidFill>
          <a:ln w="15240">
            <a:solidFill>
              <a:srgbClr val="54D6B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31352" y="166420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with care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130552"/>
            <a:ext cx="2971800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can inform a larger decision or ranking; it does not capture every relevant signal.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669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Incoming-edge storage: CSR offsets + source IDs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SERIAL FIRST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recurrence: teleport, redistribute, follow links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6455664"/>
            <a:ext cx="11045952" cy="0"/>
          </a:xfrm>
          <a:prstGeom prst="line">
            <a:avLst/>
          </a:prstGeom>
          <a:noFill/>
          <a:ln w="8890">
            <a:solidFill>
              <a:srgbClr val="28323E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3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ASHAR HUSAIN · 2024BCS0137     /     NIRANJAN R SOOREJ · 2024BCS0117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10652760" cy="1417320"/>
          </a:xfrm>
          <a:prstGeom prst="roundRect">
            <a:avLst>
              <a:gd name="adj" fmla="val 9032"/>
            </a:avLst>
          </a:prstGeom>
          <a:solidFill>
            <a:srgbClr val="111821"/>
          </a:solidFill>
          <a:ln w="12700">
            <a:solidFill>
              <a:srgbClr val="111821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78408" y="1581912"/>
            <a:ext cx="1025042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5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Σ rank[j]   where outdeg(j) = 0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D5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= (1 − d)/N + d·D/N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D5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newPR[i] = base + d · Σ rank[j]/outdeg(j)   for j → i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7240" y="3200400"/>
            <a:ext cx="3246120" cy="1325880"/>
          </a:xfrm>
          <a:prstGeom prst="roundRect">
            <a:avLst>
              <a:gd name="adj" fmla="val 9655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8408" y="3419856"/>
            <a:ext cx="109728" cy="109728"/>
          </a:xfrm>
          <a:prstGeom prst="ellipse">
            <a:avLst/>
          </a:prstGeom>
          <a:solidFill>
            <a:srgbClr val="F2BD5B"/>
          </a:solidFill>
          <a:ln w="15240">
            <a:solidFill>
              <a:srgbClr val="F2BD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16152" y="33558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Teleport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822192"/>
            <a:ext cx="2788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(1 − d)/N goes to each node.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0" y="3200400"/>
            <a:ext cx="3246120" cy="1325880"/>
          </a:xfrm>
          <a:prstGeom prst="roundRect">
            <a:avLst>
              <a:gd name="adj" fmla="val 9655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81728" y="3419856"/>
            <a:ext cx="109728" cy="109728"/>
          </a:xfrm>
          <a:prstGeom prst="ellipse">
            <a:avLst/>
          </a:prstGeom>
          <a:solidFill>
            <a:srgbClr val="F27878"/>
          </a:solidFill>
          <a:ln w="15240">
            <a:solidFill>
              <a:srgbClr val="F278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19472" y="33558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Dangling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3822192"/>
            <a:ext cx="2788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dD/N redistributes rank from zero-outdegree nodes.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83880" y="3200400"/>
            <a:ext cx="3246120" cy="1325880"/>
          </a:xfrm>
          <a:prstGeom prst="roundRect">
            <a:avLst>
              <a:gd name="adj" fmla="val 9655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85048" y="3419856"/>
            <a:ext cx="109728" cy="109728"/>
          </a:xfrm>
          <a:prstGeom prst="ellipse">
            <a:avLst/>
          </a:prstGeom>
          <a:solidFill>
            <a:srgbClr val="64A7FF"/>
          </a:solidFill>
          <a:ln w="15240">
            <a:solidFill>
              <a:srgbClr val="64A7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22792" y="33558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links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3822192"/>
            <a:ext cx="2788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source contributes its rank divided by out-degree.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" y="5074920"/>
            <a:ext cx="914400" cy="292608"/>
          </a:xfrm>
          <a:prstGeom prst="roundRect">
            <a:avLst>
              <a:gd name="adj" fmla="val 43750"/>
            </a:avLst>
          </a:prstGeom>
          <a:solidFill>
            <a:srgbClr val="26313C"/>
          </a:solidFill>
          <a:ln w="12700">
            <a:solidFill>
              <a:srgbClr val="26313C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50977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0.85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011680" y="5074920"/>
            <a:ext cx="914400" cy="292608"/>
          </a:xfrm>
          <a:prstGeom prst="roundRect">
            <a:avLst>
              <a:gd name="adj" fmla="val 43750"/>
            </a:avLst>
          </a:prstGeom>
          <a:solidFill>
            <a:srgbClr val="26313C"/>
          </a:solidFill>
          <a:ln w="12700">
            <a:solidFill>
              <a:srgbClr val="26313C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103120" y="50977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4D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= 10⁻⁶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5074920"/>
            <a:ext cx="987552" cy="292608"/>
          </a:xfrm>
          <a:prstGeom prst="roundRect">
            <a:avLst>
              <a:gd name="adj" fmla="val 43750"/>
            </a:avLst>
          </a:prstGeom>
          <a:solidFill>
            <a:srgbClr val="26313C"/>
          </a:solidFill>
          <a:ln w="12700">
            <a:solidFill>
              <a:srgbClr val="26313C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291840" y="509778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9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= 10,000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SERIAL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 execution: one complete pass per iteration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6455664"/>
            <a:ext cx="11045952" cy="0"/>
          </a:xfrm>
          <a:prstGeom prst="line">
            <a:avLst/>
          </a:prstGeom>
          <a:noFill/>
          <a:ln w="8890">
            <a:solidFill>
              <a:srgbClr val="28323E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3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ASHAR HUSAIN · 2024BCS0137     /     NIRANJAN R SOOREJ · 2024BCS0117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417320"/>
            <a:ext cx="393192" cy="393192"/>
          </a:xfrm>
          <a:prstGeom prst="ellipse">
            <a:avLst/>
          </a:prstGeom>
          <a:solidFill>
            <a:srgbClr val="151C25"/>
          </a:solidFill>
          <a:ln w="15240">
            <a:solidFill>
              <a:srgbClr val="64A7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14984" y="1508760"/>
            <a:ext cx="192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554480" y="1371600"/>
            <a:ext cx="8046720" cy="530352"/>
          </a:xfrm>
          <a:prstGeom prst="roundRect">
            <a:avLst>
              <a:gd name="adj" fmla="val 24138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783080" y="143560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rank[:] = 1/N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2249424"/>
            <a:ext cx="393192" cy="393192"/>
          </a:xfrm>
          <a:prstGeom prst="ellipse">
            <a:avLst/>
          </a:prstGeom>
          <a:solidFill>
            <a:srgbClr val="151C25"/>
          </a:solidFill>
          <a:ln w="15240">
            <a:solidFill>
              <a:srgbClr val="64A7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14984" y="2340864"/>
            <a:ext cx="192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554480" y="2203704"/>
            <a:ext cx="8046720" cy="530352"/>
          </a:xfrm>
          <a:prstGeom prst="roundRect">
            <a:avLst>
              <a:gd name="adj" fmla="val 24138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783080" y="226771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rank on dangling nodes; compute base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4400" y="3081528"/>
            <a:ext cx="393192" cy="393192"/>
          </a:xfrm>
          <a:prstGeom prst="ellipse">
            <a:avLst/>
          </a:prstGeom>
          <a:solidFill>
            <a:srgbClr val="151C25"/>
          </a:solidFill>
          <a:ln w="15240">
            <a:solidFill>
              <a:srgbClr val="64A7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14984" y="3172968"/>
            <a:ext cx="192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554480" y="3035808"/>
            <a:ext cx="8046720" cy="530352"/>
          </a:xfrm>
          <a:prstGeom prst="roundRect">
            <a:avLst>
              <a:gd name="adj" fmla="val 24138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783080" y="309981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each destination; sum incoming contributions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372600" y="2898648"/>
            <a:ext cx="1975104" cy="292608"/>
          </a:xfrm>
          <a:prstGeom prst="roundRect">
            <a:avLst>
              <a:gd name="adj" fmla="val 43750"/>
            </a:avLst>
          </a:prstGeom>
          <a:solidFill>
            <a:srgbClr val="26313C"/>
          </a:solidFill>
          <a:ln w="12700">
            <a:solidFill>
              <a:srgbClr val="26313C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64040" y="2921508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destinations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4400" y="3913632"/>
            <a:ext cx="393192" cy="393192"/>
          </a:xfrm>
          <a:prstGeom prst="ellipse">
            <a:avLst/>
          </a:prstGeom>
          <a:solidFill>
            <a:srgbClr val="151C25"/>
          </a:solidFill>
          <a:ln w="15240">
            <a:solidFill>
              <a:srgbClr val="64A7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14984" y="4005072"/>
            <a:ext cx="192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554480" y="3867912"/>
            <a:ext cx="8046720" cy="530352"/>
          </a:xfrm>
          <a:prstGeom prst="roundRect">
            <a:avLst>
              <a:gd name="adj" fmla="val 24138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783080" y="3931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L1 error; swap rank buffers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14400" y="4745736"/>
            <a:ext cx="393192" cy="393192"/>
          </a:xfrm>
          <a:prstGeom prst="ellipse">
            <a:avLst/>
          </a:prstGeom>
          <a:solidFill>
            <a:srgbClr val="3B2E18"/>
          </a:solidFill>
          <a:ln w="15240">
            <a:solidFill>
              <a:srgbClr val="F2BD5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14984" y="4837176"/>
            <a:ext cx="192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554480" y="4700016"/>
            <a:ext cx="8046720" cy="530352"/>
          </a:xfrm>
          <a:prstGeom prst="roundRect">
            <a:avLst>
              <a:gd name="adj" fmla="val 24138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783080" y="4764024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if error &lt; 10⁻⁶ (or at 10,000)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600200" y="5715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 are sequential: each new vector becomes the next iteration’s input.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SERIAL IMPLEMENTATION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destination update reads incoming CSR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6455664"/>
            <a:ext cx="11045952" cy="0"/>
          </a:xfrm>
          <a:prstGeom prst="line">
            <a:avLst/>
          </a:prstGeom>
          <a:noFill/>
          <a:ln w="8890">
            <a:solidFill>
              <a:srgbClr val="28323E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3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ASHAR HUSAIN · 2024BCS0137     /     NIRANJAN R SOOREJ · 2024BCS0117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7498080" cy="4297680"/>
          </a:xfrm>
          <a:prstGeom prst="roundRect">
            <a:avLst>
              <a:gd name="adj" fmla="val 2979"/>
            </a:avLst>
          </a:prstGeom>
          <a:solidFill>
            <a:srgbClr val="111821"/>
          </a:solidFill>
          <a:ln w="12700">
            <a:solidFill>
              <a:srgbClr val="111821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1536192"/>
            <a:ext cx="7095744" cy="3968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5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double base = (1.0 - PR_DAMPING) / (double)graph.n +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5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PR_DAMPING * dangling / (double)graph.n;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5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(size_t v = 0; v &lt; graph.n; ++v)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5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incoming = 0.0;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5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(size_t p = graph.in_offsets[v]; p &lt; graph.in_offsets[v + 1]; ++p)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5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size_t src = (size_t)graph.in_sources[p];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5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incoming += rank[src] / (double)graph.out_degree[src];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5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5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next[v] = base + PR_DAMPING * incoming;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5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549640" y="1508760"/>
            <a:ext cx="2834640" cy="1371600"/>
          </a:xfrm>
          <a:prstGeom prst="roundRect">
            <a:avLst>
              <a:gd name="adj" fmla="val 9333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50808" y="1728216"/>
            <a:ext cx="109728" cy="109728"/>
          </a:xfrm>
          <a:prstGeom prst="ellipse">
            <a:avLst/>
          </a:prstGeom>
          <a:solidFill>
            <a:srgbClr val="F2BD5B"/>
          </a:solidFill>
          <a:ln w="15240">
            <a:solidFill>
              <a:srgbClr val="F2BD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88552" y="16642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778240" y="213055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+ E) per iteration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49640" y="3154680"/>
            <a:ext cx="2834640" cy="1371600"/>
          </a:xfrm>
          <a:prstGeom prst="roundRect">
            <a:avLst>
              <a:gd name="adj" fmla="val 9333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50808" y="3374136"/>
            <a:ext cx="109728" cy="109728"/>
          </a:xfrm>
          <a:prstGeom prst="ellipse">
            <a:avLst/>
          </a:prstGeom>
          <a:solidFill>
            <a:srgbClr val="64A7FF"/>
          </a:solidFill>
          <a:ln w="15240">
            <a:solidFill>
              <a:srgbClr val="64A7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88552" y="33101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778240" y="377647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+ E)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732520" y="49834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Per-node work varies with in-degree.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WORKED EXAMPLES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1: five links, no dangling node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6455664"/>
            <a:ext cx="11045952" cy="0"/>
          </a:xfrm>
          <a:prstGeom prst="line">
            <a:avLst/>
          </a:prstGeom>
          <a:noFill/>
          <a:ln w="8890">
            <a:solidFill>
              <a:srgbClr val="28323E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3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ASHAR HUSAIN · 2024BCS0137     /     NIRANJAN R SOOREJ · 2024BCS0117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40280" y="2514600"/>
            <a:ext cx="1828800" cy="-548640"/>
          </a:xfrm>
          <a:prstGeom prst="line">
            <a:avLst/>
          </a:prstGeom>
          <a:noFill/>
          <a:ln w="19050">
            <a:solidFill>
              <a:srgbClr val="64A7FF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2240280" y="2514600"/>
            <a:ext cx="1828800" cy="914400"/>
          </a:xfrm>
          <a:prstGeom prst="line">
            <a:avLst/>
          </a:prstGeom>
          <a:noFill/>
          <a:ln w="19050">
            <a:solidFill>
              <a:srgbClr val="64A7FF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4069080" y="1965960"/>
            <a:ext cx="1828800" cy="731520"/>
          </a:xfrm>
          <a:prstGeom prst="line">
            <a:avLst/>
          </a:prstGeom>
          <a:noFill/>
          <a:ln w="19050">
            <a:solidFill>
              <a:srgbClr val="64A7FF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4069080" y="3429000"/>
            <a:ext cx="1828800" cy="-731520"/>
          </a:xfrm>
          <a:prstGeom prst="line">
            <a:avLst/>
          </a:prstGeom>
          <a:noFill/>
          <a:ln w="19050">
            <a:solidFill>
              <a:srgbClr val="64A7FF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5897880" y="2697480"/>
            <a:ext cx="-3657600" cy="-182880"/>
          </a:xfrm>
          <a:prstGeom prst="line">
            <a:avLst/>
          </a:prstGeom>
          <a:noFill/>
          <a:ln w="19050">
            <a:solidFill>
              <a:srgbClr val="64A7FF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2011680" y="2286000"/>
            <a:ext cx="457200" cy="457200"/>
          </a:xfrm>
          <a:prstGeom prst="ellipse">
            <a:avLst/>
          </a:prstGeom>
          <a:solidFill>
            <a:srgbClr val="151C25"/>
          </a:solidFill>
          <a:ln w="15240">
            <a:solidFill>
              <a:srgbClr val="64A7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57984" y="241401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0" y="1737360"/>
            <a:ext cx="457200" cy="457200"/>
          </a:xfrm>
          <a:prstGeom prst="ellipse">
            <a:avLst/>
          </a:prstGeom>
          <a:solidFill>
            <a:srgbClr val="151C25"/>
          </a:solidFill>
          <a:ln w="15240">
            <a:solidFill>
              <a:srgbClr val="64A7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86784" y="186537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40480" y="3200400"/>
            <a:ext cx="457200" cy="457200"/>
          </a:xfrm>
          <a:prstGeom prst="ellipse">
            <a:avLst/>
          </a:prstGeom>
          <a:solidFill>
            <a:srgbClr val="151C25"/>
          </a:solidFill>
          <a:ln w="15240">
            <a:solidFill>
              <a:srgbClr val="64A7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86784" y="332841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0" y="2468880"/>
            <a:ext cx="457200" cy="457200"/>
          </a:xfrm>
          <a:prstGeom prst="ellipse">
            <a:avLst/>
          </a:prstGeom>
          <a:solidFill>
            <a:srgbClr val="151C25"/>
          </a:solidFill>
          <a:ln w="15240">
            <a:solidFill>
              <a:srgbClr val="64A7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15584" y="259689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AB5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Edges: 0→1   0→2   1→3   2→3   3→0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0" y="1417320"/>
            <a:ext cx="4800600" cy="4251960"/>
          </a:xfrm>
          <a:prstGeom prst="roundRect">
            <a:avLst>
              <a:gd name="adj" fmla="val 3011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03720" y="16733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state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2148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 [0.2500, 0.2500, 0.2500, 0.2500]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2697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1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29900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[0.2500, 0.1438, 0.1438, 0.4625]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33649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change  0.4250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37673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2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903720" y="405993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[0.4306, 0.1438, 0.1438, 0.2819]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44165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change  0.3613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4892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4D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converged in 81 iterations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903720" y="52303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[0.3202, 0.1736, 0.1736, 0.3326]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WORKED EXAMPLES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2: node 3 has no outgoing link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6455664"/>
            <a:ext cx="11045952" cy="0"/>
          </a:xfrm>
          <a:prstGeom prst="line">
            <a:avLst/>
          </a:prstGeom>
          <a:noFill/>
          <a:ln w="8890">
            <a:solidFill>
              <a:srgbClr val="28323E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3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ASHAR HUSAIN · 2024BCS0137     /     NIRANJAN R SOOREJ · 2024BCS0117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40280" y="2514600"/>
            <a:ext cx="1828800" cy="-548640"/>
          </a:xfrm>
          <a:prstGeom prst="line">
            <a:avLst/>
          </a:prstGeom>
          <a:noFill/>
          <a:ln w="19050">
            <a:solidFill>
              <a:srgbClr val="64A7FF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4069080" y="1965960"/>
            <a:ext cx="0" cy="1463040"/>
          </a:xfrm>
          <a:prstGeom prst="line">
            <a:avLst/>
          </a:prstGeom>
          <a:noFill/>
          <a:ln w="19050">
            <a:solidFill>
              <a:srgbClr val="64A7FF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4069080" y="3429000"/>
            <a:ext cx="-1828800" cy="-914400"/>
          </a:xfrm>
          <a:prstGeom prst="line">
            <a:avLst/>
          </a:prstGeom>
          <a:noFill/>
          <a:ln w="19050">
            <a:solidFill>
              <a:srgbClr val="64A7FF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4069080" y="1965960"/>
            <a:ext cx="1828800" cy="731520"/>
          </a:xfrm>
          <a:prstGeom prst="line">
            <a:avLst/>
          </a:prstGeom>
          <a:noFill/>
          <a:ln w="19050">
            <a:solidFill>
              <a:srgbClr val="64A7FF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011680" y="2286000"/>
            <a:ext cx="457200" cy="457200"/>
          </a:xfrm>
          <a:prstGeom prst="ellipse">
            <a:avLst/>
          </a:prstGeom>
          <a:solidFill>
            <a:srgbClr val="151C25"/>
          </a:solidFill>
          <a:ln w="15240">
            <a:solidFill>
              <a:srgbClr val="64A7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57984" y="241401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0480" y="1737360"/>
            <a:ext cx="457200" cy="457200"/>
          </a:xfrm>
          <a:prstGeom prst="ellipse">
            <a:avLst/>
          </a:prstGeom>
          <a:solidFill>
            <a:srgbClr val="151C25"/>
          </a:solidFill>
          <a:ln w="15240">
            <a:solidFill>
              <a:srgbClr val="64A7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86784" y="186537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0" y="3200400"/>
            <a:ext cx="457200" cy="457200"/>
          </a:xfrm>
          <a:prstGeom prst="ellipse">
            <a:avLst/>
          </a:prstGeom>
          <a:solidFill>
            <a:srgbClr val="151C25"/>
          </a:solidFill>
          <a:ln w="15240">
            <a:solidFill>
              <a:srgbClr val="64A7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86784" y="332841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0" y="2468880"/>
            <a:ext cx="457200" cy="457200"/>
          </a:xfrm>
          <a:prstGeom prst="ellipse">
            <a:avLst/>
          </a:prstGeom>
          <a:solidFill>
            <a:srgbClr val="3B2E18"/>
          </a:solidFill>
          <a:ln w="15240">
            <a:solidFill>
              <a:srgbClr val="F2BD5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15584" y="259689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AB5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Edges: 0→1   1→2   2→0   1→3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74920" y="3429000"/>
            <a:ext cx="1481328" cy="292608"/>
          </a:xfrm>
          <a:prstGeom prst="roundRect">
            <a:avLst>
              <a:gd name="adj" fmla="val 43750"/>
            </a:avLst>
          </a:prstGeom>
          <a:solidFill>
            <a:srgbClr val="26313C"/>
          </a:solidFill>
          <a:ln w="12700">
            <a:solidFill>
              <a:srgbClr val="26313C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66360" y="345186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3 is dangling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0" y="1417320"/>
            <a:ext cx="4800600" cy="4251960"/>
          </a:xfrm>
          <a:prstGeom prst="roundRect">
            <a:avLst>
              <a:gd name="adj" fmla="val 3011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03720" y="16733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state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2148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 [0.2500, 0.2500, 0.2500, 0.2500]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2697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29900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[0.3031, 0.3031, 0.1969, 0.1969]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33649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change  0.2125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903720" y="37673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405993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[0.2467, 0.3370, 0.2082, 0.2082]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44165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change  0.1129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903720" y="4892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4D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converged in 32 iterations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903720" y="52303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[0.2646, 0.3079, 0.2138, 0.2138]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REFERENCE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 is the timing baseline—not a speed claim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6455664"/>
            <a:ext cx="11045952" cy="0"/>
          </a:xfrm>
          <a:prstGeom prst="line">
            <a:avLst/>
          </a:prstGeom>
          <a:noFill/>
          <a:ln w="8890">
            <a:solidFill>
              <a:srgbClr val="28323E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3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ASHAR HUSAIN · 2024BCS0137     /     NIRANJAN R SOOREJ · 2024BCS0117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size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371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seconds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1828800"/>
            <a:ext cx="10607040" cy="493776"/>
          </a:xfrm>
          <a:prstGeom prst="roundRect">
            <a:avLst>
              <a:gd name="adj" fmla="val 25926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8928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18928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1892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2B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0.000001587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2487168"/>
            <a:ext cx="10607040" cy="493776"/>
          </a:xfrm>
          <a:prstGeom prst="roundRect">
            <a:avLst>
              <a:gd name="adj" fmla="val 25926"/>
            </a:avLst>
          </a:prstGeom>
          <a:solidFill>
            <a:srgbClr val="0B0F14"/>
          </a:solidFill>
          <a:ln w="12700">
            <a:solidFill>
              <a:srgbClr val="0B0F14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25511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25511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5511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2B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0.000087861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" y="3145536"/>
            <a:ext cx="10607040" cy="493776"/>
          </a:xfrm>
          <a:prstGeom prst="roundRect">
            <a:avLst>
              <a:gd name="adj" fmla="val 25926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0120" y="32095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N1,000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32095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5,994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32095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2B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0.000441013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31520" y="3803904"/>
            <a:ext cx="10607040" cy="493776"/>
          </a:xfrm>
          <a:prstGeom prst="roundRect">
            <a:avLst>
              <a:gd name="adj" fmla="val 25926"/>
            </a:avLst>
          </a:prstGeom>
          <a:solidFill>
            <a:srgbClr val="0B0F14"/>
          </a:solidFill>
          <a:ln w="12700">
            <a:solidFill>
              <a:srgbClr val="0B0F14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0120" y="38679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N10,000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657600" y="38679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59,995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38679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2B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0.001829857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31520" y="4462272"/>
            <a:ext cx="10607040" cy="493776"/>
          </a:xfrm>
          <a:prstGeom prst="roundRect">
            <a:avLst>
              <a:gd name="adj" fmla="val 25926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0120" y="4526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N100,000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657600" y="4526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599,992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0" y="4526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2B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0.009252197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68680" y="5577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successful timed runs · median · compute-only scope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SHARED MEMORY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OpenMP: share data, divide destinations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6455664"/>
            <a:ext cx="11045952" cy="0"/>
          </a:xfrm>
          <a:prstGeom prst="line">
            <a:avLst/>
          </a:prstGeom>
          <a:noFill/>
          <a:ln w="8890">
            <a:solidFill>
              <a:srgbClr val="28323E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3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ASHAR HUSAIN · 2024BCS0137     /     NIRANJAN R SOOREJ · 2024BCS0117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383280" cy="1920240"/>
          </a:xfrm>
          <a:prstGeom prst="roundRect">
            <a:avLst>
              <a:gd name="adj" fmla="val 6667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1682496"/>
            <a:ext cx="109728" cy="109728"/>
          </a:xfrm>
          <a:prstGeom prst="ellipse">
            <a:avLst/>
          </a:prstGeom>
          <a:solidFill>
            <a:srgbClr val="64A7FF"/>
          </a:solidFill>
          <a:ln w="15240">
            <a:solidFill>
              <a:srgbClr val="64A7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70432" y="1618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by threads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084832"/>
            <a:ext cx="2926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+ current rank vector + next vector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1463040"/>
            <a:ext cx="3383280" cy="1920240"/>
          </a:xfrm>
          <a:prstGeom prst="roundRect">
            <a:avLst>
              <a:gd name="adj" fmla="val 6667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90288" y="1682496"/>
            <a:ext cx="109728" cy="109728"/>
          </a:xfrm>
          <a:prstGeom prst="ellipse">
            <a:avLst/>
          </a:prstGeom>
          <a:solidFill>
            <a:srgbClr val="F2BD5B"/>
          </a:solidFill>
          <a:ln w="15240">
            <a:solidFill>
              <a:srgbClr val="F2BD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28032" y="1618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loop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084832"/>
            <a:ext cx="2926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schedule assigns destinations to threads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1463040"/>
            <a:ext cx="3383280" cy="1920240"/>
          </a:xfrm>
          <a:prstGeom prst="roundRect">
            <a:avLst>
              <a:gd name="adj" fmla="val 6667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47888" y="1682496"/>
            <a:ext cx="109728" cy="109728"/>
          </a:xfrm>
          <a:prstGeom prst="ellipse">
            <a:avLst/>
          </a:prstGeom>
          <a:solidFill>
            <a:srgbClr val="54D6B0"/>
          </a:solidFill>
          <a:ln w="15240">
            <a:solidFill>
              <a:srgbClr val="54D6B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85632" y="1618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084832"/>
            <a:ext cx="2926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dangling mass and L1 error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7240" y="3886200"/>
            <a:ext cx="10652760" cy="1600200"/>
          </a:xfrm>
          <a:prstGeom prst="roundRect">
            <a:avLst>
              <a:gd name="adj" fmla="val 8000"/>
            </a:avLst>
          </a:prstGeom>
          <a:solidFill>
            <a:srgbClr val="111821"/>
          </a:solidFill>
          <a:ln w="12700">
            <a:solidFill>
              <a:srgbClr val="111821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8408" y="4050792"/>
            <a:ext cx="1025042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5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#pragma omp parallel for reduction(+:dangling) schedule(static)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5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(size_t v = 0; v &lt; graph.n; ++v)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5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(out_degree[v] == 0) dangling += rank[v];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5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#pragma omp parallel for schedule(static)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5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(size_t v = 0; v &lt; graph.n; ++v) { /* next[v] */ }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57150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destination writes a distinct next[v]; loop barriers keep the swap safe.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OPENMP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OpenMP iteration: parallel work, then shared reductions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6455664"/>
            <a:ext cx="11045952" cy="0"/>
          </a:xfrm>
          <a:prstGeom prst="line">
            <a:avLst/>
          </a:prstGeom>
          <a:noFill/>
          <a:ln w="8890">
            <a:solidFill>
              <a:srgbClr val="28323E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3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ASHAR HUSAIN · 2024BCS0137     /     NIRANJAN R SOOREJ · 2024BCS0117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914400" cy="292608"/>
          </a:xfrm>
          <a:prstGeom prst="roundRect">
            <a:avLst>
              <a:gd name="adj" fmla="val 43750"/>
            </a:avLst>
          </a:prstGeom>
          <a:solidFill>
            <a:srgbClr val="26313C"/>
          </a:solidFill>
          <a:ln w="12700">
            <a:solidFill>
              <a:srgbClr val="26313C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4401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parallel_for · dangling sum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1325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reduction(+:dangling)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0120" y="1764792"/>
            <a:ext cx="0" cy="320040"/>
          </a:xfrm>
          <a:prstGeom prst="line">
            <a:avLst/>
          </a:prstGeom>
          <a:noFill/>
          <a:ln w="17780">
            <a:solidFill>
              <a:srgbClr val="34425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822960" y="2267712"/>
            <a:ext cx="914400" cy="292608"/>
          </a:xfrm>
          <a:prstGeom prst="roundRect">
            <a:avLst>
              <a:gd name="adj" fmla="val 43750"/>
            </a:avLst>
          </a:prstGeom>
          <a:solidFill>
            <a:srgbClr val="26313C"/>
          </a:solidFill>
          <a:ln w="12700">
            <a:solidFill>
              <a:srgbClr val="26313C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22905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2176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base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21762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threads read shared scalar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60120" y="2615184"/>
            <a:ext cx="0" cy="320040"/>
          </a:xfrm>
          <a:prstGeom prst="line">
            <a:avLst/>
          </a:prstGeom>
          <a:noFill/>
          <a:ln w="17780">
            <a:solidFill>
              <a:srgbClr val="344252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822960" y="3118104"/>
            <a:ext cx="914400" cy="292608"/>
          </a:xfrm>
          <a:prstGeom prst="roundRect">
            <a:avLst>
              <a:gd name="adj" fmla="val 43750"/>
            </a:avLst>
          </a:prstGeom>
          <a:solidFill>
            <a:srgbClr val="26313C"/>
          </a:solidFill>
          <a:ln w="12700">
            <a:solidFill>
              <a:srgbClr val="26313C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314096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874520" y="30266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parallel_for · destinations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0" y="30266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schedule(static), write next[v]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60120" y="3465576"/>
            <a:ext cx="0" cy="320040"/>
          </a:xfrm>
          <a:prstGeom prst="line">
            <a:avLst/>
          </a:prstGeom>
          <a:noFill/>
          <a:ln w="17780">
            <a:solidFill>
              <a:srgbClr val="344252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822960" y="3968496"/>
            <a:ext cx="914400" cy="292608"/>
          </a:xfrm>
          <a:prstGeom prst="roundRect">
            <a:avLst>
              <a:gd name="adj" fmla="val 43750"/>
            </a:avLst>
          </a:prstGeom>
          <a:solidFill>
            <a:srgbClr val="26313C"/>
          </a:solidFill>
          <a:ln w="12700">
            <a:solidFill>
              <a:srgbClr val="26313C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399135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874520" y="38770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parallel_for · L1 error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0" y="38770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reduction(+:error)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60120" y="4315968"/>
            <a:ext cx="0" cy="320040"/>
          </a:xfrm>
          <a:prstGeom prst="line">
            <a:avLst/>
          </a:prstGeom>
          <a:noFill/>
          <a:ln w="17780">
            <a:solidFill>
              <a:srgbClr val="344252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822960" y="4818888"/>
            <a:ext cx="914400" cy="292608"/>
          </a:xfrm>
          <a:prstGeom prst="roundRect">
            <a:avLst>
              <a:gd name="adj" fmla="val 43750"/>
            </a:avLst>
          </a:prstGeom>
          <a:solidFill>
            <a:srgbClr val="26313C"/>
          </a:solidFill>
          <a:ln w="12700">
            <a:solidFill>
              <a:srgbClr val="26313C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4400" y="48417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874520" y="4727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+ common stop test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0" y="4727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barriers at loop boundaries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DISTRIBUTED-PROCESS DESIGN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MPI keeps the recurrence; it changes the memory model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6455664"/>
            <a:ext cx="11045952" cy="0"/>
          </a:xfrm>
          <a:prstGeom prst="line">
            <a:avLst/>
          </a:prstGeom>
          <a:noFill/>
          <a:ln w="8890">
            <a:solidFill>
              <a:srgbClr val="28323E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3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ASHAR HUSAIN · 2024BCS0137     /     NIRANJAN R SOOREJ · 2024BCS0117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508760"/>
            <a:ext cx="4892040" cy="2011680"/>
          </a:xfrm>
          <a:prstGeom prst="roundRect">
            <a:avLst>
              <a:gd name="adj" fmla="val 6364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" y="1728216"/>
            <a:ext cx="109728" cy="109728"/>
          </a:xfrm>
          <a:prstGeom prst="ellipse">
            <a:avLst/>
          </a:prstGeom>
          <a:solidFill>
            <a:srgbClr val="64A7FF"/>
          </a:solidFill>
          <a:ln w="15240">
            <a:solidFill>
              <a:srgbClr val="64A7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16152" y="166420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 threads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130552"/>
            <a:ext cx="44348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graph and rank vectors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split across threads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Reductions combine thread values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92240" y="1508760"/>
            <a:ext cx="4892040" cy="2011680"/>
          </a:xfrm>
          <a:prstGeom prst="roundRect">
            <a:avLst>
              <a:gd name="adj" fmla="val 6364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93408" y="1728216"/>
            <a:ext cx="109728" cy="109728"/>
          </a:xfrm>
          <a:prstGeom prst="ellipse">
            <a:avLst/>
          </a:prstGeom>
          <a:solidFill>
            <a:srgbClr val="F2BD5B"/>
          </a:solidFill>
          <a:ln w="15240">
            <a:solidFill>
              <a:srgbClr val="F2BD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31152" y="166420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processes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2130552"/>
            <a:ext cx="44348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address space per process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 builds/stores full graph + vectors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destination range per process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34340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mathematical update. Explicit collectives move vector information between processes.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MPI PARTITIONING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PCAM: assign contiguous destination ranges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6455664"/>
            <a:ext cx="11045952" cy="0"/>
          </a:xfrm>
          <a:prstGeom prst="line">
            <a:avLst/>
          </a:prstGeom>
          <a:noFill/>
          <a:ln w="8890">
            <a:solidFill>
              <a:srgbClr val="28323E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3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ASHAR HUSAIN · 2024BCS0137     /     NIRANJAN R SOOREJ · 2024BCS0117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4173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2B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= floor(N·r/P)     end = floor(N·(r+1)/P)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2057400"/>
            <a:ext cx="10469880" cy="502920"/>
          </a:xfrm>
          <a:prstGeom prst="roundRect">
            <a:avLst>
              <a:gd name="adj" fmla="val 25455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A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[0,2)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· 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10469880" cy="502920"/>
          </a:xfrm>
          <a:prstGeom prst="roundRect">
            <a:avLst>
              <a:gd name="adj" fmla="val 25455"/>
            </a:avLst>
          </a:prstGeom>
          <a:solidFill>
            <a:srgbClr val="0B0F14"/>
          </a:solidFill>
          <a:ln w="12700">
            <a:solidFill>
              <a:srgbClr val="0B0F14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2862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A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2862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[2,5)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2862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3 · 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8680" y="3483864"/>
            <a:ext cx="10469880" cy="502920"/>
          </a:xfrm>
          <a:prstGeom prst="roundRect">
            <a:avLst>
              <a:gd name="adj" fmla="val 25455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35753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A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35753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[5,7)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35753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· 6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68680" y="4197096"/>
            <a:ext cx="10469880" cy="502920"/>
          </a:xfrm>
          <a:prstGeom prst="roundRect">
            <a:avLst>
              <a:gd name="adj" fmla="val 25455"/>
            </a:avLst>
          </a:prstGeom>
          <a:solidFill>
            <a:srgbClr val="0B0F14"/>
          </a:solidFill>
          <a:ln w="12700">
            <a:solidFill>
              <a:srgbClr val="0B0F14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97280" y="4288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A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743200" y="42885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[7,10)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42885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· 8 · 9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53492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 = destinations   ·   Mapping = rank r → MPI process r   ·   Agglomeration = one range per process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MPI COMMUNICATION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Collective order is the iteration contract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6455664"/>
            <a:ext cx="11045952" cy="0"/>
          </a:xfrm>
          <a:prstGeom prst="line">
            <a:avLst/>
          </a:prstGeom>
          <a:noFill/>
          <a:ln w="8890">
            <a:solidFill>
              <a:srgbClr val="28323E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3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ASHAR HUSAIN · 2024BCS0137     /     NIRANJAN R SOOREJ · 2024BCS0117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417320" cy="1828800"/>
          </a:xfrm>
          <a:prstGeom prst="roundRect">
            <a:avLst>
              <a:gd name="adj" fmla="val 9032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19456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A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697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dangling sum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3375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vertices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993392" y="26974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212848" y="1965960"/>
            <a:ext cx="1417320" cy="1828800"/>
          </a:xfrm>
          <a:prstGeom prst="roundRect">
            <a:avLst>
              <a:gd name="adj" fmla="val 9032"/>
            </a:avLst>
          </a:prstGeom>
          <a:solidFill>
            <a:srgbClr val="202A37"/>
          </a:solidFill>
          <a:ln w="12700">
            <a:solidFill>
              <a:srgbClr val="202A37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04288" y="219456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ALLREDUCE · SUM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322576" y="2697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dangling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304288" y="33375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process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26974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877056" y="1965960"/>
            <a:ext cx="1417320" cy="1828800"/>
          </a:xfrm>
          <a:prstGeom prst="roundRect">
            <a:avLst>
              <a:gd name="adj" fmla="val 9032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68496" y="219456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A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986784" y="2697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owned destinations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968496" y="33375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CSR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321808" y="26974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541264" y="1965960"/>
            <a:ext cx="1417320" cy="1828800"/>
          </a:xfrm>
          <a:prstGeom prst="roundRect">
            <a:avLst>
              <a:gd name="adj" fmla="val 9032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32704" y="219456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A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ALLGATHERV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650992" y="2697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next vector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632704" y="33375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process receives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986016" y="26974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7205472" y="1965960"/>
            <a:ext cx="1417320" cy="1828800"/>
          </a:xfrm>
          <a:prstGeom prst="roundRect">
            <a:avLst>
              <a:gd name="adj" fmla="val 9032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296912" y="219456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A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0" y="2697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L1 error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296912" y="33375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destinations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650224" y="26974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8869680" y="1965960"/>
            <a:ext cx="1417320" cy="1828800"/>
          </a:xfrm>
          <a:prstGeom prst="roundRect">
            <a:avLst>
              <a:gd name="adj" fmla="val 9032"/>
            </a:avLst>
          </a:prstGeom>
          <a:solidFill>
            <a:srgbClr val="202A37"/>
          </a:solidFill>
          <a:ln w="12700">
            <a:solidFill>
              <a:srgbClr val="202A37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961120" y="219456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ALLREDUCE · SUM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979408" y="2697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error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961120" y="33375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stop decision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0314432" y="26974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10533888" y="1965960"/>
            <a:ext cx="1417320" cy="1828800"/>
          </a:xfrm>
          <a:prstGeom prst="roundRect">
            <a:avLst>
              <a:gd name="adj" fmla="val 9032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625328" y="219456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A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0643616" y="2697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↔ next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10625328" y="33375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iteration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68680" y="4800600"/>
            <a:ext cx="3456432" cy="292608"/>
          </a:xfrm>
          <a:prstGeom prst="roundRect">
            <a:avLst>
              <a:gd name="adj" fmla="val 43750"/>
            </a:avLst>
          </a:prstGeom>
          <a:solidFill>
            <a:srgbClr val="26313C"/>
          </a:solidFill>
          <a:ln w="12700">
            <a:solidFill>
              <a:srgbClr val="26313C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60120" y="4823460"/>
            <a:ext cx="3273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4D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loop: Reduce MAX elapsed → process 0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868680" y="5440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process calls the iteration collectives in the same order.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MPI PARTITION EXAMPLE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N=10, P=4: ownership is split; state is replicated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6455664"/>
            <a:ext cx="11045952" cy="0"/>
          </a:xfrm>
          <a:prstGeom prst="line">
            <a:avLst/>
          </a:prstGeom>
          <a:noFill/>
          <a:ln w="8890">
            <a:solidFill>
              <a:srgbClr val="28323E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3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ASHAR HUSAIN · 2024BCS0137     /     NIRANJAN R SOOREJ · 2024BCS0117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280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processes keep the full graph and old rank[0..9]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1874520"/>
            <a:ext cx="2514600" cy="2103120"/>
          </a:xfrm>
          <a:prstGeom prst="roundRect">
            <a:avLst>
              <a:gd name="adj" fmla="val 6087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" y="2048256"/>
            <a:ext cx="914400" cy="292608"/>
          </a:xfrm>
          <a:prstGeom prst="roundRect">
            <a:avLst>
              <a:gd name="adj" fmla="val 43750"/>
            </a:avLst>
          </a:prstGeom>
          <a:solidFill>
            <a:srgbClr val="26313C"/>
          </a:solidFill>
          <a:ln w="12700">
            <a:solidFill>
              <a:srgbClr val="26313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33272" y="207111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A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514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replicated graph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852928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rank[0…9]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3337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A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owns 0  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566160" y="1874520"/>
            <a:ext cx="2514600" cy="2103120"/>
          </a:xfrm>
          <a:prstGeom prst="roundRect">
            <a:avLst>
              <a:gd name="adj" fmla="val 6087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30752" y="2048256"/>
            <a:ext cx="914400" cy="292608"/>
          </a:xfrm>
          <a:prstGeom prst="roundRect">
            <a:avLst>
              <a:gd name="adj" fmla="val 43750"/>
            </a:avLst>
          </a:prstGeom>
          <a:solidFill>
            <a:srgbClr val="26313C"/>
          </a:solidFill>
          <a:ln w="12700">
            <a:solidFill>
              <a:srgbClr val="26313C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22192" y="207111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2514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replicated graph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749040" y="2852928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rank[0…9]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3337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owns 2  3  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1874520"/>
            <a:ext cx="2514600" cy="2103120"/>
          </a:xfrm>
          <a:prstGeom prst="roundRect">
            <a:avLst>
              <a:gd name="adj" fmla="val 6087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19672" y="2048256"/>
            <a:ext cx="914400" cy="292608"/>
          </a:xfrm>
          <a:prstGeom prst="roundRect">
            <a:avLst>
              <a:gd name="adj" fmla="val 43750"/>
            </a:avLst>
          </a:prstGeom>
          <a:solidFill>
            <a:srgbClr val="26313C"/>
          </a:solidFill>
          <a:ln w="12700">
            <a:solidFill>
              <a:srgbClr val="26313C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11112" y="207111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4D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2514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replicated graph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2852928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rank[0…9]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3337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4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owns 5  6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144000" y="1874520"/>
            <a:ext cx="2514600" cy="2103120"/>
          </a:xfrm>
          <a:prstGeom prst="roundRect">
            <a:avLst>
              <a:gd name="adj" fmla="val 6087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08592" y="2048256"/>
            <a:ext cx="914400" cy="292608"/>
          </a:xfrm>
          <a:prstGeom prst="roundRect">
            <a:avLst>
              <a:gd name="adj" fmla="val 43750"/>
            </a:avLst>
          </a:prstGeom>
          <a:solidFill>
            <a:srgbClr val="26313C"/>
          </a:solidFill>
          <a:ln w="12700">
            <a:solidFill>
              <a:srgbClr val="26313C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400032" y="207111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326880" y="2514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replicated graph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326880" y="2852928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rank[0…9]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326880" y="3337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7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owns 7  8  9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97280" y="448056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local_values → Allgatherv → full next[0…9] on every process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1965960" y="52303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Dangling mass and L1 error use Allreduce SUM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CODE + PSEUDOCODE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MPI code: partition, gather, then agree on error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6455664"/>
            <a:ext cx="11045952" cy="0"/>
          </a:xfrm>
          <a:prstGeom prst="line">
            <a:avLst/>
          </a:prstGeom>
          <a:noFill/>
          <a:ln w="8890">
            <a:solidFill>
              <a:srgbClr val="28323E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3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ASHAR HUSAIN · 2024BCS0137     /     NIRANJAN R SOOREJ · 2024BCS0117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6675120" cy="4526280"/>
          </a:xfrm>
          <a:prstGeom prst="roundRect">
            <a:avLst>
              <a:gd name="adj" fmla="val 2828"/>
            </a:avLst>
          </a:prstGeom>
          <a:solidFill>
            <a:srgbClr val="111821"/>
          </a:solidFill>
          <a:ln w="12700">
            <a:solidFill>
              <a:srgbClr val="111821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1536192"/>
            <a:ext cx="6272784" cy="4197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5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= N * rank_id / world_size;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5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  = N * (rank_id + 1) / world_size;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5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local_n = end - begin;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5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MPI_Allreduce(&amp;local_dangling, &amp;dangling, 1,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5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MPI_DOUBLE, MPI_SUM, MPI_COMM_WORLD);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5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 owned updates …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5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MPI_Allgatherv(local_values, local_n, MPI_DOUBLE,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5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next, counts, displacements,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5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MPI_DOUBLE, MPI_COMM_WORLD);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5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MPI_Allreduce(&amp;local_error, &amp;error, 1,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5E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MPI_DOUBLE, MPI_SUM, MPI_COMM_WORLD);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18120" y="1481328"/>
            <a:ext cx="3566160" cy="1298448"/>
          </a:xfrm>
          <a:prstGeom prst="roundRect">
            <a:avLst>
              <a:gd name="adj" fmla="val 9859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19288" y="1700784"/>
            <a:ext cx="109728" cy="109728"/>
          </a:xfrm>
          <a:prstGeom prst="ellipse">
            <a:avLst/>
          </a:prstGeom>
          <a:solidFill>
            <a:srgbClr val="F2BD5B"/>
          </a:solidFill>
          <a:ln w="15240">
            <a:solidFill>
              <a:srgbClr val="F2BD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57032" y="163677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iteration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2103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→ reduce → update → all-gather → reduce → swap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3090672"/>
            <a:ext cx="3566160" cy="1298448"/>
          </a:xfrm>
          <a:prstGeom prst="roundRect">
            <a:avLst>
              <a:gd name="adj" fmla="val 9859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19288" y="3310128"/>
            <a:ext cx="109728" cy="109728"/>
          </a:xfrm>
          <a:prstGeom prst="ellipse">
            <a:avLst/>
          </a:prstGeom>
          <a:solidFill>
            <a:srgbClr val="54D6B0"/>
          </a:solidFill>
          <a:ln w="15240">
            <a:solidFill>
              <a:srgbClr val="54D6B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57032" y="3246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together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371246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error gives all ranks the same branch.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4892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AB5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c/mpi_pagerank.c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COSTS &amp; LIMITS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MPI distributes update work—not the graph or memory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6455664"/>
            <a:ext cx="11045952" cy="0"/>
          </a:xfrm>
          <a:prstGeom prst="line">
            <a:avLst/>
          </a:prstGeom>
          <a:noFill/>
          <a:ln w="8890">
            <a:solidFill>
              <a:srgbClr val="28323E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3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ASHAR HUSAIN · 2024BCS0137     /     NIRANJAN R SOOREJ · 2024BCS0117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463040"/>
            <a:ext cx="5074920" cy="1600200"/>
          </a:xfrm>
          <a:prstGeom prst="roundRect">
            <a:avLst>
              <a:gd name="adj" fmla="val 8000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" y="1682496"/>
            <a:ext cx="109728" cy="109728"/>
          </a:xfrm>
          <a:prstGeom prst="ellipse">
            <a:avLst/>
          </a:prstGeom>
          <a:solidFill>
            <a:srgbClr val="F27878"/>
          </a:solidFill>
          <a:ln w="15240">
            <a:solidFill>
              <a:srgbClr val="F2787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16152" y="161848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process memory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084832"/>
            <a:ext cx="46177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CSR graph + two full N-element rank vectors; local_values[local_n] and O(P) metadata.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463040"/>
            <a:ext cx="5074920" cy="1600200"/>
          </a:xfrm>
          <a:prstGeom prst="roundRect">
            <a:avLst>
              <a:gd name="adj" fmla="val 8000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10528" y="1682496"/>
            <a:ext cx="109728" cy="109728"/>
          </a:xfrm>
          <a:prstGeom prst="ellipse">
            <a:avLst/>
          </a:prstGeom>
          <a:solidFill>
            <a:srgbClr val="64A7FF"/>
          </a:solidFill>
          <a:ln w="15240">
            <a:solidFill>
              <a:srgbClr val="64A7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48272" y="161848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work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084832"/>
            <a:ext cx="46177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Approximately O(I(N+E)/P) when destination work is balanced.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3474720"/>
            <a:ext cx="5074920" cy="1600200"/>
          </a:xfrm>
          <a:prstGeom prst="roundRect">
            <a:avLst>
              <a:gd name="adj" fmla="val 8000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8408" y="3694176"/>
            <a:ext cx="109728" cy="109728"/>
          </a:xfrm>
          <a:prstGeom prst="ellipse">
            <a:avLst/>
          </a:prstGeom>
          <a:solidFill>
            <a:srgbClr val="F2BD5B"/>
          </a:solidFill>
          <a:ln w="15240">
            <a:solidFill>
              <a:srgbClr val="F2BD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16152" y="363016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each iteration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096512"/>
            <a:ext cx="46177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dangling sum, full next-vector all-gather, global error sum.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3474720"/>
            <a:ext cx="5074920" cy="1600200"/>
          </a:xfrm>
          <a:prstGeom prst="roundRect">
            <a:avLst>
              <a:gd name="adj" fmla="val 8000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0528" y="3694176"/>
            <a:ext cx="109728" cy="109728"/>
          </a:xfrm>
          <a:prstGeom prst="ellipse">
            <a:avLst/>
          </a:prstGeom>
          <a:solidFill>
            <a:srgbClr val="54D6B0"/>
          </a:solidFill>
          <a:ln w="15240">
            <a:solidFill>
              <a:srgbClr val="54D6B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48272" y="363016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complicates scaling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4096512"/>
            <a:ext cx="46177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overhead, synchronization and varying in-degree work.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5623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Replicated memory means this implementation is not a graph-partitioned memory design.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· MEDIAN MICROSECONDS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runtime: MPI/4 leads only on larger tested cases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6455664"/>
            <a:ext cx="11045952" cy="0"/>
          </a:xfrm>
          <a:prstGeom prst="line">
            <a:avLst/>
          </a:prstGeom>
          <a:noFill/>
          <a:ln w="8890">
            <a:solidFill>
              <a:srgbClr val="28323E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3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ASHAR HUSAIN · 2024BCS0137     /     NIRANJAN R SOOREJ · 2024BCS0117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4173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14173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(µs)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4173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OMP 1 (µs)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4173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OMP 2 (µs)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897880" y="14173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OMP 4 (µs)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4173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1 (µs)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14173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2 (µs)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0" y="14173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4 (µs)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" y="1874520"/>
            <a:ext cx="10881360" cy="530352"/>
          </a:xfrm>
          <a:prstGeom prst="roundRect">
            <a:avLst>
              <a:gd name="adj" fmla="val 24138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19842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121408" y="200253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1.587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355848" y="200253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21.826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90288" y="200253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423.999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824728" y="200253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554.799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059168" y="200253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21.303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293608" y="200253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64.743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528048" y="200253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2B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138.717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" y="2587752"/>
            <a:ext cx="10881360" cy="530352"/>
          </a:xfrm>
          <a:prstGeom prst="roundRect">
            <a:avLst>
              <a:gd name="adj" fmla="val 24138"/>
            </a:avLst>
          </a:prstGeom>
          <a:solidFill>
            <a:srgbClr val="0B0F14"/>
          </a:solidFill>
          <a:ln w="12700">
            <a:solidFill>
              <a:srgbClr val="0B0F14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26974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N100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121408" y="271576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87.861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355848" y="271576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113.111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90288" y="271576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875.877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824728" y="271576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1007.639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059168" y="271576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66.340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293608" y="271576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116.308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528048" y="271576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2B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284.884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58368" y="3300984"/>
            <a:ext cx="10881360" cy="530352"/>
          </a:xfrm>
          <a:prstGeom prst="roundRect">
            <a:avLst>
              <a:gd name="adj" fmla="val 24138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" y="34107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N1,000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2121408" y="342900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441.013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3355848" y="342900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734.089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590288" y="342900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1095.093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824728" y="342900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1008.721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059168" y="342900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296.401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93608" y="342900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256.088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9528048" y="342900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2B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350.771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58368" y="4014216"/>
            <a:ext cx="10881360" cy="530352"/>
          </a:xfrm>
          <a:prstGeom prst="roundRect">
            <a:avLst>
              <a:gd name="adj" fmla="val 24138"/>
            </a:avLst>
          </a:prstGeom>
          <a:solidFill>
            <a:srgbClr val="0B0F14"/>
          </a:solidFill>
          <a:ln w="12700">
            <a:solidFill>
              <a:srgbClr val="0B0F14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22960" y="41239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N10,000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2121408" y="41422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1829.857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3355848" y="41422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1853.137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4590288" y="41422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2191.127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5824728" y="41422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1990.820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059168" y="41422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1930.254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8293608" y="41422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1254.603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9528048" y="41422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2B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1029.242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58368" y="4727448"/>
            <a:ext cx="10881360" cy="530352"/>
          </a:xfrm>
          <a:prstGeom prst="roundRect">
            <a:avLst>
              <a:gd name="adj" fmla="val 24138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22960" y="48371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N100,000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2121408" y="48554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9252.197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3355848" y="48554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10537.474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4590288" y="48554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7144.673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5824728" y="48554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8243.165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7059168" y="48554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11137.435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8293608" y="48554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6543.447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9528048" y="48554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2B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5660.108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777240" y="56692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N, E: 10/11 · 100/594 · 1k/5,994 · 10k/59,995 · 100k/599,992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· RELATIVE PERFORMANCE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Speedup and efficiency: results depend on size and workers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6455664"/>
            <a:ext cx="11045952" cy="0"/>
          </a:xfrm>
          <a:prstGeom prst="line">
            <a:avLst/>
          </a:prstGeom>
          <a:noFill/>
          <a:ln w="8890">
            <a:solidFill>
              <a:srgbClr val="28323E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3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ASHAR HUSAIN · 2024BCS0137     /     NIRANJAN R SOOREJ · 2024BCS0117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2252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= speedup × / efficiency %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645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1645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1645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1645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1645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1645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281160" y="1645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2039112"/>
            <a:ext cx="10881360" cy="448056"/>
          </a:xfrm>
          <a:prstGeom prst="roundRect">
            <a:avLst>
              <a:gd name="adj" fmla="val 28571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2148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2148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0.073 / 7.3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611880" y="2148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0.004 / 0.2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2148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0.003 / 0.1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148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0.074 / 7.4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2148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0.025 / 1.2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2148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2B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0.011 / 0.3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" y="2633472"/>
            <a:ext cx="10881360" cy="448056"/>
          </a:xfrm>
          <a:prstGeom prst="roundRect">
            <a:avLst>
              <a:gd name="adj" fmla="val 28571"/>
            </a:avLst>
          </a:prstGeom>
          <a:solidFill>
            <a:srgbClr val="0B0F14"/>
          </a:solidFill>
          <a:ln w="12700">
            <a:solidFill>
              <a:srgbClr val="0B0F14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2743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N100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2194560" y="2743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0.777 / 77.7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611880" y="2743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0.100 / 5.0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0" y="2743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0.087 / 2.2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2743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1.324 / 132.4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863840" y="2743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0.755 / 37.8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281160" y="2743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2B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0.308 / 7.7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58368" y="3227832"/>
            <a:ext cx="10881360" cy="448056"/>
          </a:xfrm>
          <a:prstGeom prst="roundRect">
            <a:avLst>
              <a:gd name="adj" fmla="val 28571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3337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N1k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2194560" y="3337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0.601 / 60.1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3611880" y="3337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0.403 / 20.1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0" y="3337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0.437 / 10.9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446520" y="3337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1.488 / 148.8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7863840" y="3337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1.722 / 86.1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9281160" y="3337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2B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1.257 / 31.4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58368" y="3822192"/>
            <a:ext cx="10881360" cy="448056"/>
          </a:xfrm>
          <a:prstGeom prst="roundRect">
            <a:avLst>
              <a:gd name="adj" fmla="val 28571"/>
            </a:avLst>
          </a:prstGeom>
          <a:solidFill>
            <a:srgbClr val="0B0F14"/>
          </a:solidFill>
          <a:ln w="12700">
            <a:solidFill>
              <a:srgbClr val="0B0F14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77240" y="3931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N10k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2194560" y="3931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0.987 / 98.7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3611880" y="3931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0.835 / 41.8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5029200" y="3931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0.919 / 23.0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6446520" y="3931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0.948 / 94.8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7863840" y="3931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1.459 / 72.9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9281160" y="3931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2B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1.778 / 44.4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58368" y="4416552"/>
            <a:ext cx="10881360" cy="448056"/>
          </a:xfrm>
          <a:prstGeom prst="roundRect">
            <a:avLst>
              <a:gd name="adj" fmla="val 28571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77240" y="4526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N100k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2194560" y="4526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0.878 / 87.8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3611880" y="4526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1.295 / 64.7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5029200" y="4526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1.122 / 28.1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6446520" y="4526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0.831 / 83.1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7863840" y="4526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1.414 / 70.7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9281160" y="4526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2B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1.635 / 40.9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868680" y="5349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speedup = serial / parallel     ·     efficiency = speedup / workers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868680" y="5742432"/>
            <a:ext cx="2221992" cy="292608"/>
          </a:xfrm>
          <a:prstGeom prst="roundRect">
            <a:avLst>
              <a:gd name="adj" fmla="val 43750"/>
            </a:avLst>
          </a:prstGeom>
          <a:solidFill>
            <a:srgbClr val="26313C"/>
          </a:solidFill>
          <a:ln w="12700">
            <a:solidFill>
              <a:srgbClr val="26313C">
                <a:alpha val="0"/>
              </a:srgbClr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960120" y="5765292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N100k MPI/4: 1.635× · 40.9%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· METHOD &amp; LIMITATIONS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benchmark was run—and what it cannot show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6455664"/>
            <a:ext cx="11045952" cy="0"/>
          </a:xfrm>
          <a:prstGeom prst="line">
            <a:avLst/>
          </a:prstGeom>
          <a:noFill/>
          <a:ln w="8890">
            <a:solidFill>
              <a:srgbClr val="28323E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3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ASHAR HUSAIN · 2024BCS0137     /     NIRANJAN R SOOREJ · 2024BCS0117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3383280" cy="1965960"/>
          </a:xfrm>
          <a:prstGeom prst="roundRect">
            <a:avLst>
              <a:gd name="adj" fmla="val 6512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" y="1636776"/>
            <a:ext cx="109728" cy="109728"/>
          </a:xfrm>
          <a:prstGeom prst="ellipse">
            <a:avLst/>
          </a:prstGeom>
          <a:solidFill>
            <a:srgbClr val="64A7FF"/>
          </a:solidFill>
          <a:ln w="15240">
            <a:solidFill>
              <a:srgbClr val="64A7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16152" y="1572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039112"/>
            <a:ext cx="29260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· Intel Core Ultra 9 185H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· Linux x86_64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logical CPUs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16.2.1 · Open MPI 5.0.10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34840" y="1417320"/>
            <a:ext cx="3383280" cy="1965960"/>
          </a:xfrm>
          <a:prstGeom prst="roundRect">
            <a:avLst>
              <a:gd name="adj" fmla="val 6512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36008" y="1636776"/>
            <a:ext cx="109728" cy="109728"/>
          </a:xfrm>
          <a:prstGeom prst="ellipse">
            <a:avLst/>
          </a:prstGeom>
          <a:solidFill>
            <a:srgbClr val="F2BD5B"/>
          </a:solidFill>
          <a:ln w="15240">
            <a:solidFill>
              <a:srgbClr val="F2BD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73752" y="1572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039112"/>
            <a:ext cx="29260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warmup + 5 successful timed runs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reported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OMP threads / MPI processes: 1, 2, 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92440" y="1417320"/>
            <a:ext cx="3383280" cy="1965960"/>
          </a:xfrm>
          <a:prstGeom prst="roundRect">
            <a:avLst>
              <a:gd name="adj" fmla="val 6512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3608" y="1636776"/>
            <a:ext cx="109728" cy="109728"/>
          </a:xfrm>
          <a:prstGeom prst="ellipse">
            <a:avLst/>
          </a:prstGeom>
          <a:solidFill>
            <a:srgbClr val="54D6B0"/>
          </a:solidFill>
          <a:ln w="15240">
            <a:solidFill>
              <a:srgbClr val="54D6B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31352" y="1572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scope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039112"/>
            <a:ext cx="29260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only; excludes graph build and process startup. MPI reports max rank elapsed.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7240" y="3794760"/>
            <a:ext cx="10698480" cy="1417320"/>
          </a:xfrm>
          <a:prstGeom prst="roundRect">
            <a:avLst>
              <a:gd name="adj" fmla="val 9032"/>
            </a:avLst>
          </a:prstGeom>
          <a:solidFill>
            <a:srgbClr val="241B25"/>
          </a:solidFill>
          <a:ln w="12700">
            <a:solidFill>
              <a:srgbClr val="241B25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97280" y="4069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Single-host evidence — not cluster scaling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4617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graphs often lose to parallel overhead; adding workers does not always help.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56235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AB5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Build: -O2 -std=c11 -Wall -Wextra -pedantic   ·   OpenMP adds -fopenmp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· VALIDATION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Correctness: compare within tolerance, not bit-for-bit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6455664"/>
            <a:ext cx="11045952" cy="0"/>
          </a:xfrm>
          <a:prstGeom prst="line">
            <a:avLst/>
          </a:prstGeom>
          <a:noFill/>
          <a:ln w="8890">
            <a:solidFill>
              <a:srgbClr val="28323E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3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ASHAR HUSAIN · 2024BCS0137     /     NIRANJAN R SOOREJ · 2024BCS0117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463040"/>
            <a:ext cx="3383280" cy="2011680"/>
          </a:xfrm>
          <a:prstGeom prst="roundRect">
            <a:avLst>
              <a:gd name="adj" fmla="val 6364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" y="1682496"/>
            <a:ext cx="109728" cy="109728"/>
          </a:xfrm>
          <a:prstGeom prst="ellipse">
            <a:avLst/>
          </a:prstGeom>
          <a:solidFill>
            <a:srgbClr val="54D6B0"/>
          </a:solidFill>
          <a:ln w="15240">
            <a:solidFill>
              <a:srgbClr val="54D6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16152" y="1618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084832"/>
            <a:ext cx="29260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ranks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sum within 1e-8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L1 residual &lt; 1e-6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34840" y="1463040"/>
            <a:ext cx="3383280" cy="2011680"/>
          </a:xfrm>
          <a:prstGeom prst="roundRect">
            <a:avLst>
              <a:gd name="adj" fmla="val 6364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36008" y="1682496"/>
            <a:ext cx="109728" cy="109728"/>
          </a:xfrm>
          <a:prstGeom prst="ellipse">
            <a:avLst/>
          </a:prstGeom>
          <a:solidFill>
            <a:srgbClr val="64A7FF"/>
          </a:solidFill>
          <a:ln w="15240">
            <a:solidFill>
              <a:srgbClr val="64A7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73752" y="1618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084832"/>
            <a:ext cx="29260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max rank delta vs serial ≤ 1e-8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delta ≤ 1e-10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92440" y="1463040"/>
            <a:ext cx="3383280" cy="2011680"/>
          </a:xfrm>
          <a:prstGeom prst="roundRect">
            <a:avLst>
              <a:gd name="adj" fmla="val 6364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3608" y="1682496"/>
            <a:ext cx="109728" cy="109728"/>
          </a:xfrm>
          <a:prstGeom prst="ellipse">
            <a:avLst/>
          </a:prstGeom>
          <a:solidFill>
            <a:srgbClr val="F2BD5B"/>
          </a:solidFill>
          <a:ln w="15240">
            <a:solidFill>
              <a:srgbClr val="F2BD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31352" y="1618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084832"/>
            <a:ext cx="29260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tests · 0 failures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N=1, fixtures, five sizes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Python reference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42519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order can change floating-point summation; iteration counts may differ.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493776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compare rank vectors within tolerance.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· CONCLUSION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Takeaway: choose the model that fits the graph and machine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6455664"/>
            <a:ext cx="11045952" cy="0"/>
          </a:xfrm>
          <a:prstGeom prst="line">
            <a:avLst/>
          </a:prstGeom>
          <a:noFill/>
          <a:ln w="8890">
            <a:solidFill>
              <a:srgbClr val="28323E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 txBox="1"/>
          <p:nvPr/>
        </p:nvSpPr>
        <p:spPr>
          <a:xfrm>
            <a:off x="566928" y="6519672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38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ASHAR HUSAIN · 2024BCS0137     /     NIRANJAN R SOOREJ · 2024BCS0117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508760"/>
            <a:ext cx="3383280" cy="2057400"/>
          </a:xfrm>
          <a:prstGeom prst="roundRect">
            <a:avLst>
              <a:gd name="adj" fmla="val 6222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" y="1728216"/>
            <a:ext cx="109728" cy="109728"/>
          </a:xfrm>
          <a:prstGeom prst="ellipse">
            <a:avLst/>
          </a:prstGeom>
          <a:solidFill>
            <a:srgbClr val="64A7FF"/>
          </a:solidFill>
          <a:ln w="15240">
            <a:solidFill>
              <a:srgbClr val="64A7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16152" y="1664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130552"/>
            <a:ext cx="29260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baseline; best fit for small work and correctness reference.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34840" y="1508760"/>
            <a:ext cx="3383280" cy="2057400"/>
          </a:xfrm>
          <a:prstGeom prst="roundRect">
            <a:avLst>
              <a:gd name="adj" fmla="val 6222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36008" y="1728216"/>
            <a:ext cx="109728" cy="109728"/>
          </a:xfrm>
          <a:prstGeom prst="ellipse">
            <a:avLst/>
          </a:prstGeom>
          <a:solidFill>
            <a:srgbClr val="54D6B0"/>
          </a:solidFill>
          <a:ln w="15240">
            <a:solidFill>
              <a:srgbClr val="54D6B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73752" y="1664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130552"/>
            <a:ext cx="29260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Shared-memory threads; modest gains appear only for some tested sizes.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92440" y="1508760"/>
            <a:ext cx="3383280" cy="2057400"/>
          </a:xfrm>
          <a:prstGeom prst="roundRect">
            <a:avLst>
              <a:gd name="adj" fmla="val 6222"/>
            </a:avLst>
          </a:prstGeom>
          <a:solidFill>
            <a:srgbClr val="151C25"/>
          </a:solidFill>
          <a:ln w="12700">
            <a:solidFill>
              <a:srgbClr val="151C2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3608" y="1728216"/>
            <a:ext cx="109728" cy="109728"/>
          </a:xfrm>
          <a:prstGeom prst="ellipse">
            <a:avLst/>
          </a:prstGeom>
          <a:solidFill>
            <a:srgbClr val="F2BD5B"/>
          </a:solidFill>
          <a:ln w="15240">
            <a:solidFill>
              <a:srgbClr val="F2BD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31352" y="1664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130552"/>
            <a:ext cx="29260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Partitioned destination updates, but replicated graph/vectors and per-iteration collectives.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43434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wins are conditional—not universal—and these runs were on one host.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50749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is one useful signal in a broader system.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57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9718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023360" y="3886200"/>
            <a:ext cx="4114800" cy="0"/>
          </a:xfrm>
          <a:prstGeom prst="line">
            <a:avLst/>
          </a:prstGeom>
          <a:noFill/>
          <a:ln w="12700">
            <a:solidFill>
              <a:srgbClr val="34425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 txBox="1"/>
          <p:nvPr/>
        </p:nvSpPr>
        <p:spPr>
          <a:xfrm>
            <a:off x="914400" y="42519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Niranjan R Soorej · 2024BCS0117     /     Mohammed Ashar Husain · 2024BCS0137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8920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2B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· Serial → OpenMP → MPI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PageRank Algorithm — Serial, OpenMP &amp; MPI</dc:title>
  <dc:subject>PageRank serial, OpenMP and MPI</dc:subject>
  <dc:creator>Mohammed Ashar Husain</dc:creator>
  <cp:lastModifiedBy>Mohammed Ashar Husain</cp:lastModifiedBy>
  <cp:revision>1</cp:revision>
  <dcterms:created xsi:type="dcterms:W3CDTF">2026-10-15T07:53:39Z</dcterms:created>
  <dcterms:modified xsi:type="dcterms:W3CDTF">2026-10-15T07:53:39Z</dcterms:modified>
</cp:coreProperties>
</file>