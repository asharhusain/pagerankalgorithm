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8288000" cy="10287000"/>
  <p:notesSz cx="10287000" cy="1828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400" b="0" u="none" strike="noStrike">
                <a:solidFill>
                  <a:srgbClr val="000000"/>
                </a:solidFill>
                <a:effectLst/>
                <a:uFillTx/>
                <a:latin typeface="Arial"/>
              </a:rPr>
              <a:t>Click to move the slide</a:t>
            </a:r>
            <a:endParaRPr lang="en-US" sz="1400" b="0" u="none" strike="noStrike">
              <a:solidFill>
                <a:srgbClr val="000000"/>
              </a:solidFill>
              <a:effectLst/>
              <a:uFillTx/>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4B8AF81-AEAA-45D9-B799-8BE2FF52748F}"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685800" y="1143000"/>
            <a:ext cx="5485680" cy="3085560"/>
          </a:xfrm>
          <a:prstGeom prst="rect">
            <a:avLst/>
          </a:prstGeom>
          <a:ln w="0">
            <a:noFill/>
          </a:ln>
        </p:spPr>
      </p:sp>
      <p:sp>
        <p:nvSpPr>
          <p:cNvPr id="5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Open by asking the audience: how does a page become important on the web? Don't answer yet — let the graph in the background make the point visually. State the two-part thesis of the talk: first, PageRank turns link structure into a numerical importance score using a recurrence relation; second, that recurrence has independent per-node work inside each iteration, which is what lets us parallelize it with OpenMP. Read the title and subtitle aloud, then name the module and assignment context, then introduce yourselves briefly. Keep this slide under 30 seconds — it's a hook, not content.</a:t>
            </a:r>
            <a:endParaRPr lang="en-US" sz="1200" b="0" u="none" strike="noStrike">
              <a:solidFill>
                <a:srgbClr val="000000"/>
              </a:solidFill>
              <a:effectLst/>
              <a:uFillTx/>
              <a:latin typeface="Arial"/>
            </a:endParaRPr>
          </a:p>
        </p:txBody>
      </p:sp>
      <p:sp>
        <p:nvSpPr>
          <p:cNvPr id="523"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8B3C11D-230A-4438-A4F5-796CFC04C705}"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685800" y="1143000"/>
            <a:ext cx="5485680" cy="3085560"/>
          </a:xfrm>
          <a:prstGeom prst="rect">
            <a:avLst/>
          </a:prstGeom>
          <a:ln w="0">
            <a:noFill/>
          </a:ln>
        </p:spPr>
      </p:sp>
      <p:sp>
        <p:nvSpPr>
          <p:cNvPr id="5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slide answers 'why not just count links?' before the technical algorithm shows up. Walk it in order: (1) a link is a vote for another page; (2) but a vote from an important page should count for more than one from an unimportant page — otherwise the metric is trivially gamed; (3) show THE CHEAT — build a thousand throwaway pages and point them all at yourself; (4) show THE FIX — a page can only give away the rank it already has, and a brand-new fake page starts with almost none, so a thousand worthless votes are still worth almost nothing; (5) mention the 15% random jump (1-d = 0.15): it exists so that a closed loop of pages can't trap and hoard rank forever, and it is the same d = 0.85 damping factor used in every equation for the rest of the talk. End on: this is the intuition: importance is inherited, not counted.</a:t>
            </a:r>
            <a:endParaRPr lang="en-US" sz="1200" b="0" u="none" strike="noStrike">
              <a:solidFill>
                <a:srgbClr val="000000"/>
              </a:solidFill>
              <a:effectLst/>
              <a:uFillTx/>
              <a:latin typeface="Arial"/>
            </a:endParaRPr>
          </a:p>
        </p:txBody>
      </p:sp>
      <p:sp>
        <p:nvSpPr>
          <p:cNvPr id="526"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4130707-7DEA-48DC-996D-551770B763D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685800" y="1143000"/>
            <a:ext cx="5485680" cy="3085560"/>
          </a:xfrm>
          <a:prstGeom prst="rect">
            <a:avLst/>
          </a:prstGeom>
          <a:ln w="0">
            <a:noFill/>
          </a:ln>
        </p:spPr>
      </p:sp>
      <p:sp>
        <p:nvSpPr>
          <p:cNvPr id="5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is a one-breath overview slide — don't teach content here, just name the six stops so the audience has a map: web graph and objective, the serial recurrence and its complexity, the PCAM parallel design methodology, two hand-traced worked iterations, the actual OpenMP code, and finally the measured performance numbers. Point along the line left to right as you say each name. Tell them explicitly: 'we are going to follow the algorithm itself, from concept to a parallel program, in that order.'</a:t>
            </a:r>
            <a:endParaRPr lang="en-US" sz="1200" b="0" u="none" strike="noStrike">
              <a:solidFill>
                <a:srgbClr val="000000"/>
              </a:solidFill>
              <a:effectLst/>
              <a:uFillTx/>
              <a:latin typeface="Arial"/>
            </a:endParaRPr>
          </a:p>
        </p:txBody>
      </p:sp>
      <p:sp>
        <p:nvSpPr>
          <p:cNvPr id="529"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7112E33-25E2-47AC-90F2-0282988686F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685800" y="1143000"/>
            <a:ext cx="5485680" cy="3085560"/>
          </a:xfrm>
          <a:prstGeom prst="rect">
            <a:avLst/>
          </a:prstGeom>
          <a:ln w="0">
            <a:noFill/>
          </a:ln>
        </p:spPr>
      </p:sp>
      <p:sp>
        <p:nvSpPr>
          <p:cNvPr id="5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Teach the diagram before the text. Say: every circle here is a web page, every arrow is a link, and the size of the circle is proportional to that page's computed rank — this is not decoration, it's the actual output of the algorithm we're about to define. Ask the audience which circle looks most important; they'll point at the big one — that's the whole intuition in one glance. Explain why it's big: five separate pages link to it. Then point at the small page with two outgoing arrows and say it doesn't get to vote twice at full strength — it splits its own rank in half, sending half down each link; that single rule is what makes link spam not work. Contrast with the small page (Page B), which has one incoming link from a page that is itself unimportant, so it stays small. Only after all of that, read the formal objective: compute the rank of every node in a directed graph, then study how to compute it in parallel with OpenMP. If asked where the numbers start: every page begins at 1/N and the arrows redistribute that rank repeatedly until it stops changing — that's the next slide.</a:t>
            </a:r>
            <a:endParaRPr lang="en-US" sz="1200" b="0" u="none" strike="noStrike">
              <a:solidFill>
                <a:srgbClr val="000000"/>
              </a:solidFill>
              <a:effectLst/>
              <a:uFillTx/>
              <a:latin typeface="Arial"/>
            </a:endParaRPr>
          </a:p>
        </p:txBody>
      </p:sp>
      <p:sp>
        <p:nvSpPr>
          <p:cNvPr id="532"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79D442F-4283-486B-BDC9-428954AB55A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685800" y="1143000"/>
            <a:ext cx="5485680" cy="3085560"/>
          </a:xfrm>
          <a:prstGeom prst="rect">
            <a:avLst/>
          </a:prstGeom>
          <a:ln w="0">
            <a:noFill/>
          </a:ln>
        </p:spPr>
      </p:sp>
      <p:sp>
        <p:nvSpPr>
          <p:cNvPr id="5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slide exists to answer a question a sharp examiner will ask: why 0.85, why not just follow links forever? Explain with the two clusters: if the surfer only ever follows real links (d=1), and the graph has two pieces with no edges between them, a surfer starting in cluster A can never reach cluster B — the walk is trapped in whichever component it started in. Mathematically, the transition matrix of a disconnected graph is reducible, and a reducible Markov chain does not have one single stationary distribution — it has one per component, so plain link-following iteration has no single well-defined PageRank vector to converge to. The fix is teleportation: with probability 1-d, the surfer ignores every link and jumps to a uniformly random node anywhere in the whole graph, cluster boundary or not. That single always-on term, (1-d)/N, added identically to every node regardless of the graph's structure, is exactly what stitches the components back together into one chain. It makes the chain irreducible and aperiodic, which by the Perron-Frobenius / fundamental Markov chain theorem guarantees a unique stationary distribution exists and the power-iteration recurrence converges to it — for any graph, connected or not, with or without dangling nodes. Close by saying d=0.85 is Google's chosen balance: high enough that real link structure still dominates the ranking, low enough that the 15% teleport share is always strong enough to guarantee convergence.</a:t>
            </a:r>
            <a:endParaRPr lang="en-US" sz="1200" b="0" u="none" strike="noStrike">
              <a:solidFill>
                <a:srgbClr val="000000"/>
              </a:solidFill>
              <a:effectLst/>
              <a:uFillTx/>
              <a:latin typeface="Arial"/>
            </a:endParaRPr>
          </a:p>
        </p:txBody>
      </p:sp>
      <p:sp>
        <p:nvSpPr>
          <p:cNvPr id="535"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9D50668-A7E8-4C89-8D42-F05DAE4E8C65}"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685800" y="1143000"/>
            <a:ext cx="5485680" cy="3085560"/>
          </a:xfrm>
          <a:prstGeom prst="rect">
            <a:avLst/>
          </a:prstGeom>
          <a:ln w="0">
            <a:noFill/>
          </a:ln>
        </p:spPr>
      </p:sp>
      <p:sp>
        <p:nvSpPr>
          <p:cNvPr id="5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Build this up in layers, don't start with the pseudocode. First the three-node picture: Page A sends PR[A]/outdeg(A) down each of its outgoing edges — say aloud that a page divides its rank evenly among however many links it has. Second, introduce d = 0.85 as the damping factor and explain in one sentence what it means: 85% of the time follow a link, 15% of the time jump randomly (tying back to the intuition slide). Only then reveal the pseudocode line by line: initialize every PR[i] to 1/N; each iteration first computes the dangling sum — the total rank held by nodes with no outgoing links, because that rank has nowhere to go and must be redistributed evenly across all N nodes or it silently leaks out of the system; then for every node, newPR[i] is the base term (1-d)/N plus the damping share of the dangling sum plus the damping-weighted sum of PR[j]/outdeg(j) for every predecessor j; then compute the error as the sum of absolute differences between new and old PR, swap the buffers, and repeat until error is below epsilon. Emphasize the dangling-node handling — it's the one part of the recurrence that isn't obvious from the naive 'PageRank is a random walk' description.</a:t>
            </a:r>
            <a:endParaRPr lang="en-US" sz="1200" b="0" u="none" strike="noStrike">
              <a:solidFill>
                <a:srgbClr val="000000"/>
              </a:solidFill>
              <a:effectLst/>
              <a:uFillTx/>
              <a:latin typeface="Arial"/>
            </a:endParaRPr>
          </a:p>
        </p:txBody>
      </p:sp>
      <p:sp>
        <p:nvSpPr>
          <p:cNvPr id="538"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B99B03B-DDA0-4CCE-864C-D2CBAB066B8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685800" y="1143000"/>
            <a:ext cx="5485680" cy="3085560"/>
          </a:xfrm>
          <a:prstGeom prst="rect">
            <a:avLst/>
          </a:prstGeom>
          <a:ln w="0">
            <a:noFill/>
          </a:ln>
        </p:spPr>
      </p:sp>
      <p:sp>
        <p:nvSpPr>
          <p:cNvPr id="5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Frame PCAM as an engineering process the algorithm suggests on its own, not a list of four textbook words to memorize. Start from the observation already established two slides back: every node's newPR[i] only reads old PR values and writes to its own slot, so nothing stops us from doing several nodes at once. Partitioning: divide the N node-update computations among threads, e.g. thread 0 gets nodes {0,1}, thread 1 gets {2,3}. Communication: threads all read the same shared graph and PR array, and the two values every thread needs to contribute to — the dangling sum and the error — are computed as parallel reductions rather than by explicit messages. Agglomeration: instead of scheduling one node per task, group multiple nodes into a contiguous chunk per thread to amortize the overhead of spinning up parallel work. Mapping: OpenMP's static schedule assigns each thread a fixed, contiguous block of node indices for the whole run — say why static and not dynamic: the work per node is uniform (same formula, degree-proportional cost), so there's no load-imbalance to correct for.</a:t>
            </a:r>
            <a:endParaRPr lang="en-US" sz="1200" b="0" u="none" strike="noStrike">
              <a:solidFill>
                <a:srgbClr val="000000"/>
              </a:solidFill>
              <a:effectLst/>
              <a:uFillTx/>
              <a:latin typeface="Arial"/>
            </a:endParaRPr>
          </a:p>
        </p:txBody>
      </p:sp>
      <p:sp>
        <p:nvSpPr>
          <p:cNvPr id="541"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458897C-8E4B-4CBA-AD0D-DB6054A37BB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685800" y="1143000"/>
            <a:ext cx="5485680" cy="3085560"/>
          </a:xfrm>
          <a:prstGeom prst="rect">
            <a:avLst/>
          </a:prstGeom>
          <a:ln w="0">
            <a:noFill/>
          </a:ln>
        </p:spPr>
      </p:sp>
      <p:sp>
        <p:nvSpPr>
          <p:cNvPr id="5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is the graph with no dangling node: edges 0→1, 0→2, 1→3, 2→3, 3→0. Start every PR at 0.25. Walk iteration 1 on the board using the exact formula from the serial-algorithm slide: PR[0] gets the full rank of node 3 (its only predecessor) scaled by d, plus the base term, landing at 0.25; PR[1] and PR[2] each get half of node 0's rank, landing at 0.1438 each; PR[3] is the interesting one — it receives the full rank of both node 1 and node 2, since both point only to node 3, so it jumps to 0.4625, comfortably the largest value after just one step. Say explicitly: 'notice node 3 already overtakes everyone else in the very first iteration, before the process has even had time to settle — that's because it's the sole recipient of two separate incoming votes.' Then skip to the converged state after 81 iterations: PR = (0.3202, 0.1736, 0.1736, 0.3326). Explain the final shape: nodes 0 and 3 form a two-node cycle that keeps trading rank back and forth, so they end up with most of the mass, while 1 and 2 are pass-through nodes that receive from 0 and immediately hand everything to 3, keeping little for themselves.</a:t>
            </a:r>
            <a:endParaRPr lang="en-US" sz="1200" b="0" u="none" strike="noStrike">
              <a:solidFill>
                <a:srgbClr val="000000"/>
              </a:solidFill>
              <a:effectLst/>
              <a:uFillTx/>
              <a:latin typeface="Arial"/>
            </a:endParaRPr>
          </a:p>
        </p:txBody>
      </p:sp>
      <p:sp>
        <p:nvSpPr>
          <p:cNvPr id="544"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E70FE00-C1BB-41BA-8FCE-F64567B06C2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685800" y="1143000"/>
            <a:ext cx="5485680" cy="3085560"/>
          </a:xfrm>
          <a:prstGeom prst="rect">
            <a:avLst/>
          </a:prstGeom>
          <a:ln w="0">
            <a:noFill/>
          </a:ln>
        </p:spPr>
      </p:sp>
      <p:sp>
        <p:nvSpPr>
          <p:cNvPr id="5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is the graph with a dangling node: edges 0→1, 1→2, 1→3, 2→0, and node 3 has no outgoing edges at all (outdeg(3) = 0). Point at node 3 and say plainly: this page has nowhere to send its rank — if we did nothing about that, its share of the total rank would simply vanish from the system every iteration, and the total wouldn't stay conserved at 1. Show the fix: sum up all dangling nodes' rank (here just node 3's) and redistribute that dangling total evenly across all N nodes, adding dangling/N to every node's update, exactly as in the general recurrence. Walk iteration 1 numerically: base term 0.0375 plus dangling contribution 0.053125 applied everywhere, then each node also picks up its damped share from its real predecessors — giving PR[0]=0.3031, PR[1]=0.3031, PR[2]=0.1969, PR[3]=0.1969. State the converged result after 32 iterations: PR = (0.2646, 0.3079, 0.2138, 0.2138). Close with the two-line contrast that's the real takeaway of this slide: without redistribution, rank leaks out of the system and the values wouldn't sum to 1; with redistribution, total rank is conserved every single iteration.</a:t>
            </a:r>
            <a:endParaRPr lang="en-US" sz="1200" b="0" u="none" strike="noStrike">
              <a:solidFill>
                <a:srgbClr val="000000"/>
              </a:solidFill>
              <a:effectLst/>
              <a:uFillTx/>
              <a:latin typeface="Arial"/>
            </a:endParaRPr>
          </a:p>
        </p:txBody>
      </p:sp>
      <p:sp>
        <p:nvSpPr>
          <p:cNvPr id="547"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FF936D2-372C-4655-9547-565F37588A1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685800" y="1143000"/>
            <a:ext cx="5485680" cy="3085560"/>
          </a:xfrm>
          <a:prstGeom prst="rect">
            <a:avLst/>
          </a:prstGeom>
          <a:ln w="0">
            <a:noFill/>
          </a:ln>
        </p:spPr>
      </p:sp>
      <p:sp>
        <p:nvSpPr>
          <p:cNvPr id="5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Establish the cost model before showing any numbers. One iteration touches every node once (for the dangling sum and error) and every edge once (for the neighbor sum), so one iteration is O(N+E); running I iterations multiplies that by I, giving O(I·(N+E)) overall — write both formulas large, they're the point of the slide. Then walk the measured table: at N=1,000 (E=5,994) the serial run took 0.000120s; at N=10,000 (E=59,995) it took 0.001672s — roughly a 14x increase for a 10x graph, consistent with linear scaling in N+E; at N=100,000 (E=599,992) it took 0.020366s — another ~12x increase for another 10x graph. Explicitly call out that the iteration count stayed fixed at 13 across all three sizes — this is important because it means the runtime growth you're seeing is purely the O(N+E) per-iteration cost scaling up, not the algorithm needing more iterations to converge on a bigger graph. Close with: more nodes and more edges means strictly more work per iteration, but not more iterations.</a:t>
            </a:r>
            <a:endParaRPr lang="en-US" sz="1200" b="0" u="none" strike="noStrike">
              <a:solidFill>
                <a:srgbClr val="000000"/>
              </a:solidFill>
              <a:effectLst/>
              <a:uFillTx/>
              <a:latin typeface="Arial"/>
            </a:endParaRPr>
          </a:p>
        </p:txBody>
      </p:sp>
      <p:sp>
        <p:nvSpPr>
          <p:cNvPr id="550"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3127BE5-75A6-4B2F-B004-9FBEA6D984C3}"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685800" y="1143000"/>
            <a:ext cx="5485680" cy="3085560"/>
          </a:xfrm>
          <a:prstGeom prst="rect">
            <a:avLst/>
          </a:prstGeom>
          <a:ln w="0">
            <a:noFill/>
          </a:ln>
        </p:spPr>
      </p:sp>
      <p:sp>
        <p:nvSpPr>
          <p:cNvPr id="5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slide names exactly which piece of the algorithm gets parallelized and why. Point at the array of newPR[i] computations for one iteration and say: computing newPR[i] only reads the old PR array and only writes to slot i — no node's update touches any other node's output — so all N of these computations are mutually independent within a single iteration, and can run on different threads at the same time. Show the two-thread split (thread 0 handles nodes {0,1}, thread 1 handles {2,3}) and say each thread just runs the same per-node formula on its own subset. Then point at the BARRIER and say the crucial caveat clearly, twice if needed: the next iteration's PR values depend on this iteration's newPR values being fully finished for every node, so we cannot start iteration 2 until every thread has completed iteration 1 — that's why there's a synchronization barrier between iterations. Land on the one sentence to memorize: node updates within one iteration are parallel, but the iterations themselves remain strictly sequential.</a:t>
            </a:r>
            <a:endParaRPr lang="en-US" sz="1200" b="0" u="none" strike="noStrike">
              <a:solidFill>
                <a:srgbClr val="000000"/>
              </a:solidFill>
              <a:effectLst/>
              <a:uFillTx/>
              <a:latin typeface="Arial"/>
            </a:endParaRPr>
          </a:p>
        </p:txBody>
      </p:sp>
      <p:sp>
        <p:nvSpPr>
          <p:cNvPr id="553"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911975B-542D-4970-AAB0-543D4E50F86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685800" y="1143000"/>
            <a:ext cx="5485680" cy="3085560"/>
          </a:xfrm>
          <a:prstGeom prst="rect">
            <a:avLst/>
          </a:prstGeom>
          <a:ln w="0">
            <a:noFill/>
          </a:ln>
        </p:spPr>
      </p:sp>
      <p:sp>
        <p:nvSpPr>
          <p:cNvPr id="5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Map the six numbered steps directly onto the code shown: (1) calculate the dangling sum with a #pragma omp parallel for reduction(+:dangling) — explain that 'reduction' means each thread keeps its own private running total and OpenMP combines them safely at the end, avoiding a race condition on a single shared variable; (2) parallelize the node-update loop with a plain #pragma omp parallel for, since each iteration of that loop writes to a distinct, private newPR[i] slot — no reduction needed there; (3) an implicit barrier after that parallel region, which OpenMP inserts automatically at the end of every parallel for; (4) calculate the error, again with a sum reduction; (5) swap the PR and newPR pointers — done serially, it's O(1) and not worth parallelizing; (6) repeat until the error drops below epsilon. Show the concrete 2-thread mapping (T0 → nodes {0,1}, T1 → nodes {2,3}) on the dangling-node graph from Example 2, and state the single most important experimental result on this slide: running that graph in parallel produced the identical converged values, PR = (0.2646, 0.3079, 0.2138, 0.2138), after the identical 32 iterations — parallel correctness was verified against the serial baseline, not just assumed.</a:t>
            </a:r>
            <a:endParaRPr lang="en-US" sz="1200" b="0" u="none" strike="noStrike">
              <a:solidFill>
                <a:srgbClr val="000000"/>
              </a:solidFill>
              <a:effectLst/>
              <a:uFillTx/>
              <a:latin typeface="Arial"/>
            </a:endParaRPr>
          </a:p>
        </p:txBody>
      </p:sp>
      <p:sp>
        <p:nvSpPr>
          <p:cNvPr id="556"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DFC0159-6264-4516-B896-8E9853D87A4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685800" y="1143000"/>
            <a:ext cx="5485680" cy="3085560"/>
          </a:xfrm>
          <a:prstGeom prst="rect">
            <a:avLst/>
          </a:prstGeom>
          <a:ln w="0">
            <a:noFill/>
          </a:ln>
        </p:spPr>
      </p:sp>
      <p:sp>
        <p:nvSpPr>
          <p:cNvPr id="5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This slide reports the actual measured OpenMP benchmark. Walk the numbers plainly: 1 thread is the 0.044974s baseline; 2 threads drops to 0.034123s, giving the best speedup measured, 1.318x; but 4 threads rises back to 0.041428s (1.086x), 8 threads to 0.083010s (0.542x, slower than serial), and 16 threads to 0.163225s (0.276x, over 3x slower than serial). Explain why immediately: the parallel node-update phase is followed by an O(N) merge step that runs inside an OpenMP critical section - only one thread can execute it at a time, so every other thread stalls waiting its turn. Adding threads adds more waiters, not more throughput, and the synchronization and contention cost grows faster than the work saved. The headline point: more threads does not mean more speedup once a serialized merge dominates. If asked how to fix it: replace the critical-section merge with a parallel reduction so the merge itself is parallelized instead of serialized.</a:t>
            </a:r>
            <a:endParaRPr lang="en-US" sz="1200" b="0" u="none" strike="noStrike">
              <a:solidFill>
                <a:srgbClr val="000000"/>
              </a:solidFill>
              <a:effectLst/>
              <a:uFillTx/>
              <a:latin typeface="Arial"/>
            </a:endParaRPr>
          </a:p>
        </p:txBody>
      </p:sp>
      <p:sp>
        <p:nvSpPr>
          <p:cNvPr id="559"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A94525E-749B-42A6-9092-DCEEC7350CB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685800" y="1143000"/>
            <a:ext cx="5485680" cy="3085560"/>
          </a:xfrm>
          <a:prstGeom prst="rect">
            <a:avLst/>
          </a:prstGeom>
          <a:ln w="0">
            <a:noFill/>
          </a:ln>
        </p:spPr>
      </p:sp>
      <p:sp>
        <p:nvSpPr>
          <p:cNvPr id="5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Walk the pipeline left to right exactly once — graph, recurrence, iterations, convergence, OpenMP, performance — as a recap of the entire talk's structure, using the same words as the roadmap slide so it feels like the story has closed a loop. Then land on the four takeaways in order and expand each briefly: correctness first — the serial and OpenMP implementations were checked against each other and produced identical numbers on both worked examples, which matters more than any speed number; PCAM gave structure — partitioning nodes, sharing the graph and PR array, using reductions for the two shared scalars, and static mapping to threads wasn't an afterthought, it was a deliberate design process; scaling is data-dependent — runtime follows O(I·(N+E)) predictably, and the measured speedup is capped by the hardware actually available, not by any weakness in the algorithm or the parallel design; dangling nodes matter — without explicit redistribution of their rank, the total rank in the system would not stay conserved, which would quietly break the mathematical guarantees of the whole method. Close with 'thank you' and open the floor.</a:t>
            </a:r>
            <a:endParaRPr lang="en-US" sz="1200" b="0" u="none" strike="noStrike">
              <a:solidFill>
                <a:srgbClr val="000000"/>
              </a:solidFill>
              <a:effectLst/>
              <a:uFillTx/>
              <a:latin typeface="Arial"/>
            </a:endParaRPr>
          </a:p>
        </p:txBody>
      </p:sp>
      <p:sp>
        <p:nvSpPr>
          <p:cNvPr id="562"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2C1376A-941F-43DC-B0A6-E4DC5686CDC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685800" y="1143000"/>
            <a:ext cx="5485680" cy="3085560"/>
          </a:xfrm>
          <a:prstGeom prst="rect">
            <a:avLst/>
          </a:prstGeom>
          <a:ln w="0">
            <a:noFill/>
          </a:ln>
        </p:spPr>
      </p:sp>
      <p:sp>
        <p:nvSpPr>
          <p:cNvPr id="5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1200" b="0" u="none" strike="noStrike">
                <a:solidFill>
                  <a:schemeClr val="dk1"/>
                </a:solidFill>
                <a:effectLst/>
                <a:uFillTx/>
                <a:latin typeface="Calibri"/>
                <a:ea typeface="Calibri"/>
              </a:rPr>
              <a:t>Simply say thank you and invite questions. The likely questions, in rough order of probability, are: why is d specifically 0.85 (it's the empirically-chosen value from the original Google paper, balancing convergence speed against how much the random-jump term dominates); what happens if a graph has no dangling nodes at all (the dangling term is just always zero, the rest of the recurrence is unchanged); why does the parallel version need a barrier between iterations if the nodes are independent (because iteration k+1 needs iteration k's completed newPR values as its input — the independence is only within one iteration, not across iterations); and why didn't parallelism help here (repeat the one-logical-core explanation from the performance slide plainly, without hedging).</a:t>
            </a:r>
            <a:endParaRPr lang="en-US" sz="1200" b="0" u="none" strike="noStrike">
              <a:solidFill>
                <a:srgbClr val="000000"/>
              </a:solidFill>
              <a:effectLst/>
              <a:uFillTx/>
              <a:latin typeface="Arial"/>
            </a:endParaRPr>
          </a:p>
        </p:txBody>
      </p:sp>
      <p:sp>
        <p:nvSpPr>
          <p:cNvPr id="565"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706838C-C289-43BC-A4C2-786A93D9C08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0E37C00-E1E8-4776-8584-9AB50E418B37}" type="slidenum">
              <a:t>&lt;#&gt;</a:t>
            </a:fld>
          </a:p>
        </p:txBody>
      </p:sp>
      <p:sp>
        <p:nvSpPr>
          <p:cNvPr id="4" name="PlaceHolder 3"/>
          <p:cNvSpPr>
            <a:spLocks noGrp="1"/>
          </p:cNvSpPr>
          <p:nvPr>
            <p:ph type="dt" idx="1"/>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tabLst>
                <a:tab pos="0" algn="l"/>
              </a:tabLst>
              <a:defRPr lang="en-US" sz="1400" b="0" u="none" strike="noStrike">
                <a:solidFill>
                  <a:srgbClr val="000000"/>
                </a:solidFill>
                <a:effectLst/>
                <a:uFillTx/>
                <a:latin typeface="Arial"/>
              </a:defRPr>
            </a:lvl1pPr>
          </a:lstStyle>
          <a:p>
            <a:pPr indent="0" algn="l">
              <a:buNone/>
              <a:tabLst>
                <a:tab pos="0" algn="l"/>
              </a:tabLst>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dt" idx="1"/>
          </p:nvPr>
        </p:nvSpPr>
        <p:spPr>
          <a:xfrm>
            <a:off x="685800" y="9534600"/>
            <a:ext cx="3200040" cy="54720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5" name="PlaceHolder 2"/>
          <p:cNvSpPr>
            <a:spLocks noGrp="1"/>
          </p:cNvSpPr>
          <p:nvPr>
            <p:ph type="ftr" idx="2"/>
          </p:nvPr>
        </p:nvSpPr>
        <p:spPr>
          <a:xfrm>
            <a:off x="4686120" y="9534600"/>
            <a:ext cx="4342680" cy="5472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6" name="PlaceHolder 3"/>
          <p:cNvSpPr>
            <a:spLocks noGrp="1"/>
          </p:cNvSpPr>
          <p:nvPr>
            <p:ph type="sldNum" idx="3"/>
          </p:nvPr>
        </p:nvSpPr>
        <p:spPr>
          <a:xfrm>
            <a:off x="9829800" y="9534600"/>
            <a:ext cx="3200040" cy="54720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87DE2C2-2E75-4681-8F4C-7C042199B29F}" type="slidenum">
              <a:rPr lang="en-US" sz="1200" b="0" u="none" strike="noStrike">
                <a:solidFill>
                  <a:schemeClr val="dk1">
                    <a:tint val="75000"/>
                  </a:schemeClr>
                </a:solidFill>
                <a:effectLst/>
                <a:uFillTx/>
                <a:latin typeface="Calibri"/>
              </a:rPr>
              <a:t>1</a:t>
            </a:fld>
            <a:endParaRPr lang="en-US" sz="1200" b="0" u="none" strike="noStrike">
              <a:solidFill>
                <a:srgbClr val="000000"/>
              </a:solidFill>
              <a:effectLst/>
              <a:uFillTx/>
              <a:latin typeface="Times New Roman"/>
            </a:endParaRPr>
          </a:p>
        </p:txBody>
      </p:sp>
    </p:spTree>
  </p:cSld>
  <p:clrMap bg1="lt1" tx1="dk1" bg2="dk2" tx2="lt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pic>
        <p:nvPicPr>
          <p:cNvPr id="13" name="Google Shape;16;p3" descr="preencoded.png"/>
          <p:cNvPicPr/>
          <p:nvPr/>
        </p:nvPicPr>
        <p:blipFill>
          <a:blip r:embed="rId1"/>
          <a:stretch/>
        </p:blipFill>
        <p:spPr>
          <a:xfrm>
            <a:off x="0" y="0"/>
            <a:ext cx="18287280" cy="10286280"/>
          </a:xfrm>
          <a:prstGeom prst="rect">
            <a:avLst/>
          </a:prstGeom>
          <a:noFill/>
          <a:ln w="0">
            <a:noFill/>
          </a:ln>
        </p:spPr>
      </p:pic>
      <p:sp>
        <p:nvSpPr>
          <p:cNvPr id="14" name="Google Shape;17;p3"/>
          <p:cNvSpPr/>
          <p:nvPr/>
        </p:nvSpPr>
        <p:spPr>
          <a:xfrm>
            <a:off x="952560" y="2000160"/>
            <a:ext cx="9429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CSS 311 · PARALLEL AND DISTRIBUTED </a:t>
            </a:r>
            <a:r>
              <a:rPr lang="en-US" sz="1800" b="0" u="none" strike="noStrike">
                <a:solidFill>
                  <a:srgbClr val="5B6A7D"/>
                </a:solidFill>
                <a:effectLst/>
                <a:uFillTx/>
                <a:latin typeface="Courier New"/>
                <a:ea typeface="Courier New"/>
              </a:rPr>
              <a:t>COMPUTING</a:t>
            </a:r>
            <a:endParaRPr lang="en-US" sz="1800" b="0" u="none" strike="noStrike">
              <a:solidFill>
                <a:srgbClr val="FFFFFF"/>
              </a:solidFill>
              <a:effectLst/>
              <a:uFillTx/>
              <a:latin typeface="Arial"/>
            </a:endParaRPr>
          </a:p>
        </p:txBody>
      </p:sp>
      <p:sp>
        <p:nvSpPr>
          <p:cNvPr id="15" name="Google Shape;18;p3"/>
          <p:cNvSpPr/>
          <p:nvPr/>
        </p:nvSpPr>
        <p:spPr>
          <a:xfrm>
            <a:off x="952560" y="2625840"/>
            <a:ext cx="8829000" cy="2401200"/>
          </a:xfrm>
          <a:prstGeom prst="rect">
            <a:avLst/>
          </a:prstGeom>
          <a:noFill/>
          <a:ln w="0">
            <a:noFill/>
          </a:ln>
        </p:spPr>
        <p:style>
          <a:lnRef idx="0"/>
          <a:fillRef idx="0"/>
          <a:effectRef idx="0"/>
          <a:fontRef idx="minor"/>
        </p:style>
        <p:txBody>
          <a:bodyPr lIns="25560" tIns="25560" rIns="25560" bIns="25560" anchor="t">
            <a:noAutofit/>
          </a:bodyPr>
          <a:p>
            <a:pPr>
              <a:lnSpc>
                <a:spcPct val="83000"/>
              </a:lnSpc>
              <a:tabLst>
                <a:tab pos="0" algn="l"/>
              </a:tabLst>
            </a:pPr>
            <a:r>
              <a:rPr lang="en-US" sz="9900" b="1" u="none" strike="noStrike">
                <a:solidFill>
                  <a:srgbClr val="EEF2F7"/>
                </a:solidFill>
                <a:effectLst/>
                <a:uFillTx/>
                <a:latin typeface="Arial"/>
                <a:ea typeface="Arial"/>
              </a:rPr>
              <a:t>PageRan</a:t>
            </a:r>
            <a:r>
              <a:rPr lang="en-US" sz="9900" b="1" u="none" strike="noStrike">
                <a:solidFill>
                  <a:srgbClr val="EEF2F7"/>
                </a:solidFill>
                <a:effectLst/>
                <a:uFillTx/>
                <a:latin typeface="Arial"/>
                <a:ea typeface="Arial"/>
              </a:rPr>
              <a:t>k </a:t>
            </a:r>
            <a:r>
              <a:rPr lang="en-US" sz="9900" b="1" u="none" strike="noStrike">
                <a:solidFill>
                  <a:srgbClr val="EEF2F7"/>
                </a:solidFill>
                <a:effectLst/>
                <a:uFillTx/>
                <a:latin typeface="Arial"/>
                <a:ea typeface="Arial"/>
              </a:rPr>
              <a:t>Algorith</a:t>
            </a:r>
            <a:r>
              <a:rPr lang="en-US" sz="9900" b="1" u="none" strike="noStrike">
                <a:solidFill>
                  <a:srgbClr val="EEF2F7"/>
                </a:solidFill>
                <a:effectLst/>
                <a:uFillTx/>
                <a:latin typeface="Arial"/>
                <a:ea typeface="Arial"/>
              </a:rPr>
              <a:t>m</a:t>
            </a:r>
            <a:endParaRPr lang="en-US" sz="9900" b="0" u="none" strike="noStrike">
              <a:solidFill>
                <a:srgbClr val="FFFFFF"/>
              </a:solidFill>
              <a:effectLst/>
              <a:uFillTx/>
              <a:latin typeface="Arial"/>
            </a:endParaRPr>
          </a:p>
        </p:txBody>
      </p:sp>
      <p:sp>
        <p:nvSpPr>
          <p:cNvPr id="16" name="Google Shape;19;p3"/>
          <p:cNvSpPr/>
          <p:nvPr/>
        </p:nvSpPr>
        <p:spPr>
          <a:xfrm>
            <a:off x="952560" y="5313240"/>
            <a:ext cx="7651800" cy="1132920"/>
          </a:xfrm>
          <a:prstGeom prst="rect">
            <a:avLst/>
          </a:prstGeom>
          <a:noFill/>
          <a:ln w="0">
            <a:noFill/>
          </a:ln>
        </p:spPr>
        <p:style>
          <a:lnRef idx="0"/>
          <a:fillRef idx="0"/>
          <a:effectRef idx="0"/>
          <a:fontRef idx="minor"/>
        </p:style>
        <p:txBody>
          <a:bodyPr lIns="25560" tIns="25560" rIns="25560" bIns="25560" anchor="t">
            <a:noAutofit/>
          </a:bodyPr>
          <a:p>
            <a:pPr>
              <a:lnSpc>
                <a:spcPct val="111000"/>
              </a:lnSpc>
              <a:tabLst>
                <a:tab pos="0" algn="l"/>
              </a:tabLst>
            </a:pPr>
            <a:r>
              <a:rPr lang="en-US" sz="3450" b="0" u="none" strike="noStrike">
                <a:solidFill>
                  <a:srgbClr val="A9B6C6"/>
                </a:solidFill>
                <a:effectLst/>
                <a:uFillTx/>
                <a:latin typeface="Arial"/>
                <a:ea typeface="Arial"/>
              </a:rPr>
              <a:t>From Serial Recurrence to OpenMP Parallel Design</a:t>
            </a:r>
            <a:endParaRPr lang="en-US" sz="3450" b="0" u="none" strike="noStrike">
              <a:solidFill>
                <a:srgbClr val="FFFFFF"/>
              </a:solidFill>
              <a:effectLst/>
              <a:uFillTx/>
              <a:latin typeface="Arial"/>
            </a:endParaRPr>
          </a:p>
        </p:txBody>
      </p:sp>
      <p:sp>
        <p:nvSpPr>
          <p:cNvPr id="17" name="Google Shape;20;p3"/>
          <p:cNvSpPr/>
          <p:nvPr/>
        </p:nvSpPr>
        <p:spPr>
          <a:xfrm>
            <a:off x="952560" y="6846840"/>
            <a:ext cx="4952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18" name="Google Shape;21;p3"/>
          <p:cNvSpPr/>
          <p:nvPr/>
        </p:nvSpPr>
        <p:spPr>
          <a:xfrm>
            <a:off x="952560" y="7180200"/>
            <a:ext cx="942912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7A8A9C"/>
                </a:solidFill>
                <a:effectLst/>
                <a:uFillTx/>
                <a:latin typeface="Courier New"/>
                <a:ea typeface="Courier New"/>
              </a:rPr>
              <a:t>Assignment I · Module I &amp; II</a:t>
            </a:r>
            <a:endParaRPr lang="en-US" sz="1950" b="0" u="none" strike="noStrike">
              <a:solidFill>
                <a:srgbClr val="FFFFFF"/>
              </a:solidFill>
              <a:effectLst/>
              <a:uFillTx/>
              <a:latin typeface="Arial"/>
            </a:endParaRPr>
          </a:p>
        </p:txBody>
      </p:sp>
      <p:sp>
        <p:nvSpPr>
          <p:cNvPr id="19" name="Google Shape;22;p3"/>
          <p:cNvSpPr/>
          <p:nvPr/>
        </p:nvSpPr>
        <p:spPr>
          <a:xfrm>
            <a:off x="952560" y="7624080"/>
            <a:ext cx="12017520" cy="5328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E5C6D"/>
                </a:solidFill>
                <a:effectLst/>
                <a:uFillTx/>
                <a:latin typeface="Courier New"/>
                <a:ea typeface="Courier New"/>
              </a:rPr>
              <a:t>Niranjan R Soorej · 2024BCS0117 · </a:t>
            </a:r>
            <a:r>
              <a:rPr lang="en-US" sz="1800" b="0" u="none" strike="noStrike">
                <a:solidFill>
                  <a:srgbClr val="4E5C6D"/>
                </a:solidFill>
                <a:effectLst/>
                <a:uFillTx/>
                <a:latin typeface="Courier New"/>
                <a:ea typeface="Courier New"/>
              </a:rPr>
              <a:t>Mohammed Ashar Husain · 2024BCS0137</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20" name="Google Shape;28;p4"/>
          <p:cNvSpPr/>
          <p:nvPr/>
        </p:nvSpPr>
        <p:spPr>
          <a:xfrm>
            <a:off x="952560" y="62856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INTRODUCTION · THE ORIGINAL </a:t>
            </a:r>
            <a:r>
              <a:rPr lang="en-US" sz="1800" b="0" u="none" strike="noStrike">
                <a:solidFill>
                  <a:srgbClr val="5B6A7D"/>
                </a:solidFill>
                <a:effectLst/>
                <a:uFillTx/>
                <a:latin typeface="Courier New"/>
                <a:ea typeface="Courier New"/>
              </a:rPr>
              <a:t>INTUITION</a:t>
            </a:r>
            <a:endParaRPr lang="en-US" sz="1800" b="0" u="none" strike="noStrike">
              <a:solidFill>
                <a:srgbClr val="FFFFFF"/>
              </a:solidFill>
              <a:effectLst/>
              <a:uFillTx/>
              <a:latin typeface="Arial"/>
            </a:endParaRPr>
          </a:p>
        </p:txBody>
      </p:sp>
      <p:sp>
        <p:nvSpPr>
          <p:cNvPr id="21" name="Google Shape;29;p4"/>
          <p:cNvSpPr/>
          <p:nvPr/>
        </p:nvSpPr>
        <p:spPr>
          <a:xfrm>
            <a:off x="952560" y="1139760"/>
            <a:ext cx="18020520" cy="8668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5100" b="1" u="none" strike="noStrike">
                <a:solidFill>
                  <a:srgbClr val="EEF2F7"/>
                </a:solidFill>
                <a:effectLst/>
                <a:uFillTx/>
                <a:latin typeface="Arial"/>
                <a:ea typeface="Arial"/>
              </a:rPr>
              <a:t>A link is a vote </a:t>
            </a:r>
            <a:r>
              <a:rPr lang="en-US" sz="5100" b="1" u="none" strike="noStrike">
                <a:solidFill>
                  <a:srgbClr val="EEF2F7"/>
                </a:solidFill>
                <a:effectLst/>
                <a:uFillTx/>
                <a:latin typeface="Arial"/>
                <a:ea typeface="Arial"/>
              </a:rPr>
              <a:t>— but not every </a:t>
            </a:r>
            <a:r>
              <a:rPr lang="en-US" sz="5100" b="1" u="none" strike="noStrike">
                <a:solidFill>
                  <a:srgbClr val="EEF2F7"/>
                </a:solidFill>
                <a:effectLst/>
                <a:uFillTx/>
                <a:latin typeface="Arial"/>
                <a:ea typeface="Arial"/>
              </a:rPr>
              <a:t>vote is worth </a:t>
            </a:r>
            <a:r>
              <a:rPr lang="en-US" sz="5100" b="1" u="none" strike="noStrike">
                <a:solidFill>
                  <a:srgbClr val="EEF2F7"/>
                </a:solidFill>
                <a:effectLst/>
                <a:uFillTx/>
                <a:latin typeface="Arial"/>
                <a:ea typeface="Arial"/>
              </a:rPr>
              <a:t>the same</a:t>
            </a:r>
            <a:endParaRPr lang="en-US" sz="5100" b="0" u="none" strike="noStrike">
              <a:solidFill>
                <a:srgbClr val="FFFFFF"/>
              </a:solidFill>
              <a:effectLst/>
              <a:uFillTx/>
              <a:latin typeface="Arial"/>
            </a:endParaRPr>
          </a:p>
        </p:txBody>
      </p:sp>
      <p:pic>
        <p:nvPicPr>
          <p:cNvPr id="22" name="Google Shape;30;p4" descr="preencoded.png"/>
          <p:cNvPicPr/>
          <p:nvPr/>
        </p:nvPicPr>
        <p:blipFill>
          <a:blip r:embed="rId1"/>
          <a:stretch/>
        </p:blipFill>
        <p:spPr>
          <a:xfrm>
            <a:off x="952560" y="3459960"/>
            <a:ext cx="8952840" cy="5115600"/>
          </a:xfrm>
          <a:prstGeom prst="rect">
            <a:avLst/>
          </a:prstGeom>
          <a:noFill/>
          <a:ln w="0">
            <a:noFill/>
          </a:ln>
        </p:spPr>
      </p:pic>
      <p:sp>
        <p:nvSpPr>
          <p:cNvPr id="23" name="Google Shape;31;p4"/>
          <p:cNvSpPr/>
          <p:nvPr/>
        </p:nvSpPr>
        <p:spPr>
          <a:xfrm>
            <a:off x="10667880" y="2325960"/>
            <a:ext cx="53280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5B6A7D"/>
                </a:solidFill>
                <a:effectLst/>
                <a:uFillTx/>
                <a:latin typeface="Courier New"/>
                <a:ea typeface="Courier New"/>
              </a:rPr>
              <a:t>01</a:t>
            </a:r>
            <a:endParaRPr lang="en-US" sz="1870" b="0" u="none" strike="noStrike">
              <a:solidFill>
                <a:srgbClr val="FFFFFF"/>
              </a:solidFill>
              <a:effectLst/>
              <a:uFillTx/>
              <a:latin typeface="Arial"/>
            </a:endParaRPr>
          </a:p>
        </p:txBody>
      </p:sp>
      <p:sp>
        <p:nvSpPr>
          <p:cNvPr id="24" name="Google Shape;32;p4"/>
          <p:cNvSpPr/>
          <p:nvPr/>
        </p:nvSpPr>
        <p:spPr>
          <a:xfrm>
            <a:off x="11353680" y="2255040"/>
            <a:ext cx="6579000" cy="448920"/>
          </a:xfrm>
          <a:prstGeom prst="rect">
            <a:avLst/>
          </a:prstGeom>
          <a:noFill/>
          <a:ln w="0">
            <a:noFill/>
          </a:ln>
        </p:spPr>
        <p:style>
          <a:lnRef idx="0"/>
          <a:fillRef idx="0"/>
          <a:effectRef idx="0"/>
          <a:fontRef idx="minor"/>
        </p:style>
        <p:txBody>
          <a:bodyPr lIns="25560" tIns="25560" rIns="25560" bIns="25560" anchor="t">
            <a:noAutofit/>
          </a:bodyPr>
          <a:p>
            <a:pPr>
              <a:lnSpc>
                <a:spcPct val="119000"/>
              </a:lnSpc>
              <a:tabLst>
                <a:tab pos="0" algn="l"/>
              </a:tabLst>
            </a:pPr>
            <a:r>
              <a:rPr lang="en-US" sz="2400" b="0" u="none" strike="noStrike">
                <a:solidFill>
                  <a:srgbClr val="EEF2F7"/>
                </a:solidFill>
                <a:effectLst/>
                <a:uFillTx/>
                <a:latin typeface="Arial"/>
                <a:ea typeface="Arial"/>
              </a:rPr>
              <a:t>A link is a vote for another page.</a:t>
            </a:r>
            <a:endParaRPr lang="en-US" sz="2400" b="0" u="none" strike="noStrike">
              <a:solidFill>
                <a:srgbClr val="FFFFFF"/>
              </a:solidFill>
              <a:effectLst/>
              <a:uFillTx/>
              <a:latin typeface="Arial"/>
            </a:endParaRPr>
          </a:p>
        </p:txBody>
      </p:sp>
      <p:sp>
        <p:nvSpPr>
          <p:cNvPr id="25" name="Google Shape;33;p4"/>
          <p:cNvSpPr/>
          <p:nvPr/>
        </p:nvSpPr>
        <p:spPr>
          <a:xfrm>
            <a:off x="10667880" y="2889720"/>
            <a:ext cx="53280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5B6A7D"/>
                </a:solidFill>
                <a:effectLst/>
                <a:uFillTx/>
                <a:latin typeface="Courier New"/>
                <a:ea typeface="Courier New"/>
              </a:rPr>
              <a:t>02</a:t>
            </a:r>
            <a:endParaRPr lang="en-US" sz="1870" b="0" u="none" strike="noStrike">
              <a:solidFill>
                <a:srgbClr val="FFFFFF"/>
              </a:solidFill>
              <a:effectLst/>
              <a:uFillTx/>
              <a:latin typeface="Arial"/>
            </a:endParaRPr>
          </a:p>
        </p:txBody>
      </p:sp>
      <p:sp>
        <p:nvSpPr>
          <p:cNvPr id="26" name="Google Shape;34;p4"/>
          <p:cNvSpPr/>
          <p:nvPr/>
        </p:nvSpPr>
        <p:spPr>
          <a:xfrm>
            <a:off x="11353680" y="2818800"/>
            <a:ext cx="6160320" cy="860400"/>
          </a:xfrm>
          <a:prstGeom prst="rect">
            <a:avLst/>
          </a:prstGeom>
          <a:noFill/>
          <a:ln w="0">
            <a:noFill/>
          </a:ln>
        </p:spPr>
        <p:style>
          <a:lnRef idx="0"/>
          <a:fillRef idx="0"/>
          <a:effectRef idx="0"/>
          <a:fontRef idx="minor"/>
        </p:style>
        <p:txBody>
          <a:bodyPr lIns="25560" tIns="25560" rIns="25560" bIns="25560" anchor="t">
            <a:noAutofit/>
          </a:bodyPr>
          <a:p>
            <a:pPr>
              <a:lnSpc>
                <a:spcPct val="119000"/>
              </a:lnSpc>
              <a:tabLst>
                <a:tab pos="0" algn="l"/>
              </a:tabLst>
            </a:pPr>
            <a:r>
              <a:rPr lang="en-US" sz="2400" b="0" u="none" strike="noStrike">
                <a:solidFill>
                  <a:srgbClr val="EEF2F7"/>
                </a:solidFill>
                <a:effectLst/>
                <a:uFillTx/>
                <a:latin typeface="Arial"/>
                <a:ea typeface="Arial"/>
              </a:rPr>
              <a:t>A vote from an important page counts for more.</a:t>
            </a:r>
            <a:endParaRPr lang="en-US" sz="2400" b="0" u="none" strike="noStrike">
              <a:solidFill>
                <a:srgbClr val="FFFFFF"/>
              </a:solidFill>
              <a:effectLst/>
              <a:uFillTx/>
              <a:latin typeface="Arial"/>
            </a:endParaRPr>
          </a:p>
        </p:txBody>
      </p:sp>
      <p:sp>
        <p:nvSpPr>
          <p:cNvPr id="27" name="Google Shape;35;p4"/>
          <p:cNvSpPr/>
          <p:nvPr/>
        </p:nvSpPr>
        <p:spPr>
          <a:xfrm>
            <a:off x="10667880" y="3864960"/>
            <a:ext cx="53280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5B6A7D"/>
                </a:solidFill>
                <a:effectLst/>
                <a:uFillTx/>
                <a:latin typeface="Courier New"/>
                <a:ea typeface="Courier New"/>
              </a:rPr>
              <a:t>03</a:t>
            </a:r>
            <a:endParaRPr lang="en-US" sz="1870" b="0" u="none" strike="noStrike">
              <a:solidFill>
                <a:srgbClr val="FFFFFF"/>
              </a:solidFill>
              <a:effectLst/>
              <a:uFillTx/>
              <a:latin typeface="Arial"/>
            </a:endParaRPr>
          </a:p>
        </p:txBody>
      </p:sp>
      <p:sp>
        <p:nvSpPr>
          <p:cNvPr id="28" name="Google Shape;36;p4"/>
          <p:cNvSpPr/>
          <p:nvPr/>
        </p:nvSpPr>
        <p:spPr>
          <a:xfrm>
            <a:off x="11353680" y="3794400"/>
            <a:ext cx="6160320" cy="860400"/>
          </a:xfrm>
          <a:prstGeom prst="rect">
            <a:avLst/>
          </a:prstGeom>
          <a:noFill/>
          <a:ln w="0">
            <a:noFill/>
          </a:ln>
        </p:spPr>
        <p:style>
          <a:lnRef idx="0"/>
          <a:fillRef idx="0"/>
          <a:effectRef idx="0"/>
          <a:fontRef idx="minor"/>
        </p:style>
        <p:txBody>
          <a:bodyPr lIns="25560" tIns="25560" rIns="25560" bIns="25560" anchor="t">
            <a:noAutofit/>
          </a:bodyPr>
          <a:p>
            <a:pPr>
              <a:lnSpc>
                <a:spcPct val="119000"/>
              </a:lnSpc>
              <a:tabLst>
                <a:tab pos="0" algn="l"/>
              </a:tabLst>
            </a:pPr>
            <a:r>
              <a:rPr lang="en-US" sz="2400" b="0" u="none" strike="noStrike">
                <a:solidFill>
                  <a:srgbClr val="EEF2F7"/>
                </a:solidFill>
                <a:effectLst/>
                <a:uFillTx/>
                <a:latin typeface="Arial"/>
                <a:ea typeface="Arial"/>
              </a:rPr>
              <a:t>A page splits its </a:t>
            </a:r>
            <a:r>
              <a:rPr lang="en-US" sz="2400" b="0" u="none" strike="noStrike">
                <a:solidFill>
                  <a:srgbClr val="EEF2F7"/>
                </a:solidFill>
                <a:effectLst/>
                <a:uFillTx/>
                <a:latin typeface="Arial"/>
                <a:ea typeface="Arial"/>
              </a:rPr>
              <a:t>importance across </a:t>
            </a:r>
            <a:r>
              <a:rPr lang="en-US" sz="2400" b="0" u="none" strike="noStrike">
                <a:solidFill>
                  <a:srgbClr val="EEF2F7"/>
                </a:solidFill>
                <a:effectLst/>
                <a:uFillTx/>
                <a:latin typeface="Arial"/>
                <a:ea typeface="Arial"/>
              </a:rPr>
              <a:t>its out-links — so </a:t>
            </a:r>
            <a:r>
              <a:rPr lang="en-US" sz="2400" b="0" u="none" strike="noStrike">
                <a:solidFill>
                  <a:srgbClr val="EEF2F7"/>
                </a:solidFill>
                <a:effectLst/>
                <a:uFillTx/>
                <a:latin typeface="Arial"/>
                <a:ea typeface="Arial"/>
              </a:rPr>
              <a:t>voting </a:t>
            </a:r>
            <a:r>
              <a:rPr lang="en-US" sz="2400" b="0" u="none" strike="noStrike">
                <a:solidFill>
                  <a:srgbClr val="F5A524"/>
                </a:solidFill>
                <a:effectLst/>
                <a:uFillTx/>
                <a:latin typeface="Arial"/>
                <a:ea typeface="Arial"/>
              </a:rPr>
              <a:t>costs </a:t>
            </a:r>
            <a:r>
              <a:rPr lang="en-US" sz="2400" b="0" u="none" strike="noStrike">
                <a:solidFill>
                  <a:srgbClr val="EEF2F7"/>
                </a:solidFill>
                <a:effectLst/>
                <a:uFillTx/>
                <a:latin typeface="Arial"/>
                <a:ea typeface="Arial"/>
              </a:rPr>
              <a:t>rank.</a:t>
            </a:r>
            <a:endParaRPr lang="en-US" sz="2400" b="0" u="none" strike="noStrike">
              <a:solidFill>
                <a:srgbClr val="FFFFFF"/>
              </a:solidFill>
              <a:effectLst/>
              <a:uFillTx/>
              <a:latin typeface="Arial"/>
            </a:endParaRPr>
          </a:p>
        </p:txBody>
      </p:sp>
      <p:sp>
        <p:nvSpPr>
          <p:cNvPr id="29" name="Google Shape;37;p4"/>
          <p:cNvSpPr/>
          <p:nvPr/>
        </p:nvSpPr>
        <p:spPr>
          <a:xfrm>
            <a:off x="10667880" y="4865040"/>
            <a:ext cx="666684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30" name="Google Shape;38;p4"/>
          <p:cNvSpPr/>
          <p:nvPr/>
        </p:nvSpPr>
        <p:spPr>
          <a:xfrm>
            <a:off x="10667880" y="5158440"/>
            <a:ext cx="15120" cy="2613600"/>
          </a:xfrm>
          <a:prstGeom prst="rect">
            <a:avLst/>
          </a:prstGeom>
          <a:solidFill>
            <a:srgbClr val="E05252"/>
          </a:solidFill>
          <a:ln w="0">
            <a:noFill/>
          </a:ln>
        </p:spPr>
        <p:style>
          <a:lnRef idx="0"/>
          <a:fillRef idx="0"/>
          <a:effectRef idx="0"/>
          <a:fontRef idx="minor"/>
        </p:style>
        <p:txBody>
          <a:bodyPr lIns="7560" tIns="91440" rIns="7560" bIns="91440" anchor="ctr">
            <a:noAutofit/>
          </a:bodyPr>
          <a:p>
            <a:pPr/>
            <a:endParaRPr lang="en-US" sz="1400" b="0" u="none" strike="noStrike">
              <a:solidFill>
                <a:srgbClr val="FFFFFF"/>
              </a:solidFill>
              <a:effectLst/>
              <a:uFillTx/>
              <a:latin typeface="Arial"/>
            </a:endParaRPr>
          </a:p>
        </p:txBody>
      </p:sp>
      <p:sp>
        <p:nvSpPr>
          <p:cNvPr id="31" name="Google Shape;39;p4"/>
          <p:cNvSpPr/>
          <p:nvPr/>
        </p:nvSpPr>
        <p:spPr>
          <a:xfrm>
            <a:off x="10931400" y="5158440"/>
            <a:ext cx="31669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E05252"/>
                </a:solidFill>
                <a:effectLst/>
                <a:uFillTx/>
                <a:latin typeface="Courier New"/>
                <a:ea typeface="Courier New"/>
              </a:rPr>
              <a:t>THE CHEAT</a:t>
            </a:r>
            <a:endParaRPr lang="en-US" sz="1800" b="0" u="none" strike="noStrike">
              <a:solidFill>
                <a:srgbClr val="FFFFFF"/>
              </a:solidFill>
              <a:effectLst/>
              <a:uFillTx/>
              <a:latin typeface="Arial"/>
            </a:endParaRPr>
          </a:p>
        </p:txBody>
      </p:sp>
      <p:sp>
        <p:nvSpPr>
          <p:cNvPr id="32" name="Google Shape;40;p4"/>
          <p:cNvSpPr/>
          <p:nvPr/>
        </p:nvSpPr>
        <p:spPr>
          <a:xfrm>
            <a:off x="10931400" y="5612760"/>
            <a:ext cx="2965320" cy="1477440"/>
          </a:xfrm>
          <a:prstGeom prst="rect">
            <a:avLst/>
          </a:prstGeom>
          <a:noFill/>
          <a:ln w="0">
            <a:noFill/>
          </a:ln>
        </p:spPr>
        <p:style>
          <a:lnRef idx="0"/>
          <a:fillRef idx="0"/>
          <a:effectRef idx="0"/>
          <a:fontRef idx="minor"/>
        </p:style>
        <p:txBody>
          <a:bodyPr lIns="25560" tIns="25560" rIns="25560" bIns="25560" anchor="t">
            <a:noAutofit/>
          </a:bodyPr>
          <a:p>
            <a:pPr>
              <a:lnSpc>
                <a:spcPct val="124000"/>
              </a:lnSpc>
              <a:tabLst>
                <a:tab pos="0" algn="l"/>
              </a:tabLst>
            </a:pPr>
            <a:r>
              <a:rPr lang="en-US" sz="2020" b="0" u="none" strike="noStrike">
                <a:solidFill>
                  <a:srgbClr val="A9B6C6"/>
                </a:solidFill>
                <a:effectLst/>
                <a:uFillTx/>
                <a:latin typeface="Arial"/>
                <a:ea typeface="Arial"/>
              </a:rPr>
              <a:t>Build a thousand </a:t>
            </a:r>
            <a:r>
              <a:rPr lang="en-US" sz="2020" b="0" u="none" strike="noStrike">
                <a:solidFill>
                  <a:srgbClr val="A9B6C6"/>
                </a:solidFill>
                <a:effectLst/>
                <a:uFillTx/>
                <a:latin typeface="Arial"/>
                <a:ea typeface="Arial"/>
              </a:rPr>
              <a:t>pages of your own </a:t>
            </a:r>
            <a:r>
              <a:rPr lang="en-US" sz="2020" b="0" u="none" strike="noStrike">
                <a:solidFill>
                  <a:srgbClr val="A9B6C6"/>
                </a:solidFill>
                <a:effectLst/>
                <a:uFillTx/>
                <a:latin typeface="Arial"/>
                <a:ea typeface="Arial"/>
              </a:rPr>
              <a:t>and point them all </a:t>
            </a:r>
            <a:r>
              <a:rPr lang="en-US" sz="2020" b="0" u="none" strike="noStrike">
                <a:solidFill>
                  <a:srgbClr val="A9B6C6"/>
                </a:solidFill>
                <a:effectLst/>
                <a:uFillTx/>
                <a:latin typeface="Arial"/>
                <a:ea typeface="Arial"/>
              </a:rPr>
              <a:t>at yourself.</a:t>
            </a:r>
            <a:endParaRPr lang="en-US" sz="2020" b="0" u="none" strike="noStrike">
              <a:solidFill>
                <a:srgbClr val="FFFFFF"/>
              </a:solidFill>
              <a:effectLst/>
              <a:uFillTx/>
              <a:latin typeface="Arial"/>
            </a:endParaRPr>
          </a:p>
        </p:txBody>
      </p:sp>
      <p:sp>
        <p:nvSpPr>
          <p:cNvPr id="33" name="Google Shape;41;p4"/>
          <p:cNvSpPr/>
          <p:nvPr/>
        </p:nvSpPr>
        <p:spPr>
          <a:xfrm>
            <a:off x="14192280" y="5158440"/>
            <a:ext cx="15120" cy="2613600"/>
          </a:xfrm>
          <a:prstGeom prst="rect">
            <a:avLst/>
          </a:prstGeom>
          <a:solidFill>
            <a:srgbClr val="3DDC97"/>
          </a:solidFill>
          <a:ln w="0">
            <a:noFill/>
          </a:ln>
        </p:spPr>
        <p:style>
          <a:lnRef idx="0"/>
          <a:fillRef idx="0"/>
          <a:effectRef idx="0"/>
          <a:fontRef idx="minor"/>
        </p:style>
        <p:txBody>
          <a:bodyPr lIns="7560" tIns="91440" rIns="7560" bIns="91440" anchor="ctr">
            <a:noAutofit/>
          </a:bodyPr>
          <a:p>
            <a:pPr/>
            <a:endParaRPr lang="en-US" sz="1400" b="0" u="none" strike="noStrike">
              <a:solidFill>
                <a:srgbClr val="000000"/>
              </a:solidFill>
              <a:effectLst/>
              <a:uFillTx/>
              <a:latin typeface="Arial"/>
            </a:endParaRPr>
          </a:p>
        </p:txBody>
      </p:sp>
      <p:sp>
        <p:nvSpPr>
          <p:cNvPr id="34" name="Google Shape;42;p4"/>
          <p:cNvSpPr/>
          <p:nvPr/>
        </p:nvSpPr>
        <p:spPr>
          <a:xfrm>
            <a:off x="14455800" y="5158440"/>
            <a:ext cx="31669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3DDC97"/>
                </a:solidFill>
                <a:effectLst/>
                <a:uFillTx/>
                <a:latin typeface="Courier New"/>
                <a:ea typeface="Courier New"/>
              </a:rPr>
              <a:t>THE FIX</a:t>
            </a:r>
            <a:endParaRPr lang="en-US" sz="1800" b="0" u="none" strike="noStrike">
              <a:solidFill>
                <a:srgbClr val="FFFFFF"/>
              </a:solidFill>
              <a:effectLst/>
              <a:uFillTx/>
              <a:latin typeface="Arial"/>
            </a:endParaRPr>
          </a:p>
        </p:txBody>
      </p:sp>
      <p:sp>
        <p:nvSpPr>
          <p:cNvPr id="35" name="Google Shape;43;p4"/>
          <p:cNvSpPr/>
          <p:nvPr/>
        </p:nvSpPr>
        <p:spPr>
          <a:xfrm>
            <a:off x="14455800" y="5612760"/>
            <a:ext cx="2965320" cy="2197800"/>
          </a:xfrm>
          <a:prstGeom prst="rect">
            <a:avLst/>
          </a:prstGeom>
          <a:noFill/>
          <a:ln w="0">
            <a:noFill/>
          </a:ln>
        </p:spPr>
        <p:style>
          <a:lnRef idx="0"/>
          <a:fillRef idx="0"/>
          <a:effectRef idx="0"/>
          <a:fontRef idx="minor"/>
        </p:style>
        <p:txBody>
          <a:bodyPr lIns="25560" tIns="25560" rIns="25560" bIns="25560" anchor="t">
            <a:noAutofit/>
          </a:bodyPr>
          <a:p>
            <a:pPr>
              <a:lnSpc>
                <a:spcPct val="124000"/>
              </a:lnSpc>
              <a:tabLst>
                <a:tab pos="0" algn="l"/>
              </a:tabLst>
            </a:pPr>
            <a:r>
              <a:rPr lang="en-US" sz="2020" b="0" u="none" strike="noStrike">
                <a:solidFill>
                  <a:srgbClr val="A9B6C6"/>
                </a:solidFill>
                <a:effectLst/>
                <a:uFillTx/>
                <a:latin typeface="Arial"/>
                <a:ea typeface="Arial"/>
              </a:rPr>
              <a:t>Nobody links to those </a:t>
            </a:r>
            <a:r>
              <a:rPr lang="en-US" sz="2020" b="0" u="none" strike="noStrike">
                <a:solidFill>
                  <a:srgbClr val="A9B6C6"/>
                </a:solidFill>
                <a:effectLst/>
                <a:uFillTx/>
                <a:latin typeface="Arial"/>
                <a:ea typeface="Arial"/>
              </a:rPr>
              <a:t>pages, so they hold </a:t>
            </a:r>
            <a:r>
              <a:rPr lang="en-US" sz="2020" b="0" u="none" strike="noStrike">
                <a:solidFill>
                  <a:srgbClr val="A9B6C6"/>
                </a:solidFill>
                <a:effectLst/>
                <a:uFillTx/>
                <a:latin typeface="Arial"/>
                <a:ea typeface="Arial"/>
              </a:rPr>
              <a:t>almost no rank to give </a:t>
            </a:r>
            <a:r>
              <a:rPr lang="en-US" sz="2020" b="0" u="none" strike="noStrike">
                <a:solidFill>
                  <a:srgbClr val="A9B6C6"/>
                </a:solidFill>
                <a:effectLst/>
                <a:uFillTx/>
                <a:latin typeface="Arial"/>
                <a:ea typeface="Arial"/>
              </a:rPr>
              <a:t>away. A thousand empty </a:t>
            </a:r>
            <a:r>
              <a:rPr lang="en-US" sz="2020" b="0" u="none" strike="noStrike">
                <a:solidFill>
                  <a:srgbClr val="A9B6C6"/>
                </a:solidFill>
                <a:effectLst/>
                <a:uFillTx/>
                <a:latin typeface="Arial"/>
                <a:ea typeface="Arial"/>
              </a:rPr>
              <a:t>votes stay worth almost </a:t>
            </a:r>
            <a:r>
              <a:rPr lang="en-US" sz="2020" b="0" u="none" strike="noStrike">
                <a:solidFill>
                  <a:srgbClr val="A9B6C6"/>
                </a:solidFill>
                <a:effectLst/>
                <a:uFillTx/>
                <a:latin typeface="Arial"/>
                <a:ea typeface="Arial"/>
              </a:rPr>
              <a:t>nothing.</a:t>
            </a:r>
            <a:endParaRPr lang="en-US" sz="2020" b="0" u="none" strike="noStrike">
              <a:solidFill>
                <a:srgbClr val="FFFFFF"/>
              </a:solidFill>
              <a:effectLst/>
              <a:uFillTx/>
              <a:latin typeface="Arial"/>
            </a:endParaRPr>
          </a:p>
        </p:txBody>
      </p:sp>
      <p:sp>
        <p:nvSpPr>
          <p:cNvPr id="36" name="Google Shape;44;p4"/>
          <p:cNvSpPr/>
          <p:nvPr/>
        </p:nvSpPr>
        <p:spPr>
          <a:xfrm>
            <a:off x="10667880" y="8020440"/>
            <a:ext cx="6866640" cy="1841400"/>
          </a:xfrm>
          <a:prstGeom prst="rect">
            <a:avLst/>
          </a:prstGeom>
          <a:noFill/>
          <a:ln w="0">
            <a:noFill/>
          </a:ln>
        </p:spPr>
        <p:style>
          <a:lnRef idx="0"/>
          <a:fillRef idx="0"/>
          <a:effectRef idx="0"/>
          <a:fontRef idx="minor"/>
        </p:style>
        <p:txBody>
          <a:bodyPr lIns="25560" tIns="25560" rIns="25560" bIns="25560" anchor="t">
            <a:noAutofit/>
          </a:bodyPr>
          <a:p>
            <a:pPr>
              <a:lnSpc>
                <a:spcPct val="124000"/>
              </a:lnSpc>
              <a:tabLst>
                <a:tab pos="0" algn="l"/>
              </a:tabLst>
            </a:pPr>
            <a:r>
              <a:rPr lang="en-US" sz="2020" b="0" u="none" strike="noStrike">
                <a:solidFill>
                  <a:srgbClr val="DBE4EE"/>
                </a:solidFill>
                <a:effectLst/>
                <a:uFillTx/>
                <a:latin typeface="Arial"/>
                <a:ea typeface="Arial"/>
              </a:rPr>
              <a:t>And 15% of the time the surfer ignores links entirely and </a:t>
            </a:r>
            <a:r>
              <a:rPr lang="en-US" sz="2020" b="0" u="none" strike="noStrike">
                <a:solidFill>
                  <a:srgbClr val="DBE4EE"/>
                </a:solidFill>
                <a:effectLst/>
                <a:uFillTx/>
                <a:latin typeface="Arial"/>
                <a:ea typeface="Arial"/>
              </a:rPr>
              <a:t>jumps to a random page — so a closed loop of pages </a:t>
            </a:r>
            <a:r>
              <a:rPr lang="en-US" sz="2020" b="0" u="none" strike="noStrike">
                <a:solidFill>
                  <a:srgbClr val="DBE4EE"/>
                </a:solidFill>
                <a:effectLst/>
                <a:uFillTx/>
                <a:latin typeface="Arial"/>
                <a:ea typeface="Arial"/>
              </a:rPr>
              <a:t>cannot hoard rank either. That 15% is the damping </a:t>
            </a:r>
            <a:r>
              <a:rPr lang="en-US" sz="2020" b="0" u="none" strike="noStrike">
                <a:solidFill>
                  <a:srgbClr val="DBE4EE"/>
                </a:solidFill>
                <a:effectLst/>
                <a:uFillTx/>
                <a:latin typeface="Arial"/>
                <a:ea typeface="Arial"/>
              </a:rPr>
              <a:t>factor </a:t>
            </a:r>
            <a:r>
              <a:rPr lang="en-US" sz="2020" b="0" u="none" strike="noStrike">
                <a:solidFill>
                  <a:srgbClr val="F5A524"/>
                </a:solidFill>
                <a:effectLst/>
                <a:uFillTx/>
                <a:latin typeface="Courier New"/>
                <a:ea typeface="Courier New"/>
              </a:rPr>
              <a:t>d = 0.85 </a:t>
            </a:r>
            <a:r>
              <a:rPr lang="en-US" sz="2020" b="0" u="none" strike="noStrike">
                <a:solidFill>
                  <a:srgbClr val="DBE4EE"/>
                </a:solidFill>
                <a:effectLst/>
                <a:uFillTx/>
                <a:latin typeface="Arial"/>
                <a:ea typeface="Arial"/>
              </a:rPr>
              <a:t>used for the rest of this deck.</a:t>
            </a:r>
            <a:endParaRPr lang="en-US" sz="202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37" name="Google Shape;50;p5"/>
          <p:cNvSpPr/>
          <p:nvPr/>
        </p:nvSpPr>
        <p:spPr>
          <a:xfrm>
            <a:off x="952560" y="91440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ROADMAP</a:t>
            </a:r>
            <a:endParaRPr lang="en-US" sz="1800" b="0" u="none" strike="noStrike">
              <a:solidFill>
                <a:srgbClr val="FFFFFF"/>
              </a:solidFill>
              <a:effectLst/>
              <a:uFillTx/>
              <a:latin typeface="Arial"/>
            </a:endParaRPr>
          </a:p>
        </p:txBody>
      </p:sp>
      <p:sp>
        <p:nvSpPr>
          <p:cNvPr id="38" name="Google Shape;51;p5"/>
          <p:cNvSpPr/>
          <p:nvPr/>
        </p:nvSpPr>
        <p:spPr>
          <a:xfrm>
            <a:off x="952560" y="1463760"/>
            <a:ext cx="18020520" cy="8668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5100" b="1" u="none" strike="noStrike">
                <a:solidFill>
                  <a:srgbClr val="EEF2F7"/>
                </a:solidFill>
                <a:effectLst/>
                <a:uFillTx/>
                <a:latin typeface="Arial"/>
                <a:ea typeface="Arial"/>
              </a:rPr>
              <a:t>One </a:t>
            </a:r>
            <a:r>
              <a:rPr lang="en-US" sz="5100" b="1" u="none" strike="noStrike">
                <a:solidFill>
                  <a:srgbClr val="EEF2F7"/>
                </a:solidFill>
                <a:effectLst/>
                <a:uFillTx/>
                <a:latin typeface="Arial"/>
                <a:ea typeface="Arial"/>
              </a:rPr>
              <a:t>path, </a:t>
            </a:r>
            <a:r>
              <a:rPr lang="en-US" sz="5100" b="1" u="none" strike="noStrike">
                <a:solidFill>
                  <a:srgbClr val="EEF2F7"/>
                </a:solidFill>
                <a:effectLst/>
                <a:uFillTx/>
                <a:latin typeface="Arial"/>
                <a:ea typeface="Arial"/>
              </a:rPr>
              <a:t>six </a:t>
            </a:r>
            <a:r>
              <a:rPr lang="en-US" sz="5100" b="1" u="none" strike="noStrike">
                <a:solidFill>
                  <a:srgbClr val="EEF2F7"/>
                </a:solidFill>
                <a:effectLst/>
                <a:uFillTx/>
                <a:latin typeface="Arial"/>
                <a:ea typeface="Arial"/>
              </a:rPr>
              <a:t>stage</a:t>
            </a:r>
            <a:r>
              <a:rPr lang="en-US" sz="5100" b="1" u="none" strike="noStrike">
                <a:solidFill>
                  <a:srgbClr val="EEF2F7"/>
                </a:solidFill>
                <a:effectLst/>
                <a:uFillTx/>
                <a:latin typeface="Arial"/>
                <a:ea typeface="Arial"/>
              </a:rPr>
              <a:t>s</a:t>
            </a:r>
            <a:endParaRPr lang="en-US" sz="5100" b="0" u="none" strike="noStrike">
              <a:solidFill>
                <a:srgbClr val="FFFFFF"/>
              </a:solidFill>
              <a:effectLst/>
              <a:uFillTx/>
              <a:latin typeface="Arial"/>
            </a:endParaRPr>
          </a:p>
        </p:txBody>
      </p:sp>
      <p:sp>
        <p:nvSpPr>
          <p:cNvPr id="39" name="Google Shape;52;p5"/>
          <p:cNvSpPr/>
          <p:nvPr/>
        </p:nvSpPr>
        <p:spPr>
          <a:xfrm>
            <a:off x="816120" y="4443480"/>
            <a:ext cx="300276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5B6A7D"/>
                </a:solidFill>
                <a:effectLst/>
                <a:uFillTx/>
                <a:latin typeface="Courier New"/>
                <a:ea typeface="Courier New"/>
              </a:rPr>
              <a:t>01</a:t>
            </a:r>
            <a:endParaRPr lang="en-US" sz="1870" b="0" u="none" strike="noStrike">
              <a:solidFill>
                <a:srgbClr val="FFFFFF"/>
              </a:solidFill>
              <a:effectLst/>
              <a:uFillTx/>
              <a:latin typeface="Arial"/>
            </a:endParaRPr>
          </a:p>
        </p:txBody>
      </p:sp>
      <p:sp>
        <p:nvSpPr>
          <p:cNvPr id="40" name="Google Shape;53;p5"/>
          <p:cNvSpPr/>
          <p:nvPr/>
        </p:nvSpPr>
        <p:spPr>
          <a:xfrm>
            <a:off x="3546360" y="4443480"/>
            <a:ext cx="300276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5B6A7D"/>
                </a:solidFill>
                <a:effectLst/>
                <a:uFillTx/>
                <a:latin typeface="Courier New"/>
                <a:ea typeface="Courier New"/>
              </a:rPr>
              <a:t>02</a:t>
            </a:r>
            <a:endParaRPr lang="en-US" sz="1870" b="0" u="none" strike="noStrike">
              <a:solidFill>
                <a:srgbClr val="FFFFFF"/>
              </a:solidFill>
              <a:effectLst/>
              <a:uFillTx/>
              <a:latin typeface="Arial"/>
            </a:endParaRPr>
          </a:p>
        </p:txBody>
      </p:sp>
      <p:sp>
        <p:nvSpPr>
          <p:cNvPr id="41" name="Google Shape;54;p5"/>
          <p:cNvSpPr/>
          <p:nvPr/>
        </p:nvSpPr>
        <p:spPr>
          <a:xfrm>
            <a:off x="6276960" y="4443480"/>
            <a:ext cx="300276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5B6A7D"/>
                </a:solidFill>
                <a:effectLst/>
                <a:uFillTx/>
                <a:latin typeface="Courier New"/>
                <a:ea typeface="Courier New"/>
              </a:rPr>
              <a:t>03</a:t>
            </a:r>
            <a:endParaRPr lang="en-US" sz="1870" b="0" u="none" strike="noStrike">
              <a:solidFill>
                <a:srgbClr val="FFFFFF"/>
              </a:solidFill>
              <a:effectLst/>
              <a:uFillTx/>
              <a:latin typeface="Arial"/>
            </a:endParaRPr>
          </a:p>
        </p:txBody>
      </p:sp>
      <p:sp>
        <p:nvSpPr>
          <p:cNvPr id="42" name="Google Shape;55;p5"/>
          <p:cNvSpPr/>
          <p:nvPr/>
        </p:nvSpPr>
        <p:spPr>
          <a:xfrm>
            <a:off x="9007560" y="4443480"/>
            <a:ext cx="300276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5B6A7D"/>
                </a:solidFill>
                <a:effectLst/>
                <a:uFillTx/>
                <a:latin typeface="Courier New"/>
                <a:ea typeface="Courier New"/>
              </a:rPr>
              <a:t>04</a:t>
            </a:r>
            <a:endParaRPr lang="en-US" sz="1870" b="0" u="none" strike="noStrike">
              <a:solidFill>
                <a:srgbClr val="FFFFFF"/>
              </a:solidFill>
              <a:effectLst/>
              <a:uFillTx/>
              <a:latin typeface="Arial"/>
            </a:endParaRPr>
          </a:p>
        </p:txBody>
      </p:sp>
      <p:sp>
        <p:nvSpPr>
          <p:cNvPr id="43" name="Google Shape;56;p5"/>
          <p:cNvSpPr/>
          <p:nvPr/>
        </p:nvSpPr>
        <p:spPr>
          <a:xfrm>
            <a:off x="11737800" y="4443480"/>
            <a:ext cx="300276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5B6A7D"/>
                </a:solidFill>
                <a:effectLst/>
                <a:uFillTx/>
                <a:latin typeface="Courier New"/>
                <a:ea typeface="Courier New"/>
              </a:rPr>
              <a:t>05</a:t>
            </a:r>
            <a:endParaRPr lang="en-US" sz="1870" b="0" u="none" strike="noStrike">
              <a:solidFill>
                <a:srgbClr val="FFFFFF"/>
              </a:solidFill>
              <a:effectLst/>
              <a:uFillTx/>
              <a:latin typeface="Arial"/>
            </a:endParaRPr>
          </a:p>
        </p:txBody>
      </p:sp>
      <p:sp>
        <p:nvSpPr>
          <p:cNvPr id="44" name="Google Shape;57;p5"/>
          <p:cNvSpPr/>
          <p:nvPr/>
        </p:nvSpPr>
        <p:spPr>
          <a:xfrm>
            <a:off x="14468400" y="4443480"/>
            <a:ext cx="300276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F5A524"/>
                </a:solidFill>
                <a:effectLst/>
                <a:uFillTx/>
                <a:latin typeface="Courier New"/>
                <a:ea typeface="Courier New"/>
              </a:rPr>
              <a:t>06</a:t>
            </a:r>
            <a:endParaRPr lang="en-US" sz="1870" b="0" u="none" strike="noStrike">
              <a:solidFill>
                <a:srgbClr val="FFFFFF"/>
              </a:solidFill>
              <a:effectLst/>
              <a:uFillTx/>
              <a:latin typeface="Arial"/>
            </a:endParaRPr>
          </a:p>
        </p:txBody>
      </p:sp>
      <p:sp>
        <p:nvSpPr>
          <p:cNvPr id="45" name="Google Shape;58;p5"/>
          <p:cNvSpPr/>
          <p:nvPr/>
        </p:nvSpPr>
        <p:spPr>
          <a:xfrm>
            <a:off x="2316960" y="5401440"/>
            <a:ext cx="13653000" cy="27720"/>
          </a:xfrm>
          <a:prstGeom prst="rect">
            <a:avLst/>
          </a:prstGeom>
          <a:gradFill rotWithShape="0">
            <a:gsLst>
              <a:gs pos="0">
                <a:srgbClr val="2B4A75"/>
              </a:gs>
              <a:gs pos="45000">
                <a:srgbClr val="4D9FFF"/>
              </a:gs>
              <a:gs pos="100000">
                <a:srgbClr val="F5A524"/>
              </a:gs>
            </a:gsLst>
            <a:lin ang="0"/>
          </a:gradFill>
          <a:ln w="0">
            <a:noFill/>
          </a:ln>
        </p:spPr>
        <p:style>
          <a:lnRef idx="0"/>
          <a:fillRef idx="0"/>
          <a:effectRef idx="0"/>
          <a:fontRef idx="minor"/>
        </p:style>
        <p:txBody>
          <a:bodyPr lIns="90000" tIns="14040" rIns="90000" bIns="14040" anchor="ctr">
            <a:noAutofit/>
          </a:bodyPr>
          <a:p>
            <a:pPr/>
            <a:endParaRPr lang="en-US" sz="1400" b="0" u="none" strike="noStrike">
              <a:solidFill>
                <a:srgbClr val="FFFFFF"/>
              </a:solidFill>
              <a:effectLst/>
              <a:uFillTx/>
              <a:latin typeface="Arial"/>
            </a:endParaRPr>
          </a:p>
        </p:txBody>
      </p:sp>
      <p:sp>
        <p:nvSpPr>
          <p:cNvPr id="46" name="Google Shape;59;p5"/>
          <p:cNvSpPr/>
          <p:nvPr/>
        </p:nvSpPr>
        <p:spPr>
          <a:xfrm>
            <a:off x="2178000" y="5271120"/>
            <a:ext cx="278640" cy="278640"/>
          </a:xfrm>
          <a:prstGeom prst="ellipse">
            <a:avLst/>
          </a:prstGeom>
          <a:solidFill>
            <a:srgbClr val="0A0D12"/>
          </a:solidFill>
          <a:ln w="15875">
            <a:solidFill>
              <a:srgbClr val="4D9FFF"/>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47" name="Google Shape;60;p5"/>
          <p:cNvSpPr/>
          <p:nvPr/>
        </p:nvSpPr>
        <p:spPr>
          <a:xfrm>
            <a:off x="4908600" y="5271120"/>
            <a:ext cx="278640" cy="278640"/>
          </a:xfrm>
          <a:prstGeom prst="ellipse">
            <a:avLst/>
          </a:prstGeom>
          <a:solidFill>
            <a:srgbClr val="0A0D12"/>
          </a:solidFill>
          <a:ln w="15875">
            <a:solidFill>
              <a:srgbClr val="4D9FFF"/>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48" name="Google Shape;61;p5"/>
          <p:cNvSpPr/>
          <p:nvPr/>
        </p:nvSpPr>
        <p:spPr>
          <a:xfrm>
            <a:off x="7639200" y="5271120"/>
            <a:ext cx="278640" cy="278640"/>
          </a:xfrm>
          <a:prstGeom prst="ellipse">
            <a:avLst/>
          </a:prstGeom>
          <a:solidFill>
            <a:srgbClr val="0A0D12"/>
          </a:solidFill>
          <a:ln w="15875">
            <a:solidFill>
              <a:srgbClr val="4D9FFF"/>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49" name="Google Shape;62;p5"/>
          <p:cNvSpPr/>
          <p:nvPr/>
        </p:nvSpPr>
        <p:spPr>
          <a:xfrm>
            <a:off x="10369440" y="5271120"/>
            <a:ext cx="278640" cy="278640"/>
          </a:xfrm>
          <a:prstGeom prst="ellipse">
            <a:avLst/>
          </a:prstGeom>
          <a:solidFill>
            <a:srgbClr val="0A0D12"/>
          </a:solidFill>
          <a:ln w="15875">
            <a:solidFill>
              <a:srgbClr val="4D9FFF"/>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50" name="Google Shape;63;p5"/>
          <p:cNvSpPr/>
          <p:nvPr/>
        </p:nvSpPr>
        <p:spPr>
          <a:xfrm>
            <a:off x="13100040" y="5271120"/>
            <a:ext cx="278640" cy="278640"/>
          </a:xfrm>
          <a:prstGeom prst="ellipse">
            <a:avLst/>
          </a:prstGeom>
          <a:solidFill>
            <a:srgbClr val="0A0D12"/>
          </a:solidFill>
          <a:ln w="15875">
            <a:solidFill>
              <a:srgbClr val="4D9FFF"/>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51" name="Google Shape;64;p5"/>
          <p:cNvSpPr/>
          <p:nvPr/>
        </p:nvSpPr>
        <p:spPr>
          <a:xfrm>
            <a:off x="15811560" y="5252400"/>
            <a:ext cx="316800" cy="316800"/>
          </a:xfrm>
          <a:prstGeom prst="ellipse">
            <a:avLst/>
          </a:prstGeom>
          <a:solidFill>
            <a:srgbClr val="1A1408"/>
          </a:solidFill>
          <a:ln w="15875">
            <a:solidFill>
              <a:srgbClr val="F5A524"/>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52" name="Google Shape;65;p5"/>
          <p:cNvSpPr/>
          <p:nvPr/>
        </p:nvSpPr>
        <p:spPr>
          <a:xfrm>
            <a:off x="1239840" y="6064920"/>
            <a:ext cx="1917000" cy="437400"/>
          </a:xfrm>
          <a:prstGeom prst="rect">
            <a:avLst/>
          </a:prstGeom>
          <a:noFill/>
          <a:ln w="0">
            <a:noFill/>
          </a:ln>
        </p:spPr>
        <p:style>
          <a:lnRef idx="0"/>
          <a:fillRef idx="0"/>
          <a:effectRef idx="0"/>
          <a:fontRef idx="minor"/>
        </p:style>
        <p:txBody>
          <a:bodyPr lIns="25560" tIns="25560" rIns="25560" bIns="25560" anchor="t">
            <a:noAutofit/>
          </a:bodyPr>
          <a:p>
            <a:pPr algn="ctr">
              <a:lnSpc>
                <a:spcPct val="106000"/>
              </a:lnSpc>
              <a:tabLst>
                <a:tab pos="0" algn="l"/>
              </a:tabLst>
            </a:pPr>
            <a:r>
              <a:rPr lang="en-US" sz="2620" b="1" u="none" strike="noStrike">
                <a:solidFill>
                  <a:srgbClr val="EEF2F7"/>
                </a:solidFill>
                <a:effectLst/>
                <a:uFillTx/>
                <a:latin typeface="Arial"/>
                <a:ea typeface="Arial"/>
              </a:rPr>
              <a:t>Web Graph</a:t>
            </a:r>
            <a:endParaRPr lang="en-US" sz="2620" b="0" u="none" strike="noStrike">
              <a:solidFill>
                <a:srgbClr val="FFFFFF"/>
              </a:solidFill>
              <a:effectLst/>
              <a:uFillTx/>
              <a:latin typeface="Arial"/>
            </a:endParaRPr>
          </a:p>
        </p:txBody>
      </p:sp>
      <p:sp>
        <p:nvSpPr>
          <p:cNvPr id="53" name="Google Shape;66;p5"/>
          <p:cNvSpPr/>
          <p:nvPr/>
        </p:nvSpPr>
        <p:spPr>
          <a:xfrm>
            <a:off x="950400" y="6617520"/>
            <a:ext cx="2495520" cy="358920"/>
          </a:xfrm>
          <a:prstGeom prst="rect">
            <a:avLst/>
          </a:prstGeom>
          <a:noFill/>
          <a:ln w="0">
            <a:noFill/>
          </a:ln>
        </p:spPr>
        <p:style>
          <a:lnRef idx="0"/>
          <a:fillRef idx="0"/>
          <a:effectRef idx="0"/>
          <a:fontRef idx="minor"/>
        </p:style>
        <p:txBody>
          <a:bodyPr lIns="25560" tIns="25560" rIns="25560" bIns="25560" anchor="t">
            <a:noAutofit/>
          </a:bodyPr>
          <a:p>
            <a:pPr algn="ctr">
              <a:lnSpc>
                <a:spcPct val="119000"/>
              </a:lnSpc>
              <a:tabLst>
                <a:tab pos="0" algn="l"/>
              </a:tabLst>
            </a:pPr>
            <a:r>
              <a:rPr lang="en-US" sz="1870" b="0" u="none" strike="noStrike">
                <a:solidFill>
                  <a:srgbClr val="8B9AAB"/>
                </a:solidFill>
                <a:effectLst/>
                <a:uFillTx/>
                <a:latin typeface="Arial"/>
                <a:ea typeface="Arial"/>
              </a:rPr>
              <a:t>Problem &amp; objective</a:t>
            </a:r>
            <a:endParaRPr lang="en-US" sz="1870" b="0" u="none" strike="noStrike">
              <a:solidFill>
                <a:srgbClr val="FFFFFF"/>
              </a:solidFill>
              <a:effectLst/>
              <a:uFillTx/>
              <a:latin typeface="Arial"/>
            </a:endParaRPr>
          </a:p>
        </p:txBody>
      </p:sp>
      <p:sp>
        <p:nvSpPr>
          <p:cNvPr id="54" name="Google Shape;67;p5"/>
          <p:cNvSpPr/>
          <p:nvPr/>
        </p:nvSpPr>
        <p:spPr>
          <a:xfrm>
            <a:off x="3692520" y="6064920"/>
            <a:ext cx="2567880" cy="837360"/>
          </a:xfrm>
          <a:prstGeom prst="rect">
            <a:avLst/>
          </a:prstGeom>
          <a:noFill/>
          <a:ln w="0">
            <a:noFill/>
          </a:ln>
        </p:spPr>
        <p:style>
          <a:lnRef idx="0"/>
          <a:fillRef idx="0"/>
          <a:effectRef idx="0"/>
          <a:fontRef idx="minor"/>
        </p:style>
        <p:txBody>
          <a:bodyPr lIns="25560" tIns="25560" rIns="25560" bIns="25560" anchor="t">
            <a:noAutofit/>
          </a:bodyPr>
          <a:p>
            <a:pPr algn="ctr">
              <a:lnSpc>
                <a:spcPct val="106000"/>
              </a:lnSpc>
              <a:tabLst>
                <a:tab pos="0" algn="l"/>
              </a:tabLst>
            </a:pPr>
            <a:r>
              <a:rPr lang="en-US" sz="2620" b="1" u="none" strike="noStrike">
                <a:solidFill>
                  <a:srgbClr val="EEF2F7"/>
                </a:solidFill>
                <a:effectLst/>
                <a:uFillTx/>
                <a:latin typeface="Arial"/>
                <a:ea typeface="Arial"/>
              </a:rPr>
              <a:t>Rank Recurrence</a:t>
            </a:r>
            <a:endParaRPr lang="en-US" sz="2620" b="0" u="none" strike="noStrike">
              <a:solidFill>
                <a:srgbClr val="FFFFFF"/>
              </a:solidFill>
              <a:effectLst/>
              <a:uFillTx/>
              <a:latin typeface="Arial"/>
            </a:endParaRPr>
          </a:p>
        </p:txBody>
      </p:sp>
      <p:sp>
        <p:nvSpPr>
          <p:cNvPr id="55" name="Google Shape;68;p5"/>
          <p:cNvSpPr/>
          <p:nvPr/>
        </p:nvSpPr>
        <p:spPr>
          <a:xfrm>
            <a:off x="3795840" y="7017480"/>
            <a:ext cx="2361600" cy="680400"/>
          </a:xfrm>
          <a:prstGeom prst="rect">
            <a:avLst/>
          </a:prstGeom>
          <a:noFill/>
          <a:ln w="0">
            <a:noFill/>
          </a:ln>
        </p:spPr>
        <p:style>
          <a:lnRef idx="0"/>
          <a:fillRef idx="0"/>
          <a:effectRef idx="0"/>
          <a:fontRef idx="minor"/>
        </p:style>
        <p:txBody>
          <a:bodyPr lIns="25560" tIns="25560" rIns="25560" bIns="25560" anchor="t">
            <a:noAutofit/>
          </a:bodyPr>
          <a:p>
            <a:pPr algn="ctr">
              <a:lnSpc>
                <a:spcPct val="119000"/>
              </a:lnSpc>
              <a:tabLst>
                <a:tab pos="0" algn="l"/>
              </a:tabLst>
            </a:pPr>
            <a:r>
              <a:rPr lang="en-US" sz="1870" b="0" u="none" strike="noStrike">
                <a:solidFill>
                  <a:srgbClr val="8B9AAB"/>
                </a:solidFill>
                <a:effectLst/>
                <a:uFillTx/>
                <a:latin typeface="Arial"/>
                <a:ea typeface="Arial"/>
              </a:rPr>
              <a:t>Serial algorithm &amp; complexity</a:t>
            </a:r>
            <a:endParaRPr lang="en-US" sz="1870" b="0" u="none" strike="noStrike">
              <a:solidFill>
                <a:srgbClr val="FFFFFF"/>
              </a:solidFill>
              <a:effectLst/>
              <a:uFillTx/>
              <a:latin typeface="Arial"/>
            </a:endParaRPr>
          </a:p>
        </p:txBody>
      </p:sp>
      <p:sp>
        <p:nvSpPr>
          <p:cNvPr id="56" name="Google Shape;69;p5"/>
          <p:cNvSpPr/>
          <p:nvPr/>
        </p:nvSpPr>
        <p:spPr>
          <a:xfrm>
            <a:off x="6601320" y="6064920"/>
            <a:ext cx="2306160" cy="437400"/>
          </a:xfrm>
          <a:prstGeom prst="rect">
            <a:avLst/>
          </a:prstGeom>
          <a:noFill/>
          <a:ln w="0">
            <a:noFill/>
          </a:ln>
        </p:spPr>
        <p:style>
          <a:lnRef idx="0"/>
          <a:fillRef idx="0"/>
          <a:effectRef idx="0"/>
          <a:fontRef idx="minor"/>
        </p:style>
        <p:txBody>
          <a:bodyPr lIns="25560" tIns="25560" rIns="25560" bIns="25560" anchor="t">
            <a:noAutofit/>
          </a:bodyPr>
          <a:p>
            <a:pPr algn="ctr">
              <a:lnSpc>
                <a:spcPct val="106000"/>
              </a:lnSpc>
              <a:tabLst>
                <a:tab pos="0" algn="l"/>
              </a:tabLst>
            </a:pPr>
            <a:r>
              <a:rPr lang="en-US" sz="2620" b="1" u="none" strike="noStrike">
                <a:solidFill>
                  <a:srgbClr val="EEF2F7"/>
                </a:solidFill>
                <a:effectLst/>
                <a:uFillTx/>
                <a:latin typeface="Arial"/>
                <a:ea typeface="Arial"/>
              </a:rPr>
              <a:t>PCAM Design</a:t>
            </a:r>
            <a:endParaRPr lang="en-US" sz="2620" b="0" u="none" strike="noStrike">
              <a:solidFill>
                <a:srgbClr val="FFFFFF"/>
              </a:solidFill>
              <a:effectLst/>
              <a:uFillTx/>
              <a:latin typeface="Arial"/>
            </a:endParaRPr>
          </a:p>
        </p:txBody>
      </p:sp>
      <p:sp>
        <p:nvSpPr>
          <p:cNvPr id="57" name="Google Shape;70;p5"/>
          <p:cNvSpPr/>
          <p:nvPr/>
        </p:nvSpPr>
        <p:spPr>
          <a:xfrm>
            <a:off x="6573960" y="6617520"/>
            <a:ext cx="2361600" cy="680400"/>
          </a:xfrm>
          <a:prstGeom prst="rect">
            <a:avLst/>
          </a:prstGeom>
          <a:noFill/>
          <a:ln w="0">
            <a:noFill/>
          </a:ln>
        </p:spPr>
        <p:style>
          <a:lnRef idx="0"/>
          <a:fillRef idx="0"/>
          <a:effectRef idx="0"/>
          <a:fontRef idx="minor"/>
        </p:style>
        <p:txBody>
          <a:bodyPr lIns="25560" tIns="25560" rIns="25560" bIns="25560" anchor="t">
            <a:noAutofit/>
          </a:bodyPr>
          <a:p>
            <a:pPr algn="ctr">
              <a:lnSpc>
                <a:spcPct val="119000"/>
              </a:lnSpc>
              <a:tabLst>
                <a:tab pos="0" algn="l"/>
              </a:tabLst>
            </a:pPr>
            <a:r>
              <a:rPr lang="en-US" sz="1870" b="0" u="none" strike="noStrike">
                <a:solidFill>
                  <a:srgbClr val="8B9AAB"/>
                </a:solidFill>
                <a:effectLst/>
                <a:uFillTx/>
                <a:latin typeface="Arial"/>
                <a:ea typeface="Arial"/>
              </a:rPr>
              <a:t>Foster's methodology</a:t>
            </a:r>
            <a:endParaRPr lang="en-US" sz="1870" b="0" u="none" strike="noStrike">
              <a:solidFill>
                <a:srgbClr val="FFFFFF"/>
              </a:solidFill>
              <a:effectLst/>
              <a:uFillTx/>
              <a:latin typeface="Arial"/>
            </a:endParaRPr>
          </a:p>
        </p:txBody>
      </p:sp>
      <p:sp>
        <p:nvSpPr>
          <p:cNvPr id="58" name="Google Shape;71;p5"/>
          <p:cNvSpPr/>
          <p:nvPr/>
        </p:nvSpPr>
        <p:spPr>
          <a:xfrm>
            <a:off x="9676800" y="6064920"/>
            <a:ext cx="1711800" cy="437400"/>
          </a:xfrm>
          <a:prstGeom prst="rect">
            <a:avLst/>
          </a:prstGeom>
          <a:noFill/>
          <a:ln w="0">
            <a:noFill/>
          </a:ln>
        </p:spPr>
        <p:style>
          <a:lnRef idx="0"/>
          <a:fillRef idx="0"/>
          <a:effectRef idx="0"/>
          <a:fontRef idx="minor"/>
        </p:style>
        <p:txBody>
          <a:bodyPr lIns="25560" tIns="25560" rIns="25560" bIns="25560" anchor="t">
            <a:noAutofit/>
          </a:bodyPr>
          <a:p>
            <a:pPr algn="ctr">
              <a:lnSpc>
                <a:spcPct val="106000"/>
              </a:lnSpc>
              <a:tabLst>
                <a:tab pos="0" algn="l"/>
              </a:tabLst>
            </a:pPr>
            <a:r>
              <a:rPr lang="en-US" sz="2620" b="1" u="none" strike="noStrike">
                <a:solidFill>
                  <a:srgbClr val="EEF2F7"/>
                </a:solidFill>
                <a:effectLst/>
                <a:uFillTx/>
                <a:latin typeface="Arial"/>
                <a:ea typeface="Arial"/>
              </a:rPr>
              <a:t>Iterations</a:t>
            </a:r>
            <a:endParaRPr lang="en-US" sz="2620" b="0" u="none" strike="noStrike">
              <a:solidFill>
                <a:srgbClr val="FFFFFF"/>
              </a:solidFill>
              <a:effectLst/>
              <a:uFillTx/>
              <a:latin typeface="Arial"/>
            </a:endParaRPr>
          </a:p>
        </p:txBody>
      </p:sp>
      <p:sp>
        <p:nvSpPr>
          <p:cNvPr id="59" name="Google Shape;72;p5"/>
          <p:cNvSpPr/>
          <p:nvPr/>
        </p:nvSpPr>
        <p:spPr>
          <a:xfrm>
            <a:off x="9352080" y="6617520"/>
            <a:ext cx="2361600" cy="680400"/>
          </a:xfrm>
          <a:prstGeom prst="rect">
            <a:avLst/>
          </a:prstGeom>
          <a:noFill/>
          <a:ln w="0">
            <a:noFill/>
          </a:ln>
        </p:spPr>
        <p:style>
          <a:lnRef idx="0"/>
          <a:fillRef idx="0"/>
          <a:effectRef idx="0"/>
          <a:fontRef idx="minor"/>
        </p:style>
        <p:txBody>
          <a:bodyPr lIns="25560" tIns="25560" rIns="25560" bIns="25560" anchor="t">
            <a:noAutofit/>
          </a:bodyPr>
          <a:p>
            <a:pPr algn="ctr">
              <a:lnSpc>
                <a:spcPct val="119000"/>
              </a:lnSpc>
              <a:tabLst>
                <a:tab pos="0" algn="l"/>
              </a:tabLst>
            </a:pPr>
            <a:r>
              <a:rPr lang="en-US" sz="1870" b="0" u="none" strike="noStrike">
                <a:solidFill>
                  <a:srgbClr val="8B9AAB"/>
                </a:solidFill>
                <a:effectLst/>
                <a:uFillTx/>
                <a:latin typeface="Arial"/>
                <a:ea typeface="Arial"/>
              </a:rPr>
              <a:t>Two graphs, hand-traced</a:t>
            </a:r>
            <a:endParaRPr lang="en-US" sz="1870" b="0" u="none" strike="noStrike">
              <a:solidFill>
                <a:srgbClr val="FFFFFF"/>
              </a:solidFill>
              <a:effectLst/>
              <a:uFillTx/>
              <a:latin typeface="Arial"/>
            </a:endParaRPr>
          </a:p>
        </p:txBody>
      </p:sp>
      <p:sp>
        <p:nvSpPr>
          <p:cNvPr id="60" name="Google Shape;73;p5"/>
          <p:cNvSpPr/>
          <p:nvPr/>
        </p:nvSpPr>
        <p:spPr>
          <a:xfrm>
            <a:off x="12579480" y="6064920"/>
            <a:ext cx="1462320" cy="437400"/>
          </a:xfrm>
          <a:prstGeom prst="rect">
            <a:avLst/>
          </a:prstGeom>
          <a:noFill/>
          <a:ln w="0">
            <a:noFill/>
          </a:ln>
        </p:spPr>
        <p:style>
          <a:lnRef idx="0"/>
          <a:fillRef idx="0"/>
          <a:effectRef idx="0"/>
          <a:fontRef idx="minor"/>
        </p:style>
        <p:txBody>
          <a:bodyPr lIns="25560" tIns="25560" rIns="25560" bIns="25560" anchor="t">
            <a:noAutofit/>
          </a:bodyPr>
          <a:p>
            <a:pPr algn="ctr">
              <a:lnSpc>
                <a:spcPct val="106000"/>
              </a:lnSpc>
              <a:tabLst>
                <a:tab pos="0" algn="l"/>
              </a:tabLst>
            </a:pPr>
            <a:r>
              <a:rPr lang="en-US" sz="2620" b="1" u="none" strike="noStrike">
                <a:solidFill>
                  <a:srgbClr val="EEF2F7"/>
                </a:solidFill>
                <a:effectLst/>
                <a:uFillTx/>
                <a:latin typeface="Arial"/>
                <a:ea typeface="Arial"/>
              </a:rPr>
              <a:t>OpenMP</a:t>
            </a:r>
            <a:endParaRPr lang="en-US" sz="2620" b="0" u="none" strike="noStrike">
              <a:solidFill>
                <a:srgbClr val="FFFFFF"/>
              </a:solidFill>
              <a:effectLst/>
              <a:uFillTx/>
              <a:latin typeface="Arial"/>
            </a:endParaRPr>
          </a:p>
        </p:txBody>
      </p:sp>
      <p:sp>
        <p:nvSpPr>
          <p:cNvPr id="61" name="Google Shape;74;p5"/>
          <p:cNvSpPr/>
          <p:nvPr/>
        </p:nvSpPr>
        <p:spPr>
          <a:xfrm>
            <a:off x="12130200" y="6617520"/>
            <a:ext cx="2361600" cy="680400"/>
          </a:xfrm>
          <a:prstGeom prst="rect">
            <a:avLst/>
          </a:prstGeom>
          <a:noFill/>
          <a:ln w="0">
            <a:noFill/>
          </a:ln>
        </p:spPr>
        <p:style>
          <a:lnRef idx="0"/>
          <a:fillRef idx="0"/>
          <a:effectRef idx="0"/>
          <a:fontRef idx="minor"/>
        </p:style>
        <p:txBody>
          <a:bodyPr lIns="25560" tIns="25560" rIns="25560" bIns="25560" anchor="t">
            <a:noAutofit/>
          </a:bodyPr>
          <a:p>
            <a:pPr algn="ctr">
              <a:lnSpc>
                <a:spcPct val="119000"/>
              </a:lnSpc>
              <a:tabLst>
                <a:tab pos="0" algn="l"/>
              </a:tabLst>
            </a:pPr>
            <a:r>
              <a:rPr lang="en-US" sz="1870" b="0" u="none" strike="noStrike">
                <a:solidFill>
                  <a:srgbClr val="8B9AAB"/>
                </a:solidFill>
                <a:effectLst/>
                <a:uFillTx/>
                <a:latin typeface="Arial"/>
                <a:ea typeface="Arial"/>
              </a:rPr>
              <a:t>Regions, reduction &amp; sync</a:t>
            </a:r>
            <a:endParaRPr lang="en-US" sz="1870" b="0" u="none" strike="noStrike">
              <a:solidFill>
                <a:srgbClr val="FFFFFF"/>
              </a:solidFill>
              <a:effectLst/>
              <a:uFillTx/>
              <a:latin typeface="Arial"/>
            </a:endParaRPr>
          </a:p>
        </p:txBody>
      </p:sp>
      <p:sp>
        <p:nvSpPr>
          <p:cNvPr id="62" name="Google Shape;75;p5"/>
          <p:cNvSpPr/>
          <p:nvPr/>
        </p:nvSpPr>
        <p:spPr>
          <a:xfrm>
            <a:off x="14951880" y="6064920"/>
            <a:ext cx="2273760" cy="437400"/>
          </a:xfrm>
          <a:prstGeom prst="rect">
            <a:avLst/>
          </a:prstGeom>
          <a:noFill/>
          <a:ln w="0">
            <a:noFill/>
          </a:ln>
        </p:spPr>
        <p:style>
          <a:lnRef idx="0"/>
          <a:fillRef idx="0"/>
          <a:effectRef idx="0"/>
          <a:fontRef idx="minor"/>
        </p:style>
        <p:txBody>
          <a:bodyPr lIns="25560" tIns="25560" rIns="25560" bIns="25560" anchor="t">
            <a:noAutofit/>
          </a:bodyPr>
          <a:p>
            <a:pPr algn="ctr">
              <a:lnSpc>
                <a:spcPct val="106000"/>
              </a:lnSpc>
              <a:tabLst>
                <a:tab pos="0" algn="l"/>
              </a:tabLst>
            </a:pPr>
            <a:r>
              <a:rPr lang="en-US" sz="2620" b="1" u="none" strike="noStrike">
                <a:solidFill>
                  <a:srgbClr val="EEF2F7"/>
                </a:solidFill>
                <a:effectLst/>
                <a:uFillTx/>
                <a:latin typeface="Arial"/>
                <a:ea typeface="Arial"/>
              </a:rPr>
              <a:t>Performance</a:t>
            </a:r>
            <a:endParaRPr lang="en-US" sz="2620" b="0" u="none" strike="noStrike">
              <a:solidFill>
                <a:srgbClr val="FFFFFF"/>
              </a:solidFill>
              <a:effectLst/>
              <a:uFillTx/>
              <a:latin typeface="Arial"/>
            </a:endParaRPr>
          </a:p>
        </p:txBody>
      </p:sp>
      <p:sp>
        <p:nvSpPr>
          <p:cNvPr id="63" name="Google Shape;76;p5"/>
          <p:cNvSpPr/>
          <p:nvPr/>
        </p:nvSpPr>
        <p:spPr>
          <a:xfrm>
            <a:off x="14908320" y="6617520"/>
            <a:ext cx="2361600" cy="680400"/>
          </a:xfrm>
          <a:prstGeom prst="rect">
            <a:avLst/>
          </a:prstGeom>
          <a:noFill/>
          <a:ln w="0">
            <a:noFill/>
          </a:ln>
        </p:spPr>
        <p:style>
          <a:lnRef idx="0"/>
          <a:fillRef idx="0"/>
          <a:effectRef idx="0"/>
          <a:fontRef idx="minor"/>
        </p:style>
        <p:txBody>
          <a:bodyPr lIns="25560" tIns="25560" rIns="25560" bIns="25560" anchor="t">
            <a:noAutofit/>
          </a:bodyPr>
          <a:p>
            <a:pPr algn="ctr">
              <a:lnSpc>
                <a:spcPct val="119000"/>
              </a:lnSpc>
              <a:tabLst>
                <a:tab pos="0" algn="l"/>
              </a:tabLst>
            </a:pPr>
            <a:r>
              <a:rPr lang="en-US" sz="1870" b="0" u="none" strike="noStrike">
                <a:solidFill>
                  <a:srgbClr val="8B9AAB"/>
                </a:solidFill>
                <a:effectLst/>
                <a:uFillTx/>
                <a:latin typeface="Arial"/>
                <a:ea typeface="Arial"/>
              </a:rPr>
              <a:t>Timing, speedup &amp; efficiency</a:t>
            </a:r>
            <a:endParaRPr lang="en-US" sz="187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64" name="Google Shape;82;p6"/>
          <p:cNvSpPr/>
          <p:nvPr/>
        </p:nvSpPr>
        <p:spPr>
          <a:xfrm>
            <a:off x="952560" y="62856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 · Q1 — OBJECTIVE &amp; MOTIVATION</a:t>
            </a:r>
            <a:endParaRPr lang="en-US" sz="1800" b="0" u="none" strike="noStrike">
              <a:solidFill>
                <a:srgbClr val="FFFFFF"/>
              </a:solidFill>
              <a:effectLst/>
              <a:uFillTx/>
              <a:latin typeface="Arial"/>
            </a:endParaRPr>
          </a:p>
        </p:txBody>
      </p:sp>
      <p:sp>
        <p:nvSpPr>
          <p:cNvPr id="65" name="Google Shape;83;p6"/>
          <p:cNvSpPr/>
          <p:nvPr/>
        </p:nvSpPr>
        <p:spPr>
          <a:xfrm>
            <a:off x="952560" y="1139760"/>
            <a:ext cx="18020520" cy="8866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5250" b="1" u="none" strike="noStrike">
                <a:solidFill>
                  <a:srgbClr val="EEF2F7"/>
                </a:solidFill>
                <a:effectLst/>
                <a:uFillTx/>
                <a:latin typeface="Arial"/>
                <a:ea typeface="Arial"/>
              </a:rPr>
              <a:t>So… what makes a web page important?</a:t>
            </a:r>
            <a:endParaRPr lang="en-US" sz="5250" b="0" u="none" strike="noStrike">
              <a:solidFill>
                <a:srgbClr val="FFFFFF"/>
              </a:solidFill>
              <a:effectLst/>
              <a:uFillTx/>
              <a:latin typeface="Arial"/>
            </a:endParaRPr>
          </a:p>
        </p:txBody>
      </p:sp>
      <p:pic>
        <p:nvPicPr>
          <p:cNvPr id="66" name="Google Shape;84;p6" descr="preencoded.png"/>
          <p:cNvPicPr/>
          <p:nvPr/>
        </p:nvPicPr>
        <p:blipFill>
          <a:blip r:embed="rId1"/>
          <a:stretch/>
        </p:blipFill>
        <p:spPr>
          <a:xfrm>
            <a:off x="952560" y="3310920"/>
            <a:ext cx="8381160" cy="4842360"/>
          </a:xfrm>
          <a:prstGeom prst="rect">
            <a:avLst/>
          </a:prstGeom>
          <a:noFill/>
          <a:ln w="0">
            <a:noFill/>
          </a:ln>
        </p:spPr>
      </p:pic>
      <p:sp>
        <p:nvSpPr>
          <p:cNvPr id="67" name="Google Shape;85;p6"/>
          <p:cNvSpPr/>
          <p:nvPr/>
        </p:nvSpPr>
        <p:spPr>
          <a:xfrm>
            <a:off x="10001160" y="2811240"/>
            <a:ext cx="806688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HOW TO READ THIS PICTURE</a:t>
            </a:r>
            <a:endParaRPr lang="en-US" sz="1800" b="0" u="none" strike="noStrike">
              <a:solidFill>
                <a:srgbClr val="FFFFFF"/>
              </a:solidFill>
              <a:effectLst/>
              <a:uFillTx/>
              <a:latin typeface="Arial"/>
            </a:endParaRPr>
          </a:p>
        </p:txBody>
      </p:sp>
      <p:sp>
        <p:nvSpPr>
          <p:cNvPr id="68" name="Google Shape;86;p6"/>
          <p:cNvSpPr/>
          <p:nvPr/>
        </p:nvSpPr>
        <p:spPr>
          <a:xfrm>
            <a:off x="10001160" y="3402720"/>
            <a:ext cx="4946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4D9FFF"/>
                </a:solidFill>
                <a:effectLst/>
                <a:uFillTx/>
                <a:latin typeface="Courier New"/>
                <a:ea typeface="Courier New"/>
              </a:rPr>
              <a:t>01</a:t>
            </a:r>
            <a:endParaRPr lang="en-US" sz="1870" b="0" u="none" strike="noStrike">
              <a:solidFill>
                <a:srgbClr val="FFFFFF"/>
              </a:solidFill>
              <a:effectLst/>
              <a:uFillTx/>
              <a:latin typeface="Arial"/>
            </a:endParaRPr>
          </a:p>
        </p:txBody>
      </p:sp>
      <p:sp>
        <p:nvSpPr>
          <p:cNvPr id="69" name="Google Shape;87;p6"/>
          <p:cNvSpPr/>
          <p:nvPr/>
        </p:nvSpPr>
        <p:spPr>
          <a:xfrm>
            <a:off x="10630080" y="3398400"/>
            <a:ext cx="6905880" cy="68112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950" b="0" u="none" strike="noStrike">
                <a:solidFill>
                  <a:srgbClr val="EEF2F7"/>
                </a:solidFill>
                <a:effectLst/>
                <a:uFillTx/>
                <a:latin typeface="Arial"/>
                <a:ea typeface="Arial"/>
              </a:rPr>
              <a:t>Every circle is a web page. Every arrow is a link from one page to another.</a:t>
            </a:r>
            <a:endParaRPr lang="en-US" sz="1950" b="0" u="none" strike="noStrike">
              <a:solidFill>
                <a:srgbClr val="FFFFFF"/>
              </a:solidFill>
              <a:effectLst/>
              <a:uFillTx/>
              <a:latin typeface="Arial"/>
            </a:endParaRPr>
          </a:p>
        </p:txBody>
      </p:sp>
      <p:sp>
        <p:nvSpPr>
          <p:cNvPr id="70" name="Google Shape;88;p6"/>
          <p:cNvSpPr/>
          <p:nvPr/>
        </p:nvSpPr>
        <p:spPr>
          <a:xfrm>
            <a:off x="10001160" y="4179960"/>
            <a:ext cx="4946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4D9FFF"/>
                </a:solidFill>
                <a:effectLst/>
                <a:uFillTx/>
                <a:latin typeface="Courier New"/>
                <a:ea typeface="Courier New"/>
              </a:rPr>
              <a:t>02</a:t>
            </a:r>
            <a:endParaRPr lang="en-US" sz="1870" b="0" u="none" strike="noStrike">
              <a:solidFill>
                <a:srgbClr val="FFFFFF"/>
              </a:solidFill>
              <a:effectLst/>
              <a:uFillTx/>
              <a:latin typeface="Arial"/>
            </a:endParaRPr>
          </a:p>
        </p:txBody>
      </p:sp>
      <p:sp>
        <p:nvSpPr>
          <p:cNvPr id="71" name="Google Shape;89;p6"/>
          <p:cNvSpPr/>
          <p:nvPr/>
        </p:nvSpPr>
        <p:spPr>
          <a:xfrm>
            <a:off x="10630080" y="4175640"/>
            <a:ext cx="6905880" cy="68112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950" b="0" u="none" strike="noStrike">
                <a:solidFill>
                  <a:srgbClr val="EEF2F7"/>
                </a:solidFill>
                <a:effectLst/>
                <a:uFillTx/>
                <a:latin typeface="Arial"/>
                <a:ea typeface="Arial"/>
              </a:rPr>
              <a:t>Importance flows </a:t>
            </a:r>
            <a:r>
              <a:rPr lang="en-US" sz="1950" b="0" u="none" strike="noStrike">
                <a:solidFill>
                  <a:srgbClr val="F5A524"/>
                </a:solidFill>
                <a:effectLst/>
                <a:uFillTx/>
                <a:latin typeface="Arial"/>
                <a:ea typeface="Arial"/>
              </a:rPr>
              <a:t>along the arrows </a:t>
            </a:r>
            <a:r>
              <a:rPr lang="en-US" sz="1950" b="0" u="none" strike="noStrike">
                <a:solidFill>
                  <a:srgbClr val="EEF2F7"/>
                </a:solidFill>
                <a:effectLst/>
                <a:uFillTx/>
                <a:latin typeface="Arial"/>
                <a:ea typeface="Arial"/>
              </a:rPr>
              <a:t>, in the direction they point.</a:t>
            </a:r>
            <a:endParaRPr lang="en-US" sz="1950" b="0" u="none" strike="noStrike">
              <a:solidFill>
                <a:srgbClr val="FFFFFF"/>
              </a:solidFill>
              <a:effectLst/>
              <a:uFillTx/>
              <a:latin typeface="Arial"/>
            </a:endParaRPr>
          </a:p>
        </p:txBody>
      </p:sp>
      <p:sp>
        <p:nvSpPr>
          <p:cNvPr id="72" name="Google Shape;90;p6"/>
          <p:cNvSpPr/>
          <p:nvPr/>
        </p:nvSpPr>
        <p:spPr>
          <a:xfrm>
            <a:off x="10001160" y="4957200"/>
            <a:ext cx="4946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4D9FFF"/>
                </a:solidFill>
                <a:effectLst/>
                <a:uFillTx/>
                <a:latin typeface="Courier New"/>
                <a:ea typeface="Courier New"/>
              </a:rPr>
              <a:t>03</a:t>
            </a:r>
            <a:endParaRPr lang="en-US" sz="1870" b="0" u="none" strike="noStrike">
              <a:solidFill>
                <a:srgbClr val="FFFFFF"/>
              </a:solidFill>
              <a:effectLst/>
              <a:uFillTx/>
              <a:latin typeface="Arial"/>
            </a:endParaRPr>
          </a:p>
        </p:txBody>
      </p:sp>
      <p:sp>
        <p:nvSpPr>
          <p:cNvPr id="73" name="Google Shape;91;p6"/>
          <p:cNvSpPr/>
          <p:nvPr/>
        </p:nvSpPr>
        <p:spPr>
          <a:xfrm>
            <a:off x="10630080" y="4952880"/>
            <a:ext cx="6905880" cy="68112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950" b="0" u="none" strike="noStrike">
                <a:solidFill>
                  <a:srgbClr val="EEF2F7"/>
                </a:solidFill>
                <a:effectLst/>
                <a:uFillTx/>
                <a:latin typeface="Arial"/>
                <a:ea typeface="Arial"/>
              </a:rPr>
              <a:t>A page with two links out gives each one </a:t>
            </a:r>
            <a:r>
              <a:rPr lang="en-US" sz="1950" b="0" u="none" strike="noStrike">
                <a:solidFill>
                  <a:srgbClr val="F5A524"/>
                </a:solidFill>
                <a:effectLst/>
                <a:uFillTx/>
                <a:latin typeface="Arial"/>
                <a:ea typeface="Arial"/>
              </a:rPr>
              <a:t>half </a:t>
            </a:r>
            <a:r>
              <a:rPr lang="en-US" sz="1950" b="0" u="none" strike="noStrike">
                <a:solidFill>
                  <a:srgbClr val="EEF2F7"/>
                </a:solidFill>
                <a:effectLst/>
                <a:uFillTx/>
                <a:latin typeface="Arial"/>
                <a:ea typeface="Arial"/>
              </a:rPr>
              <a:t>of its own rank — a vote is not free.</a:t>
            </a:r>
            <a:endParaRPr lang="en-US" sz="1950" b="0" u="none" strike="noStrike">
              <a:solidFill>
                <a:srgbClr val="FFFFFF"/>
              </a:solidFill>
              <a:effectLst/>
              <a:uFillTx/>
              <a:latin typeface="Arial"/>
            </a:endParaRPr>
          </a:p>
        </p:txBody>
      </p:sp>
      <p:sp>
        <p:nvSpPr>
          <p:cNvPr id="74" name="Google Shape;92;p6"/>
          <p:cNvSpPr/>
          <p:nvPr/>
        </p:nvSpPr>
        <p:spPr>
          <a:xfrm>
            <a:off x="10001160" y="5734440"/>
            <a:ext cx="4946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4D9FFF"/>
                </a:solidFill>
                <a:effectLst/>
                <a:uFillTx/>
                <a:latin typeface="Courier New"/>
                <a:ea typeface="Courier New"/>
              </a:rPr>
              <a:t>04</a:t>
            </a:r>
            <a:endParaRPr lang="en-US" sz="1870" b="0" u="none" strike="noStrike">
              <a:solidFill>
                <a:srgbClr val="FFFFFF"/>
              </a:solidFill>
              <a:effectLst/>
              <a:uFillTx/>
              <a:latin typeface="Arial"/>
            </a:endParaRPr>
          </a:p>
        </p:txBody>
      </p:sp>
      <p:sp>
        <p:nvSpPr>
          <p:cNvPr id="75" name="Google Shape;93;p6"/>
          <p:cNvSpPr/>
          <p:nvPr/>
        </p:nvSpPr>
        <p:spPr>
          <a:xfrm>
            <a:off x="10630080" y="5730120"/>
            <a:ext cx="6905880" cy="68112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950" b="0" u="none" strike="noStrike">
                <a:solidFill>
                  <a:srgbClr val="EEF2F7"/>
                </a:solidFill>
                <a:effectLst/>
                <a:uFillTx/>
                <a:latin typeface="Arial"/>
                <a:ea typeface="Arial"/>
              </a:rPr>
              <a:t>Page A is large because five pages point at it. Page B has one link, from a page that is itself small.</a:t>
            </a:r>
            <a:endParaRPr lang="en-US" sz="1950" b="0" u="none" strike="noStrike">
              <a:solidFill>
                <a:srgbClr val="FFFFFF"/>
              </a:solidFill>
              <a:effectLst/>
              <a:uFillTx/>
              <a:latin typeface="Arial"/>
            </a:endParaRPr>
          </a:p>
        </p:txBody>
      </p:sp>
      <p:sp>
        <p:nvSpPr>
          <p:cNvPr id="76" name="Google Shape;94;p6"/>
          <p:cNvSpPr/>
          <p:nvPr/>
        </p:nvSpPr>
        <p:spPr>
          <a:xfrm>
            <a:off x="10001160" y="6660000"/>
            <a:ext cx="73335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77" name="Google Shape;95;p6"/>
          <p:cNvSpPr/>
          <p:nvPr/>
        </p:nvSpPr>
        <p:spPr>
          <a:xfrm>
            <a:off x="10001160" y="6879240"/>
            <a:ext cx="121860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WHAT</a:t>
            </a:r>
            <a:endParaRPr lang="en-US" sz="1800" b="0" u="none" strike="noStrike">
              <a:solidFill>
                <a:srgbClr val="FFFFFF"/>
              </a:solidFill>
              <a:effectLst/>
              <a:uFillTx/>
              <a:latin typeface="Arial"/>
            </a:endParaRPr>
          </a:p>
        </p:txBody>
      </p:sp>
      <p:sp>
        <p:nvSpPr>
          <p:cNvPr id="78" name="Google Shape;96;p6"/>
          <p:cNvSpPr/>
          <p:nvPr/>
        </p:nvSpPr>
        <p:spPr>
          <a:xfrm>
            <a:off x="11353680" y="6877440"/>
            <a:ext cx="6160320" cy="65664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870" b="0" u="none" strike="noStrike">
                <a:solidFill>
                  <a:srgbClr val="A9B6C6"/>
                </a:solidFill>
                <a:effectLst/>
                <a:uFillTx/>
                <a:latin typeface="Arial"/>
                <a:ea typeface="Arial"/>
              </a:rPr>
              <a:t>Compute the rank of every node in a directed graph.</a:t>
            </a:r>
            <a:endParaRPr lang="en-US" sz="1870" b="0" u="none" strike="noStrike">
              <a:solidFill>
                <a:srgbClr val="FFFFFF"/>
              </a:solidFill>
              <a:effectLst/>
              <a:uFillTx/>
              <a:latin typeface="Arial"/>
            </a:endParaRPr>
          </a:p>
        </p:txBody>
      </p:sp>
      <p:sp>
        <p:nvSpPr>
          <p:cNvPr id="79" name="Google Shape;97;p6"/>
          <p:cNvSpPr/>
          <p:nvPr/>
        </p:nvSpPr>
        <p:spPr>
          <a:xfrm>
            <a:off x="10001160" y="7612560"/>
            <a:ext cx="121860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WHY</a:t>
            </a:r>
            <a:endParaRPr lang="en-US" sz="1800" b="0" u="none" strike="noStrike">
              <a:solidFill>
                <a:srgbClr val="FFFFFF"/>
              </a:solidFill>
              <a:effectLst/>
              <a:uFillTx/>
              <a:latin typeface="Arial"/>
            </a:endParaRPr>
          </a:p>
        </p:txBody>
      </p:sp>
      <p:sp>
        <p:nvSpPr>
          <p:cNvPr id="80" name="Google Shape;98;p6"/>
          <p:cNvSpPr/>
          <p:nvPr/>
        </p:nvSpPr>
        <p:spPr>
          <a:xfrm>
            <a:off x="11353680" y="7610760"/>
            <a:ext cx="6160320" cy="65664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870" b="0" u="none" strike="noStrike">
                <a:solidFill>
                  <a:srgbClr val="A9B6C6"/>
                </a:solidFill>
                <a:effectLst/>
                <a:uFillTx/>
                <a:latin typeface="Arial"/>
                <a:ea typeface="Arial"/>
              </a:rPr>
              <a:t>Real graphs are huge and the ranks are recomputed many times — so parallelise it with OpenMP.</a:t>
            </a:r>
            <a:endParaRPr lang="en-US" sz="1870" b="0" u="none" strike="noStrike">
              <a:solidFill>
                <a:srgbClr val="FFFFFF"/>
              </a:solidFill>
              <a:effectLst/>
              <a:uFillTx/>
              <a:latin typeface="Arial"/>
            </a:endParaRPr>
          </a:p>
        </p:txBody>
      </p:sp>
      <p:sp>
        <p:nvSpPr>
          <p:cNvPr id="81" name="Google Shape;99;p6"/>
          <p:cNvSpPr/>
          <p:nvPr/>
        </p:nvSpPr>
        <p:spPr>
          <a:xfrm>
            <a:off x="10001160" y="8346240"/>
            <a:ext cx="121860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WHERE</a:t>
            </a:r>
            <a:endParaRPr lang="en-US" sz="1800" b="0" u="none" strike="noStrike">
              <a:solidFill>
                <a:srgbClr val="FFFFFF"/>
              </a:solidFill>
              <a:effectLst/>
              <a:uFillTx/>
              <a:latin typeface="Arial"/>
            </a:endParaRPr>
          </a:p>
        </p:txBody>
      </p:sp>
      <p:sp>
        <p:nvSpPr>
          <p:cNvPr id="82" name="Google Shape;100;p6"/>
          <p:cNvSpPr/>
          <p:nvPr/>
        </p:nvSpPr>
        <p:spPr>
          <a:xfrm>
            <a:off x="11353680" y="8344080"/>
            <a:ext cx="6579000" cy="34704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870" b="0" u="none" strike="noStrike">
                <a:solidFill>
                  <a:srgbClr val="A9B6C6"/>
                </a:solidFill>
                <a:effectLst/>
                <a:uFillTx/>
                <a:latin typeface="Arial"/>
                <a:ea typeface="Arial"/>
              </a:rPr>
              <a:t>Search ranking, citation analysis, any link structure.</a:t>
            </a:r>
            <a:endParaRPr lang="en-US" sz="1870" b="0" u="none" strike="noStrike">
              <a:solidFill>
                <a:srgbClr val="FFFFFF"/>
              </a:solidFill>
              <a:effectLst/>
              <a:uFillTx/>
              <a:latin typeface="Arial"/>
            </a:endParaRPr>
          </a:p>
        </p:txBody>
      </p:sp>
      <p:sp>
        <p:nvSpPr>
          <p:cNvPr id="83" name="Google Shape;101;p6"/>
          <p:cNvSpPr/>
          <p:nvPr/>
        </p:nvSpPr>
        <p:spPr>
          <a:xfrm>
            <a:off x="952560" y="9190080"/>
            <a:ext cx="16382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84" name="Google Shape;102;p6"/>
          <p:cNvSpPr/>
          <p:nvPr/>
        </p:nvSpPr>
        <p:spPr>
          <a:xfrm>
            <a:off x="952560" y="9407520"/>
            <a:ext cx="16873920" cy="4024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250" b="0" u="none" strike="noStrike">
                <a:solidFill>
                  <a:srgbClr val="EEF2F7"/>
                </a:solidFill>
                <a:effectLst/>
                <a:uFillTx/>
                <a:latin typeface="Arial"/>
                <a:ea typeface="Arial"/>
              </a:rPr>
              <a:t>PageRank turns link structure into a numerical measure of importance.</a:t>
            </a:r>
            <a:endParaRPr lang="en-US" sz="22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85" name="Google Shape;108;p7"/>
          <p:cNvSpPr/>
          <p:nvPr/>
        </p:nvSpPr>
        <p:spPr>
          <a:xfrm>
            <a:off x="952560" y="60948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WHY THE DAMPING FACTOR EXISTS</a:t>
            </a:r>
            <a:endParaRPr lang="en-US" sz="1800" b="0" u="none" strike="noStrike">
              <a:solidFill>
                <a:srgbClr val="FFFFFF"/>
              </a:solidFill>
              <a:effectLst/>
              <a:uFillTx/>
              <a:latin typeface="Arial"/>
            </a:endParaRPr>
          </a:p>
        </p:txBody>
      </p:sp>
      <p:sp>
        <p:nvSpPr>
          <p:cNvPr id="86" name="Google Shape;109;p7"/>
          <p:cNvSpPr/>
          <p:nvPr/>
        </p:nvSpPr>
        <p:spPr>
          <a:xfrm>
            <a:off x="952560" y="1063800"/>
            <a:ext cx="18020520" cy="7675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500" b="1" u="none" strike="noStrike">
                <a:solidFill>
                  <a:srgbClr val="EEF2F7"/>
                </a:solidFill>
                <a:effectLst/>
                <a:uFillTx/>
                <a:latin typeface="Arial"/>
                <a:ea typeface="Arial"/>
              </a:rPr>
              <a:t>Without teleportation, disconnected pages are unreachable</a:t>
            </a:r>
            <a:endParaRPr lang="en-US" sz="4500" b="0" u="none" strike="noStrike">
              <a:solidFill>
                <a:srgbClr val="FFFFFF"/>
              </a:solidFill>
              <a:effectLst/>
              <a:uFillTx/>
              <a:latin typeface="Arial"/>
            </a:endParaRPr>
          </a:p>
        </p:txBody>
      </p:sp>
      <p:pic>
        <p:nvPicPr>
          <p:cNvPr id="87" name="Google Shape;110;p7" descr="preencoded.png"/>
          <p:cNvPicPr/>
          <p:nvPr/>
        </p:nvPicPr>
        <p:blipFill>
          <a:blip r:embed="rId1"/>
          <a:stretch/>
        </p:blipFill>
        <p:spPr>
          <a:xfrm>
            <a:off x="952560" y="3492000"/>
            <a:ext cx="9524160" cy="4867560"/>
          </a:xfrm>
          <a:prstGeom prst="rect">
            <a:avLst/>
          </a:prstGeom>
          <a:noFill/>
          <a:ln w="0">
            <a:noFill/>
          </a:ln>
        </p:spPr>
      </p:pic>
      <p:sp>
        <p:nvSpPr>
          <p:cNvPr id="88" name="Google Shape;111;p7"/>
          <p:cNvSpPr/>
          <p:nvPr/>
        </p:nvSpPr>
        <p:spPr>
          <a:xfrm>
            <a:off x="11049120" y="3048120"/>
            <a:ext cx="4946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01</a:t>
            </a:r>
            <a:endParaRPr lang="en-US" sz="1800" b="0" u="none" strike="noStrike">
              <a:solidFill>
                <a:srgbClr val="FFFFFF"/>
              </a:solidFill>
              <a:effectLst/>
              <a:uFillTx/>
              <a:latin typeface="Arial"/>
            </a:endParaRPr>
          </a:p>
        </p:txBody>
      </p:sp>
      <p:sp>
        <p:nvSpPr>
          <p:cNvPr id="89" name="Google Shape;112;p7"/>
          <p:cNvSpPr/>
          <p:nvPr/>
        </p:nvSpPr>
        <p:spPr>
          <a:xfrm>
            <a:off x="11658600" y="3043800"/>
            <a:ext cx="5846400" cy="980280"/>
          </a:xfrm>
          <a:prstGeom prst="rect">
            <a:avLst/>
          </a:prstGeom>
          <a:noFill/>
          <a:ln w="0">
            <a:noFill/>
          </a:ln>
        </p:spPr>
        <p:style>
          <a:lnRef idx="0"/>
          <a:fillRef idx="0"/>
          <a:effectRef idx="0"/>
          <a:fontRef idx="minor"/>
        </p:style>
        <p:txBody>
          <a:bodyPr lIns="25560" tIns="25560" rIns="25560" bIns="25560" anchor="t">
            <a:noAutofit/>
          </a:bodyPr>
          <a:p>
            <a:pPr>
              <a:lnSpc>
                <a:spcPct val="116000"/>
              </a:lnSpc>
              <a:tabLst>
                <a:tab pos="0" algn="l"/>
              </a:tabLst>
            </a:pPr>
            <a:r>
              <a:rPr lang="en-US" sz="1870" b="0" u="none" strike="noStrike">
                <a:solidFill>
                  <a:srgbClr val="EEF2F7"/>
                </a:solidFill>
                <a:effectLst/>
                <a:uFillTx/>
                <a:latin typeface="Arial"/>
                <a:ea typeface="Arial"/>
              </a:rPr>
              <a:t>A pure link-following walk (d=1) can get permanently trapped inside whichever component it starts in.</a:t>
            </a:r>
            <a:endParaRPr lang="en-US" sz="1870" b="0" u="none" strike="noStrike">
              <a:solidFill>
                <a:srgbClr val="FFFFFF"/>
              </a:solidFill>
              <a:effectLst/>
              <a:uFillTx/>
              <a:latin typeface="Arial"/>
            </a:endParaRPr>
          </a:p>
        </p:txBody>
      </p:sp>
      <p:sp>
        <p:nvSpPr>
          <p:cNvPr id="90" name="Google Shape;113;p7"/>
          <p:cNvSpPr/>
          <p:nvPr/>
        </p:nvSpPr>
        <p:spPr>
          <a:xfrm>
            <a:off x="11049120" y="4105440"/>
            <a:ext cx="4946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02</a:t>
            </a:r>
            <a:endParaRPr lang="en-US" sz="1800" b="0" u="none" strike="noStrike">
              <a:solidFill>
                <a:srgbClr val="FFFFFF"/>
              </a:solidFill>
              <a:effectLst/>
              <a:uFillTx/>
              <a:latin typeface="Arial"/>
            </a:endParaRPr>
          </a:p>
        </p:txBody>
      </p:sp>
      <p:sp>
        <p:nvSpPr>
          <p:cNvPr id="91" name="Google Shape;114;p7"/>
          <p:cNvSpPr/>
          <p:nvPr/>
        </p:nvSpPr>
        <p:spPr>
          <a:xfrm>
            <a:off x="11658600" y="4101120"/>
            <a:ext cx="5846400" cy="980280"/>
          </a:xfrm>
          <a:prstGeom prst="rect">
            <a:avLst/>
          </a:prstGeom>
          <a:noFill/>
          <a:ln w="0">
            <a:noFill/>
          </a:ln>
        </p:spPr>
        <p:style>
          <a:lnRef idx="0"/>
          <a:fillRef idx="0"/>
          <a:effectRef idx="0"/>
          <a:fontRef idx="minor"/>
        </p:style>
        <p:txBody>
          <a:bodyPr lIns="25560" tIns="25560" rIns="25560" bIns="25560" anchor="t">
            <a:noAutofit/>
          </a:bodyPr>
          <a:p>
            <a:pPr>
              <a:lnSpc>
                <a:spcPct val="116000"/>
              </a:lnSpc>
              <a:tabLst>
                <a:tab pos="0" algn="l"/>
              </a:tabLst>
            </a:pPr>
            <a:r>
              <a:rPr lang="en-US" sz="1870" b="0" u="none" strike="noStrike">
                <a:solidFill>
                  <a:srgbClr val="EEF2F7"/>
                </a:solidFill>
                <a:effectLst/>
                <a:uFillTx/>
                <a:latin typeface="Arial"/>
                <a:ea typeface="Arial"/>
              </a:rPr>
              <a:t>A disconnected graph's transition matrix is reducible — it has no single, well-defined stationary distribution to converge to.</a:t>
            </a:r>
            <a:endParaRPr lang="en-US" sz="1870" b="0" u="none" strike="noStrike">
              <a:solidFill>
                <a:srgbClr val="FFFFFF"/>
              </a:solidFill>
              <a:effectLst/>
              <a:uFillTx/>
              <a:latin typeface="Arial"/>
            </a:endParaRPr>
          </a:p>
        </p:txBody>
      </p:sp>
      <p:sp>
        <p:nvSpPr>
          <p:cNvPr id="92" name="Google Shape;115;p7"/>
          <p:cNvSpPr/>
          <p:nvPr/>
        </p:nvSpPr>
        <p:spPr>
          <a:xfrm>
            <a:off x="11049120" y="5162760"/>
            <a:ext cx="4946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3DDC97"/>
                </a:solidFill>
                <a:effectLst/>
                <a:uFillTx/>
                <a:latin typeface="Courier New"/>
                <a:ea typeface="Courier New"/>
              </a:rPr>
              <a:t>03</a:t>
            </a:r>
            <a:endParaRPr lang="en-US" sz="1800" b="0" u="none" strike="noStrike">
              <a:solidFill>
                <a:srgbClr val="FFFFFF"/>
              </a:solidFill>
              <a:effectLst/>
              <a:uFillTx/>
              <a:latin typeface="Arial"/>
            </a:endParaRPr>
          </a:p>
        </p:txBody>
      </p:sp>
      <p:sp>
        <p:nvSpPr>
          <p:cNvPr id="93" name="Google Shape;116;p7"/>
          <p:cNvSpPr/>
          <p:nvPr/>
        </p:nvSpPr>
        <p:spPr>
          <a:xfrm>
            <a:off x="11658600" y="5158440"/>
            <a:ext cx="5846400" cy="980280"/>
          </a:xfrm>
          <a:prstGeom prst="rect">
            <a:avLst/>
          </a:prstGeom>
          <a:noFill/>
          <a:ln w="0">
            <a:noFill/>
          </a:ln>
        </p:spPr>
        <p:style>
          <a:lnRef idx="0"/>
          <a:fillRef idx="0"/>
          <a:effectRef idx="0"/>
          <a:fontRef idx="minor"/>
        </p:style>
        <p:txBody>
          <a:bodyPr lIns="25560" tIns="25560" rIns="25560" bIns="25560" anchor="t">
            <a:noAutofit/>
          </a:bodyPr>
          <a:p>
            <a:pPr>
              <a:lnSpc>
                <a:spcPct val="116000"/>
              </a:lnSpc>
              <a:tabLst>
                <a:tab pos="0" algn="l"/>
              </a:tabLst>
            </a:pPr>
            <a:r>
              <a:rPr lang="en-US" sz="1870" b="0" u="none" strike="noStrike">
                <a:solidFill>
                  <a:srgbClr val="EEF2F7"/>
                </a:solidFill>
                <a:effectLst/>
                <a:uFillTx/>
                <a:latin typeface="Arial"/>
                <a:ea typeface="Arial"/>
              </a:rPr>
              <a:t>The fix: with probability 1−d, ignore links entirely and jump to a uniformly random node anywhere in the graph.</a:t>
            </a:r>
            <a:endParaRPr lang="en-US" sz="1870" b="0" u="none" strike="noStrike">
              <a:solidFill>
                <a:srgbClr val="FFFFFF"/>
              </a:solidFill>
              <a:effectLst/>
              <a:uFillTx/>
              <a:latin typeface="Arial"/>
            </a:endParaRPr>
          </a:p>
        </p:txBody>
      </p:sp>
      <p:sp>
        <p:nvSpPr>
          <p:cNvPr id="94" name="Google Shape;117;p7"/>
          <p:cNvSpPr/>
          <p:nvPr/>
        </p:nvSpPr>
        <p:spPr>
          <a:xfrm>
            <a:off x="11049120" y="6224040"/>
            <a:ext cx="4946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3DDC97"/>
                </a:solidFill>
                <a:effectLst/>
                <a:uFillTx/>
                <a:latin typeface="Courier New"/>
                <a:ea typeface="Courier New"/>
              </a:rPr>
              <a:t>04</a:t>
            </a:r>
            <a:endParaRPr lang="en-US" sz="1800" b="0" u="none" strike="noStrike">
              <a:solidFill>
                <a:srgbClr val="FFFFFF"/>
              </a:solidFill>
              <a:effectLst/>
              <a:uFillTx/>
              <a:latin typeface="Arial"/>
            </a:endParaRPr>
          </a:p>
        </p:txBody>
      </p:sp>
      <p:sp>
        <p:nvSpPr>
          <p:cNvPr id="95" name="Google Shape;118;p7"/>
          <p:cNvSpPr/>
          <p:nvPr/>
        </p:nvSpPr>
        <p:spPr>
          <a:xfrm>
            <a:off x="11658600" y="6215760"/>
            <a:ext cx="5846400" cy="1298520"/>
          </a:xfrm>
          <a:prstGeom prst="rect">
            <a:avLst/>
          </a:prstGeom>
          <a:noFill/>
          <a:ln w="0">
            <a:noFill/>
          </a:ln>
        </p:spPr>
        <p:style>
          <a:lnRef idx="0"/>
          <a:fillRef idx="0"/>
          <a:effectRef idx="0"/>
          <a:fontRef idx="minor"/>
        </p:style>
        <p:txBody>
          <a:bodyPr lIns="25560" tIns="25560" rIns="25560" bIns="25560" anchor="t">
            <a:noAutofit/>
          </a:bodyPr>
          <a:p>
            <a:pPr>
              <a:lnSpc>
                <a:spcPct val="116000"/>
              </a:lnSpc>
              <a:tabLst>
                <a:tab pos="0" algn="l"/>
              </a:tabLst>
            </a:pPr>
            <a:r>
              <a:rPr lang="en-US" sz="1870" b="0" u="none" strike="noStrike">
                <a:solidFill>
                  <a:srgbClr val="EEF2F7"/>
                </a:solidFill>
                <a:effectLst/>
                <a:uFillTx/>
                <a:latin typeface="Arial"/>
                <a:ea typeface="Arial"/>
              </a:rPr>
              <a:t>That always-on term, </a:t>
            </a:r>
            <a:r>
              <a:rPr lang="en-US" sz="1870" b="0" u="none" strike="noStrike">
                <a:solidFill>
                  <a:srgbClr val="F5A524"/>
                </a:solidFill>
                <a:effectLst/>
                <a:uFillTx/>
                <a:latin typeface="Courier New"/>
                <a:ea typeface="Courier New"/>
              </a:rPr>
              <a:t>(1−d)/N </a:t>
            </a:r>
            <a:r>
              <a:rPr lang="en-US" sz="1870" b="0" u="none" strike="noStrike">
                <a:solidFill>
                  <a:srgbClr val="EEF2F7"/>
                </a:solidFill>
                <a:effectLst/>
                <a:uFillTx/>
                <a:latin typeface="Arial"/>
                <a:ea typeface="Arial"/>
              </a:rPr>
              <a:t>, is added identically to every node — it stitches disconnected clusters into one chain and guarantees convergence.</a:t>
            </a:r>
            <a:endParaRPr lang="en-US" sz="1870" b="0" u="none" strike="noStrike">
              <a:solidFill>
                <a:srgbClr val="FFFFFF"/>
              </a:solidFill>
              <a:effectLst/>
              <a:uFillTx/>
              <a:latin typeface="Arial"/>
            </a:endParaRPr>
          </a:p>
        </p:txBody>
      </p:sp>
      <p:sp>
        <p:nvSpPr>
          <p:cNvPr id="96" name="Google Shape;119;p7"/>
          <p:cNvSpPr/>
          <p:nvPr/>
        </p:nvSpPr>
        <p:spPr>
          <a:xfrm>
            <a:off x="11049120" y="7648560"/>
            <a:ext cx="62859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97" name="Google Shape;120;p7"/>
          <p:cNvSpPr/>
          <p:nvPr/>
        </p:nvSpPr>
        <p:spPr>
          <a:xfrm>
            <a:off x="11049120" y="7827840"/>
            <a:ext cx="6474240" cy="1018080"/>
          </a:xfrm>
          <a:prstGeom prst="rect">
            <a:avLst/>
          </a:prstGeom>
          <a:noFill/>
          <a:ln w="0">
            <a:noFill/>
          </a:ln>
        </p:spPr>
        <p:style>
          <a:lnRef idx="0"/>
          <a:fillRef idx="0"/>
          <a:effectRef idx="0"/>
          <a:fontRef idx="minor"/>
        </p:style>
        <p:txBody>
          <a:bodyPr lIns="25560" tIns="25560" rIns="25560" bIns="25560" anchor="t">
            <a:noAutofit/>
          </a:bodyPr>
          <a:p>
            <a:pPr>
              <a:lnSpc>
                <a:spcPct val="116000"/>
              </a:lnSpc>
              <a:tabLst>
                <a:tab pos="0" algn="l"/>
              </a:tabLst>
            </a:pPr>
            <a:r>
              <a:rPr lang="en-US" sz="1950" b="0" u="none" strike="noStrike">
                <a:solidFill>
                  <a:srgbClr val="DBE4EE"/>
                </a:solidFill>
                <a:effectLst/>
                <a:uFillTx/>
                <a:latin typeface="Arial"/>
                <a:ea typeface="Arial"/>
              </a:rPr>
              <a:t>Damping isn't only for dangling nodes — it's what makes PageRank well-defined on </a:t>
            </a:r>
            <a:r>
              <a:rPr lang="en-US" sz="1950" b="0" u="none" strike="noStrike">
                <a:solidFill>
                  <a:srgbClr val="F5A524"/>
                </a:solidFill>
                <a:effectLst/>
                <a:uFillTx/>
                <a:latin typeface="Arial"/>
                <a:ea typeface="Arial"/>
              </a:rPr>
              <a:t>any </a:t>
            </a:r>
            <a:r>
              <a:rPr lang="en-US" sz="1950" b="0" u="none" strike="noStrike">
                <a:solidFill>
                  <a:srgbClr val="DBE4EE"/>
                </a:solidFill>
                <a:effectLst/>
                <a:uFillTx/>
                <a:latin typeface="Arial"/>
                <a:ea typeface="Arial"/>
              </a:rPr>
              <a:t>graph, connected or not.</a:t>
            </a:r>
            <a:endParaRPr lang="en-US" sz="1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98" name="Google Shape;126;p8"/>
          <p:cNvSpPr/>
          <p:nvPr/>
        </p:nvSpPr>
        <p:spPr>
          <a:xfrm>
            <a:off x="952560" y="80028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 · Q2 — SERIAL ALGORITHM</a:t>
            </a:r>
            <a:endParaRPr lang="en-US" sz="1800" b="0" u="none" strike="noStrike">
              <a:solidFill>
                <a:srgbClr val="FFFFFF"/>
              </a:solidFill>
              <a:effectLst/>
              <a:uFillTx/>
              <a:latin typeface="Arial"/>
            </a:endParaRPr>
          </a:p>
        </p:txBody>
      </p:sp>
      <p:sp>
        <p:nvSpPr>
          <p:cNvPr id="99" name="Google Shape;127;p8"/>
          <p:cNvSpPr/>
          <p:nvPr/>
        </p:nvSpPr>
        <p:spPr>
          <a:xfrm>
            <a:off x="952560" y="1292400"/>
            <a:ext cx="18020520" cy="8391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950" b="1" u="none" strike="noStrike">
                <a:solidFill>
                  <a:srgbClr val="EEF2F7"/>
                </a:solidFill>
                <a:effectLst/>
                <a:uFillTx/>
                <a:latin typeface="Arial"/>
                <a:ea typeface="Arial"/>
              </a:rPr>
              <a:t>The core idea: rank flows through links</a:t>
            </a:r>
            <a:endParaRPr lang="en-US" sz="4950" b="0" u="none" strike="noStrike">
              <a:solidFill>
                <a:srgbClr val="FFFFFF"/>
              </a:solidFill>
              <a:effectLst/>
              <a:uFillTx/>
              <a:latin typeface="Arial"/>
            </a:endParaRPr>
          </a:p>
        </p:txBody>
      </p:sp>
      <p:pic>
        <p:nvPicPr>
          <p:cNvPr id="100" name="Google Shape;128;p8" descr="preencoded.png"/>
          <p:cNvPicPr/>
          <p:nvPr/>
        </p:nvPicPr>
        <p:blipFill>
          <a:blip r:embed="rId1"/>
          <a:stretch/>
        </p:blipFill>
        <p:spPr>
          <a:xfrm>
            <a:off x="952560" y="2436840"/>
            <a:ext cx="12286440" cy="2201760"/>
          </a:xfrm>
          <a:prstGeom prst="rect">
            <a:avLst/>
          </a:prstGeom>
          <a:noFill/>
          <a:ln w="0">
            <a:noFill/>
          </a:ln>
        </p:spPr>
      </p:pic>
      <p:sp>
        <p:nvSpPr>
          <p:cNvPr id="101" name="Google Shape;129;p8"/>
          <p:cNvSpPr/>
          <p:nvPr/>
        </p:nvSpPr>
        <p:spPr>
          <a:xfrm>
            <a:off x="13906440" y="2831040"/>
            <a:ext cx="2439720" cy="1347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7800" b="1" u="none" strike="noStrike">
                <a:solidFill>
                  <a:srgbClr val="F5A524"/>
                </a:solidFill>
                <a:effectLst/>
                <a:uFillTx/>
                <a:latin typeface="Courier New"/>
                <a:ea typeface="Courier New"/>
              </a:rPr>
              <a:t>0.85</a:t>
            </a:r>
            <a:endParaRPr lang="en-US" sz="7800" b="0" u="none" strike="noStrike">
              <a:solidFill>
                <a:srgbClr val="FFFFFF"/>
              </a:solidFill>
              <a:effectLst/>
              <a:uFillTx/>
              <a:latin typeface="Arial"/>
            </a:endParaRPr>
          </a:p>
        </p:txBody>
      </p:sp>
      <p:sp>
        <p:nvSpPr>
          <p:cNvPr id="102" name="Google Shape;130;p8"/>
          <p:cNvSpPr/>
          <p:nvPr/>
        </p:nvSpPr>
        <p:spPr>
          <a:xfrm>
            <a:off x="16315560" y="3597120"/>
            <a:ext cx="1121400" cy="68544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950" b="0" u="none" strike="noStrike">
                <a:solidFill>
                  <a:srgbClr val="8B9AAB"/>
                </a:solidFill>
                <a:effectLst/>
                <a:uFillTx/>
                <a:latin typeface="Arial"/>
                <a:ea typeface="Arial"/>
              </a:rPr>
              <a:t>damping factor </a:t>
            </a:r>
            <a:r>
              <a:rPr lang="en-US" sz="1950" b="0" u="none" strike="noStrike">
                <a:solidFill>
                  <a:srgbClr val="F5A524"/>
                </a:solidFill>
                <a:effectLst/>
                <a:uFillTx/>
                <a:latin typeface="Courier New"/>
                <a:ea typeface="Courier New"/>
              </a:rPr>
              <a:t>d</a:t>
            </a:r>
            <a:endParaRPr lang="en-US" sz="1950" b="0" u="none" strike="noStrike">
              <a:solidFill>
                <a:srgbClr val="FFFFFF"/>
              </a:solidFill>
              <a:effectLst/>
              <a:uFillTx/>
              <a:latin typeface="Arial"/>
            </a:endParaRPr>
          </a:p>
        </p:txBody>
      </p:sp>
      <p:sp>
        <p:nvSpPr>
          <p:cNvPr id="103" name="Google Shape;131;p8"/>
          <p:cNvSpPr/>
          <p:nvPr/>
        </p:nvSpPr>
        <p:spPr>
          <a:xfrm>
            <a:off x="952560" y="5058360"/>
            <a:ext cx="15120" cy="4503960"/>
          </a:xfrm>
          <a:prstGeom prst="rect">
            <a:avLst/>
          </a:prstGeom>
          <a:solidFill>
            <a:srgbClr val="4D9FFF"/>
          </a:solidFill>
          <a:ln w="0">
            <a:noFill/>
          </a:ln>
        </p:spPr>
        <p:style>
          <a:lnRef idx="0"/>
          <a:fillRef idx="0"/>
          <a:effectRef idx="0"/>
          <a:fontRef idx="minor"/>
        </p:style>
        <p:txBody>
          <a:bodyPr lIns="7560" tIns="91440" rIns="7560" bIns="91440" anchor="ctr">
            <a:noAutofit/>
          </a:bodyPr>
          <a:p>
            <a:pPr/>
            <a:endParaRPr lang="en-US" sz="1400" b="0" u="none" strike="noStrike">
              <a:solidFill>
                <a:srgbClr val="FFFFFF"/>
              </a:solidFill>
              <a:effectLst/>
              <a:uFillTx/>
              <a:latin typeface="Arial"/>
            </a:endParaRPr>
          </a:p>
        </p:txBody>
      </p:sp>
      <p:sp>
        <p:nvSpPr>
          <p:cNvPr id="104" name="Google Shape;132;p8"/>
          <p:cNvSpPr/>
          <p:nvPr/>
        </p:nvSpPr>
        <p:spPr>
          <a:xfrm>
            <a:off x="1311120" y="5058360"/>
            <a:ext cx="862308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C8D3E0"/>
                </a:solidFill>
                <a:effectLst/>
                <a:uFillTx/>
                <a:latin typeface="Courier New"/>
                <a:ea typeface="Courier New"/>
              </a:rPr>
              <a:t>Initialize PR[i] = 1/N</a:t>
            </a:r>
            <a:endParaRPr lang="en-US" sz="1950" b="0" u="none" strike="noStrike">
              <a:solidFill>
                <a:srgbClr val="FFFFFF"/>
              </a:solidFill>
              <a:effectLst/>
              <a:uFillTx/>
              <a:latin typeface="Arial"/>
            </a:endParaRPr>
          </a:p>
        </p:txBody>
      </p:sp>
      <p:sp>
        <p:nvSpPr>
          <p:cNvPr id="105" name="Google Shape;133;p8"/>
          <p:cNvSpPr/>
          <p:nvPr/>
        </p:nvSpPr>
        <p:spPr>
          <a:xfrm>
            <a:off x="1311120" y="5459400"/>
            <a:ext cx="862308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C8D3E0"/>
                </a:solidFill>
                <a:effectLst/>
                <a:uFillTx/>
                <a:latin typeface="Courier New"/>
                <a:ea typeface="Courier New"/>
              </a:rPr>
              <a:t>repeat</a:t>
            </a:r>
            <a:endParaRPr lang="en-US" sz="1950" b="0" u="none" strike="noStrike">
              <a:solidFill>
                <a:srgbClr val="FFFFFF"/>
              </a:solidFill>
              <a:effectLst/>
              <a:uFillTx/>
              <a:latin typeface="Arial"/>
            </a:endParaRPr>
          </a:p>
        </p:txBody>
      </p:sp>
      <p:sp>
        <p:nvSpPr>
          <p:cNvPr id="106" name="Google Shape;134;p8"/>
          <p:cNvSpPr/>
          <p:nvPr/>
        </p:nvSpPr>
        <p:spPr>
          <a:xfrm>
            <a:off x="1596960" y="5860800"/>
            <a:ext cx="833724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E05252"/>
                </a:solidFill>
                <a:effectLst/>
                <a:uFillTx/>
                <a:latin typeface="Courier New"/>
                <a:ea typeface="Courier New"/>
              </a:rPr>
              <a:t>dangling </a:t>
            </a:r>
            <a:r>
              <a:rPr lang="en-US" sz="1950" b="0" u="none" strike="noStrike">
                <a:solidFill>
                  <a:srgbClr val="C8D3E0"/>
                </a:solidFill>
                <a:effectLst/>
                <a:uFillTx/>
                <a:latin typeface="Courier New"/>
                <a:ea typeface="Courier New"/>
              </a:rPr>
              <a:t>= sum PR[j], for outdeg(j) = 0</a:t>
            </a:r>
            <a:endParaRPr lang="en-US" sz="1950" b="0" u="none" strike="noStrike">
              <a:solidFill>
                <a:srgbClr val="FFFFFF"/>
              </a:solidFill>
              <a:effectLst/>
              <a:uFillTx/>
              <a:latin typeface="Arial"/>
            </a:endParaRPr>
          </a:p>
        </p:txBody>
      </p:sp>
      <p:sp>
        <p:nvSpPr>
          <p:cNvPr id="107" name="Google Shape;135;p8"/>
          <p:cNvSpPr/>
          <p:nvPr/>
        </p:nvSpPr>
        <p:spPr>
          <a:xfrm>
            <a:off x="1596960" y="6261840"/>
            <a:ext cx="833724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C8D3E0"/>
                </a:solidFill>
                <a:effectLst/>
                <a:uFillTx/>
                <a:latin typeface="Courier New"/>
                <a:ea typeface="Courier New"/>
              </a:rPr>
              <a:t>for each node i:</a:t>
            </a:r>
            <a:endParaRPr lang="en-US" sz="1950" b="0" u="none" strike="noStrike">
              <a:solidFill>
                <a:srgbClr val="FFFFFF"/>
              </a:solidFill>
              <a:effectLst/>
              <a:uFillTx/>
              <a:latin typeface="Arial"/>
            </a:endParaRPr>
          </a:p>
        </p:txBody>
      </p:sp>
      <p:sp>
        <p:nvSpPr>
          <p:cNvPr id="108" name="Google Shape;136;p8"/>
          <p:cNvSpPr/>
          <p:nvPr/>
        </p:nvSpPr>
        <p:spPr>
          <a:xfrm>
            <a:off x="1882800" y="6662880"/>
            <a:ext cx="805140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4D9FFF"/>
                </a:solidFill>
                <a:effectLst/>
                <a:uFillTx/>
                <a:latin typeface="Courier New"/>
                <a:ea typeface="Courier New"/>
              </a:rPr>
              <a:t>newPR[i] </a:t>
            </a:r>
            <a:r>
              <a:rPr lang="en-US" sz="1950" b="0" u="none" strike="noStrike">
                <a:solidFill>
                  <a:srgbClr val="C8D3E0"/>
                </a:solidFill>
                <a:effectLst/>
                <a:uFillTx/>
                <a:latin typeface="Courier New"/>
                <a:ea typeface="Courier New"/>
              </a:rPr>
              <a:t>= (1-d)/N + d*</a:t>
            </a:r>
            <a:r>
              <a:rPr lang="en-US" sz="1950" b="0" u="none" strike="noStrike">
                <a:solidFill>
                  <a:srgbClr val="E05252"/>
                </a:solidFill>
                <a:effectLst/>
                <a:uFillTx/>
                <a:latin typeface="Courier New"/>
                <a:ea typeface="Courier New"/>
              </a:rPr>
              <a:t>dangling</a:t>
            </a:r>
            <a:r>
              <a:rPr lang="en-US" sz="1950" b="0" u="none" strike="noStrike">
                <a:solidFill>
                  <a:srgbClr val="C8D3E0"/>
                </a:solidFill>
                <a:effectLst/>
                <a:uFillTx/>
                <a:latin typeface="Courier New"/>
                <a:ea typeface="Courier New"/>
              </a:rPr>
              <a:t>/N</a:t>
            </a:r>
            <a:endParaRPr lang="en-US" sz="1950" b="0" u="none" strike="noStrike">
              <a:solidFill>
                <a:srgbClr val="FFFFFF"/>
              </a:solidFill>
              <a:effectLst/>
              <a:uFillTx/>
              <a:latin typeface="Arial"/>
            </a:endParaRPr>
          </a:p>
        </p:txBody>
      </p:sp>
      <p:sp>
        <p:nvSpPr>
          <p:cNvPr id="109" name="Google Shape;137;p8"/>
          <p:cNvSpPr/>
          <p:nvPr/>
        </p:nvSpPr>
        <p:spPr>
          <a:xfrm>
            <a:off x="1882800" y="7064280"/>
            <a:ext cx="805140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C8D3E0"/>
                </a:solidFill>
                <a:effectLst/>
                <a:uFillTx/>
                <a:latin typeface="Courier New"/>
                <a:ea typeface="Courier New"/>
              </a:rPr>
              <a:t>for each </a:t>
            </a:r>
            <a:r>
              <a:rPr lang="en-US" sz="1950" b="0" u="none" strike="noStrike">
                <a:solidFill>
                  <a:srgbClr val="F5A524"/>
                </a:solidFill>
                <a:effectLst/>
                <a:uFillTx/>
                <a:latin typeface="Courier New"/>
                <a:ea typeface="Courier New"/>
              </a:rPr>
              <a:t>j -&gt; i</a:t>
            </a:r>
            <a:r>
              <a:rPr lang="en-US" sz="1950" b="0" u="none" strike="noStrike">
                <a:solidFill>
                  <a:srgbClr val="C8D3E0"/>
                </a:solidFill>
                <a:effectLst/>
                <a:uFillTx/>
                <a:latin typeface="Courier New"/>
                <a:ea typeface="Courier New"/>
              </a:rPr>
              <a:t>:</a:t>
            </a:r>
            <a:endParaRPr lang="en-US" sz="1950" b="0" u="none" strike="noStrike">
              <a:solidFill>
                <a:srgbClr val="FFFFFF"/>
              </a:solidFill>
              <a:effectLst/>
              <a:uFillTx/>
              <a:latin typeface="Arial"/>
            </a:endParaRPr>
          </a:p>
        </p:txBody>
      </p:sp>
      <p:sp>
        <p:nvSpPr>
          <p:cNvPr id="110" name="Google Shape;138;p8"/>
          <p:cNvSpPr/>
          <p:nvPr/>
        </p:nvSpPr>
        <p:spPr>
          <a:xfrm>
            <a:off x="2168640" y="7465320"/>
            <a:ext cx="776556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4D9FFF"/>
                </a:solidFill>
                <a:effectLst/>
                <a:uFillTx/>
                <a:latin typeface="Courier New"/>
                <a:ea typeface="Courier New"/>
              </a:rPr>
              <a:t>newPR[i] </a:t>
            </a:r>
            <a:r>
              <a:rPr lang="en-US" sz="1950" b="0" u="none" strike="noStrike">
                <a:solidFill>
                  <a:srgbClr val="C8D3E0"/>
                </a:solidFill>
                <a:effectLst/>
                <a:uFillTx/>
                <a:latin typeface="Courier New"/>
                <a:ea typeface="Courier New"/>
              </a:rPr>
              <a:t>+= d*PR[j]/outdeg(j)</a:t>
            </a:r>
            <a:endParaRPr lang="en-US" sz="1950" b="0" u="none" strike="noStrike">
              <a:solidFill>
                <a:srgbClr val="FFFFFF"/>
              </a:solidFill>
              <a:effectLst/>
              <a:uFillTx/>
              <a:latin typeface="Arial"/>
            </a:endParaRPr>
          </a:p>
        </p:txBody>
      </p:sp>
      <p:sp>
        <p:nvSpPr>
          <p:cNvPr id="111" name="Google Shape;139;p8"/>
          <p:cNvSpPr/>
          <p:nvPr/>
        </p:nvSpPr>
        <p:spPr>
          <a:xfrm>
            <a:off x="1596960" y="7866360"/>
            <a:ext cx="833724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3DDC97"/>
                </a:solidFill>
                <a:effectLst/>
                <a:uFillTx/>
                <a:latin typeface="Courier New"/>
                <a:ea typeface="Courier New"/>
              </a:rPr>
              <a:t>error </a:t>
            </a:r>
            <a:r>
              <a:rPr lang="en-US" sz="1950" b="0" u="none" strike="noStrike">
                <a:solidFill>
                  <a:srgbClr val="C8D3E0"/>
                </a:solidFill>
                <a:effectLst/>
                <a:uFillTx/>
                <a:latin typeface="Courier New"/>
                <a:ea typeface="Courier New"/>
              </a:rPr>
              <a:t>= sum |newPR[i] - PR[i]|</a:t>
            </a:r>
            <a:endParaRPr lang="en-US" sz="1950" b="0" u="none" strike="noStrike">
              <a:solidFill>
                <a:srgbClr val="FFFFFF"/>
              </a:solidFill>
              <a:effectLst/>
              <a:uFillTx/>
              <a:latin typeface="Arial"/>
            </a:endParaRPr>
          </a:p>
        </p:txBody>
      </p:sp>
      <p:sp>
        <p:nvSpPr>
          <p:cNvPr id="112" name="Google Shape;140;p8"/>
          <p:cNvSpPr/>
          <p:nvPr/>
        </p:nvSpPr>
        <p:spPr>
          <a:xfrm>
            <a:off x="1596960" y="8267760"/>
            <a:ext cx="833724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C8D3E0"/>
                </a:solidFill>
                <a:effectLst/>
                <a:uFillTx/>
                <a:latin typeface="Courier New"/>
                <a:ea typeface="Courier New"/>
              </a:rPr>
              <a:t>PR = newPR</a:t>
            </a:r>
            <a:endParaRPr lang="en-US" sz="1950" b="0" u="none" strike="noStrike">
              <a:solidFill>
                <a:srgbClr val="FFFFFF"/>
              </a:solidFill>
              <a:effectLst/>
              <a:uFillTx/>
              <a:latin typeface="Arial"/>
            </a:endParaRPr>
          </a:p>
        </p:txBody>
      </p:sp>
      <p:sp>
        <p:nvSpPr>
          <p:cNvPr id="113" name="Google Shape;141;p8"/>
          <p:cNvSpPr/>
          <p:nvPr/>
        </p:nvSpPr>
        <p:spPr>
          <a:xfrm>
            <a:off x="1311120" y="8668800"/>
            <a:ext cx="8623080" cy="438480"/>
          </a:xfrm>
          <a:prstGeom prst="rect">
            <a:avLst/>
          </a:prstGeom>
          <a:noFill/>
          <a:ln w="0">
            <a:noFill/>
          </a:ln>
        </p:spPr>
        <p:style>
          <a:lnRef idx="0"/>
          <a:fillRef idx="0"/>
          <a:effectRef idx="0"/>
          <a:fontRef idx="minor"/>
        </p:style>
        <p:txBody>
          <a:bodyPr lIns="25560" tIns="25560" rIns="25560" bIns="25560" anchor="t">
            <a:noAutofit/>
          </a:bodyPr>
          <a:p>
            <a:pPr>
              <a:lnSpc>
                <a:spcPct val="142000"/>
              </a:lnSpc>
              <a:tabLst>
                <a:tab pos="0" algn="l"/>
              </a:tabLst>
            </a:pPr>
            <a:r>
              <a:rPr lang="en-US" sz="1950" b="0" u="none" strike="noStrike">
                <a:solidFill>
                  <a:srgbClr val="C8D3E0"/>
                </a:solidFill>
                <a:effectLst/>
                <a:uFillTx/>
                <a:latin typeface="Courier New"/>
                <a:ea typeface="Courier New"/>
              </a:rPr>
              <a:t>until </a:t>
            </a:r>
            <a:r>
              <a:rPr lang="en-US" sz="1950" b="0" u="none" strike="noStrike">
                <a:solidFill>
                  <a:srgbClr val="3DDC97"/>
                </a:solidFill>
                <a:effectLst/>
                <a:uFillTx/>
                <a:latin typeface="Courier New"/>
                <a:ea typeface="Courier New"/>
              </a:rPr>
              <a:t>error &lt; eps</a:t>
            </a:r>
            <a:endParaRPr lang="en-US" sz="1950" b="0" u="none" strike="noStrike">
              <a:solidFill>
                <a:srgbClr val="FFFFFF"/>
              </a:solidFill>
              <a:effectLst/>
              <a:uFillTx/>
              <a:latin typeface="Arial"/>
            </a:endParaRPr>
          </a:p>
        </p:txBody>
      </p:sp>
      <p:sp>
        <p:nvSpPr>
          <p:cNvPr id="114" name="Google Shape;142;p8"/>
          <p:cNvSpPr/>
          <p:nvPr/>
        </p:nvSpPr>
        <p:spPr>
          <a:xfrm>
            <a:off x="10350360" y="5058360"/>
            <a:ext cx="768276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5B6A7D"/>
                </a:solidFill>
                <a:effectLst/>
                <a:uFillTx/>
                <a:latin typeface="Courier New"/>
                <a:ea typeface="Courier New"/>
              </a:rPr>
              <a:t>KEY PARAMETERS</a:t>
            </a:r>
            <a:endParaRPr lang="en-US" sz="1870" b="0" u="none" strike="noStrike">
              <a:solidFill>
                <a:srgbClr val="FFFFFF"/>
              </a:solidFill>
              <a:effectLst/>
              <a:uFillTx/>
              <a:latin typeface="Arial"/>
            </a:endParaRPr>
          </a:p>
        </p:txBody>
      </p:sp>
      <p:sp>
        <p:nvSpPr>
          <p:cNvPr id="115" name="Google Shape;143;p8"/>
          <p:cNvSpPr/>
          <p:nvPr/>
        </p:nvSpPr>
        <p:spPr>
          <a:xfrm>
            <a:off x="10350360" y="5581440"/>
            <a:ext cx="15710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F5A524"/>
                </a:solidFill>
                <a:effectLst/>
                <a:uFillTx/>
                <a:latin typeface="Courier New"/>
                <a:ea typeface="Courier New"/>
              </a:rPr>
              <a:t>d</a:t>
            </a:r>
            <a:endParaRPr lang="en-US" sz="1950" b="0" u="none" strike="noStrike">
              <a:solidFill>
                <a:srgbClr val="FFFFFF"/>
              </a:solidFill>
              <a:effectLst/>
              <a:uFillTx/>
              <a:latin typeface="Arial"/>
            </a:endParaRPr>
          </a:p>
        </p:txBody>
      </p:sp>
      <p:sp>
        <p:nvSpPr>
          <p:cNvPr id="116" name="Google Shape;144;p8"/>
          <p:cNvSpPr/>
          <p:nvPr/>
        </p:nvSpPr>
        <p:spPr>
          <a:xfrm>
            <a:off x="12007800" y="5591520"/>
            <a:ext cx="585972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A9B6C6"/>
                </a:solidFill>
                <a:effectLst/>
                <a:uFillTx/>
                <a:latin typeface="Arial"/>
                <a:ea typeface="Arial"/>
              </a:rPr>
              <a:t>Damping factor (0.85)</a:t>
            </a:r>
            <a:endParaRPr lang="en-US" sz="1950" b="0" u="none" strike="noStrike">
              <a:solidFill>
                <a:srgbClr val="FFFFFF"/>
              </a:solidFill>
              <a:effectLst/>
              <a:uFillTx/>
              <a:latin typeface="Arial"/>
            </a:endParaRPr>
          </a:p>
        </p:txBody>
      </p:sp>
      <p:sp>
        <p:nvSpPr>
          <p:cNvPr id="117" name="Google Shape;145;p8"/>
          <p:cNvSpPr/>
          <p:nvPr/>
        </p:nvSpPr>
        <p:spPr>
          <a:xfrm>
            <a:off x="10350360" y="6063120"/>
            <a:ext cx="15710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F5A524"/>
                </a:solidFill>
                <a:effectLst/>
                <a:uFillTx/>
                <a:latin typeface="Courier New"/>
                <a:ea typeface="Courier New"/>
              </a:rPr>
              <a:t>N</a:t>
            </a:r>
            <a:endParaRPr lang="en-US" sz="1950" b="0" u="none" strike="noStrike">
              <a:solidFill>
                <a:srgbClr val="FFFFFF"/>
              </a:solidFill>
              <a:effectLst/>
              <a:uFillTx/>
              <a:latin typeface="Arial"/>
            </a:endParaRPr>
          </a:p>
        </p:txBody>
      </p:sp>
      <p:sp>
        <p:nvSpPr>
          <p:cNvPr id="118" name="Google Shape;146;p8"/>
          <p:cNvSpPr/>
          <p:nvPr/>
        </p:nvSpPr>
        <p:spPr>
          <a:xfrm>
            <a:off x="12007800" y="6073200"/>
            <a:ext cx="585972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A9B6C6"/>
                </a:solidFill>
                <a:effectLst/>
                <a:uFillTx/>
                <a:latin typeface="Arial"/>
                <a:ea typeface="Arial"/>
              </a:rPr>
              <a:t>Number of nodes</a:t>
            </a:r>
            <a:endParaRPr lang="en-US" sz="1950" b="0" u="none" strike="noStrike">
              <a:solidFill>
                <a:srgbClr val="FFFFFF"/>
              </a:solidFill>
              <a:effectLst/>
              <a:uFillTx/>
              <a:latin typeface="Arial"/>
            </a:endParaRPr>
          </a:p>
        </p:txBody>
      </p:sp>
      <p:sp>
        <p:nvSpPr>
          <p:cNvPr id="119" name="Google Shape;147;p8"/>
          <p:cNvSpPr/>
          <p:nvPr/>
        </p:nvSpPr>
        <p:spPr>
          <a:xfrm>
            <a:off x="10350360" y="6545160"/>
            <a:ext cx="15710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F5A524"/>
                </a:solidFill>
                <a:effectLst/>
                <a:uFillTx/>
                <a:latin typeface="Courier New"/>
                <a:ea typeface="Courier New"/>
              </a:rPr>
              <a:t>outdeg(j)</a:t>
            </a:r>
            <a:endParaRPr lang="en-US" sz="1950" b="0" u="none" strike="noStrike">
              <a:solidFill>
                <a:srgbClr val="FFFFFF"/>
              </a:solidFill>
              <a:effectLst/>
              <a:uFillTx/>
              <a:latin typeface="Arial"/>
            </a:endParaRPr>
          </a:p>
        </p:txBody>
      </p:sp>
      <p:sp>
        <p:nvSpPr>
          <p:cNvPr id="120" name="Google Shape;148;p8"/>
          <p:cNvSpPr/>
          <p:nvPr/>
        </p:nvSpPr>
        <p:spPr>
          <a:xfrm>
            <a:off x="12007800" y="6555240"/>
            <a:ext cx="585972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A9B6C6"/>
                </a:solidFill>
                <a:effectLst/>
                <a:uFillTx/>
                <a:latin typeface="Arial"/>
                <a:ea typeface="Arial"/>
              </a:rPr>
              <a:t>Out-degree of node j</a:t>
            </a:r>
            <a:endParaRPr lang="en-US" sz="1950" b="0" u="none" strike="noStrike">
              <a:solidFill>
                <a:srgbClr val="FFFFFF"/>
              </a:solidFill>
              <a:effectLst/>
              <a:uFillTx/>
              <a:latin typeface="Arial"/>
            </a:endParaRPr>
          </a:p>
        </p:txBody>
      </p:sp>
      <p:sp>
        <p:nvSpPr>
          <p:cNvPr id="121" name="Google Shape;149;p8"/>
          <p:cNvSpPr/>
          <p:nvPr/>
        </p:nvSpPr>
        <p:spPr>
          <a:xfrm>
            <a:off x="10350360" y="7026840"/>
            <a:ext cx="15710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F5A524"/>
                </a:solidFill>
                <a:effectLst/>
                <a:uFillTx/>
                <a:latin typeface="Courier New"/>
                <a:ea typeface="Courier New"/>
              </a:rPr>
              <a:t>ε (eps)</a:t>
            </a:r>
            <a:endParaRPr lang="en-US" sz="1950" b="0" u="none" strike="noStrike">
              <a:solidFill>
                <a:srgbClr val="FFFFFF"/>
              </a:solidFill>
              <a:effectLst/>
              <a:uFillTx/>
              <a:latin typeface="Arial"/>
            </a:endParaRPr>
          </a:p>
        </p:txBody>
      </p:sp>
      <p:sp>
        <p:nvSpPr>
          <p:cNvPr id="122" name="Google Shape;150;p8"/>
          <p:cNvSpPr/>
          <p:nvPr/>
        </p:nvSpPr>
        <p:spPr>
          <a:xfrm>
            <a:off x="12007800" y="7036920"/>
            <a:ext cx="585972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A9B6C6"/>
                </a:solidFill>
                <a:effectLst/>
                <a:uFillTx/>
                <a:latin typeface="Arial"/>
                <a:ea typeface="Arial"/>
              </a:rPr>
              <a:t>Convergence threshold</a:t>
            </a:r>
            <a:endParaRPr lang="en-US" sz="1950" b="0" u="none" strike="noStrike">
              <a:solidFill>
                <a:srgbClr val="FFFFFF"/>
              </a:solidFill>
              <a:effectLst/>
              <a:uFillTx/>
              <a:latin typeface="Arial"/>
            </a:endParaRPr>
          </a:p>
        </p:txBody>
      </p:sp>
      <p:sp>
        <p:nvSpPr>
          <p:cNvPr id="123" name="Google Shape;151;p8"/>
          <p:cNvSpPr/>
          <p:nvPr/>
        </p:nvSpPr>
        <p:spPr>
          <a:xfrm>
            <a:off x="10350360" y="7642080"/>
            <a:ext cx="69843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124" name="Google Shape;152;p8"/>
          <p:cNvSpPr/>
          <p:nvPr/>
        </p:nvSpPr>
        <p:spPr>
          <a:xfrm>
            <a:off x="10350360" y="7878600"/>
            <a:ext cx="7193880" cy="1073160"/>
          </a:xfrm>
          <a:prstGeom prst="rect">
            <a:avLst/>
          </a:prstGeom>
          <a:noFill/>
          <a:ln w="0">
            <a:noFill/>
          </a:ln>
        </p:spPr>
        <p:style>
          <a:lnRef idx="0"/>
          <a:fillRef idx="0"/>
          <a:effectRef idx="0"/>
          <a:fontRef idx="minor"/>
        </p:style>
        <p:txBody>
          <a:bodyPr lIns="25560" tIns="25560" rIns="25560" bIns="25560" anchor="t">
            <a:noAutofit/>
          </a:bodyPr>
          <a:p>
            <a:pPr>
              <a:lnSpc>
                <a:spcPct val="127000"/>
              </a:lnSpc>
              <a:tabLst>
                <a:tab pos="0" algn="l"/>
              </a:tabLst>
            </a:pPr>
            <a:r>
              <a:rPr lang="en-US" sz="1870" b="0" u="none" strike="noStrike">
                <a:solidFill>
                  <a:srgbClr val="E05252"/>
                </a:solidFill>
                <a:effectLst/>
                <a:uFillTx/>
                <a:latin typeface="Arial"/>
                <a:ea typeface="Arial"/>
              </a:rPr>
              <a:t>Dangling nodes </a:t>
            </a:r>
            <a:r>
              <a:rPr lang="en-US" sz="1870" b="0" u="none" strike="noStrike">
                <a:solidFill>
                  <a:srgbClr val="DBE4EE"/>
                </a:solidFill>
                <a:effectLst/>
                <a:uFillTx/>
                <a:latin typeface="Arial"/>
                <a:ea typeface="Arial"/>
              </a:rPr>
              <a:t>(outdeg = 0) redistribute their rank equally across all N nodes — otherwise rank "leaks" out of the system.</a:t>
            </a:r>
            <a:endParaRPr lang="en-US" sz="187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125" name="Google Shape;158;p9"/>
          <p:cNvSpPr/>
          <p:nvPr/>
        </p:nvSpPr>
        <p:spPr>
          <a:xfrm>
            <a:off x="952560" y="80028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II · FOSTER'S DESIGN METHODOLOGY</a:t>
            </a:r>
            <a:endParaRPr lang="en-US" sz="1800" b="0" u="none" strike="noStrike">
              <a:solidFill>
                <a:srgbClr val="FFFFFF"/>
              </a:solidFill>
              <a:effectLst/>
              <a:uFillTx/>
              <a:latin typeface="Arial"/>
            </a:endParaRPr>
          </a:p>
        </p:txBody>
      </p:sp>
      <p:sp>
        <p:nvSpPr>
          <p:cNvPr id="126" name="Google Shape;159;p9"/>
          <p:cNvSpPr/>
          <p:nvPr/>
        </p:nvSpPr>
        <p:spPr>
          <a:xfrm>
            <a:off x="952560" y="1292400"/>
            <a:ext cx="18020520" cy="8866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5250" b="1" u="none" strike="noStrike">
                <a:solidFill>
                  <a:srgbClr val="EEF2F7"/>
                </a:solidFill>
                <a:effectLst/>
                <a:uFillTx/>
                <a:latin typeface="Arial"/>
                <a:ea typeface="Arial"/>
              </a:rPr>
              <a:t>Now split the work</a:t>
            </a:r>
            <a:endParaRPr lang="en-US" sz="5250" b="0" u="none" strike="noStrike">
              <a:solidFill>
                <a:srgbClr val="FFFFFF"/>
              </a:solidFill>
              <a:effectLst/>
              <a:uFillTx/>
              <a:latin typeface="Arial"/>
            </a:endParaRPr>
          </a:p>
        </p:txBody>
      </p:sp>
      <p:pic>
        <p:nvPicPr>
          <p:cNvPr id="127" name="Google Shape;160;p9" descr="preencoded.png"/>
          <p:cNvPicPr/>
          <p:nvPr/>
        </p:nvPicPr>
        <p:blipFill>
          <a:blip r:embed="rId1"/>
          <a:stretch/>
        </p:blipFill>
        <p:spPr>
          <a:xfrm>
            <a:off x="952560" y="2522520"/>
            <a:ext cx="4952160" cy="2856960"/>
          </a:xfrm>
          <a:prstGeom prst="rect">
            <a:avLst/>
          </a:prstGeom>
          <a:noFill/>
          <a:ln w="0">
            <a:noFill/>
          </a:ln>
        </p:spPr>
      </p:pic>
      <p:sp>
        <p:nvSpPr>
          <p:cNvPr id="128" name="Google Shape;161;p9"/>
          <p:cNvSpPr/>
          <p:nvPr/>
        </p:nvSpPr>
        <p:spPr>
          <a:xfrm>
            <a:off x="6248520" y="3610080"/>
            <a:ext cx="837360" cy="720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4200" b="0" u="none" strike="noStrike">
                <a:solidFill>
                  <a:srgbClr val="4D9FFF"/>
                </a:solidFill>
                <a:effectLst/>
                <a:uFillTx/>
                <a:latin typeface="Arial"/>
                <a:ea typeface="Arial"/>
              </a:rPr>
              <a:t>→</a:t>
            </a:r>
            <a:endParaRPr lang="en-US" sz="4200" b="0" u="none" strike="noStrike">
              <a:solidFill>
                <a:srgbClr val="FFFFFF"/>
              </a:solidFill>
              <a:effectLst/>
              <a:uFillTx/>
              <a:latin typeface="Arial"/>
            </a:endParaRPr>
          </a:p>
        </p:txBody>
      </p:sp>
      <p:sp>
        <p:nvSpPr>
          <p:cNvPr id="129" name="Google Shape;162;p9"/>
          <p:cNvSpPr/>
          <p:nvPr/>
        </p:nvSpPr>
        <p:spPr>
          <a:xfrm>
            <a:off x="7429680" y="2557440"/>
            <a:ext cx="9905400" cy="901080"/>
          </a:xfrm>
          <a:prstGeom prst="rect">
            <a:avLst/>
          </a:prstGeom>
          <a:solidFill>
            <a:srgbClr val="0D131C"/>
          </a:solidFill>
          <a:ln w="9525">
            <a:solidFill>
              <a:srgbClr val="22304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130" name="Google Shape;163;p9"/>
          <p:cNvSpPr/>
          <p:nvPr/>
        </p:nvSpPr>
        <p:spPr>
          <a:xfrm>
            <a:off x="7742160" y="2857680"/>
            <a:ext cx="18853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THREAD 0</a:t>
            </a:r>
            <a:endParaRPr lang="en-US" sz="1800" b="0" u="none" strike="noStrike">
              <a:solidFill>
                <a:srgbClr val="FFFFFF"/>
              </a:solidFill>
              <a:effectLst/>
              <a:uFillTx/>
              <a:latin typeface="Arial"/>
            </a:endParaRPr>
          </a:p>
        </p:txBody>
      </p:sp>
      <p:sp>
        <p:nvSpPr>
          <p:cNvPr id="131" name="Google Shape;164;p9"/>
          <p:cNvSpPr/>
          <p:nvPr/>
        </p:nvSpPr>
        <p:spPr>
          <a:xfrm>
            <a:off x="9723600" y="2793960"/>
            <a:ext cx="299160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EEF2F7"/>
                </a:solidFill>
                <a:effectLst/>
                <a:uFillTx/>
                <a:latin typeface="Courier New"/>
                <a:ea typeface="Courier New"/>
              </a:rPr>
              <a:t>nodes { 0, 1 }</a:t>
            </a:r>
            <a:endParaRPr lang="en-US" sz="2550" b="0" u="none" strike="noStrike">
              <a:solidFill>
                <a:srgbClr val="FFFFFF"/>
              </a:solidFill>
              <a:effectLst/>
              <a:uFillTx/>
              <a:latin typeface="Arial"/>
            </a:endParaRPr>
          </a:p>
        </p:txBody>
      </p:sp>
      <p:sp>
        <p:nvSpPr>
          <p:cNvPr id="132" name="Google Shape;165;p9"/>
          <p:cNvSpPr/>
          <p:nvPr/>
        </p:nvSpPr>
        <p:spPr>
          <a:xfrm>
            <a:off x="12710520" y="2998800"/>
            <a:ext cx="4311720" cy="18360"/>
          </a:xfrm>
          <a:prstGeom prst="rect">
            <a:avLst/>
          </a:prstGeom>
          <a:blipFill rotWithShape="0">
            <a:blip r:embed="rId2"/>
            <a:srcRect/>
            <a:tile tx="0" ty="0" sx="100000" sy="100000" algn="tl"/>
          </a:blipFill>
          <a:ln w="0">
            <a:noFill/>
          </a:ln>
        </p:spPr>
        <p:style>
          <a:lnRef idx="0"/>
          <a:fillRef idx="0"/>
          <a:effectRef idx="0"/>
          <a:fontRef idx="minor"/>
        </p:style>
        <p:txBody>
          <a:bodyPr lIns="90000" tIns="9360" rIns="90000" bIns="9360" anchor="ctr">
            <a:noAutofit/>
          </a:bodyPr>
          <a:p>
            <a:pPr/>
            <a:endParaRPr lang="en-US" sz="1400" b="0" u="none" strike="noStrike">
              <a:solidFill>
                <a:srgbClr val="FFFFFF"/>
              </a:solidFill>
              <a:effectLst/>
              <a:uFillTx/>
              <a:latin typeface="Arial"/>
            </a:endParaRPr>
          </a:p>
        </p:txBody>
      </p:sp>
      <p:sp>
        <p:nvSpPr>
          <p:cNvPr id="133" name="Google Shape;166;p9"/>
          <p:cNvSpPr/>
          <p:nvPr/>
        </p:nvSpPr>
        <p:spPr>
          <a:xfrm>
            <a:off x="7429680" y="3649680"/>
            <a:ext cx="9905400" cy="901080"/>
          </a:xfrm>
          <a:prstGeom prst="rect">
            <a:avLst/>
          </a:prstGeom>
          <a:solidFill>
            <a:srgbClr val="0D131C"/>
          </a:solidFill>
          <a:ln w="9525">
            <a:solidFill>
              <a:srgbClr val="22304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134" name="Google Shape;167;p9"/>
          <p:cNvSpPr/>
          <p:nvPr/>
        </p:nvSpPr>
        <p:spPr>
          <a:xfrm>
            <a:off x="7742160" y="3949560"/>
            <a:ext cx="18853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THREAD 1</a:t>
            </a:r>
            <a:endParaRPr lang="en-US" sz="1800" b="0" u="none" strike="noStrike">
              <a:solidFill>
                <a:srgbClr val="FFFFFF"/>
              </a:solidFill>
              <a:effectLst/>
              <a:uFillTx/>
              <a:latin typeface="Arial"/>
            </a:endParaRPr>
          </a:p>
        </p:txBody>
      </p:sp>
      <p:sp>
        <p:nvSpPr>
          <p:cNvPr id="135" name="Google Shape;168;p9"/>
          <p:cNvSpPr/>
          <p:nvPr/>
        </p:nvSpPr>
        <p:spPr>
          <a:xfrm>
            <a:off x="9723600" y="3886200"/>
            <a:ext cx="299160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EEF2F7"/>
                </a:solidFill>
                <a:effectLst/>
                <a:uFillTx/>
                <a:latin typeface="Courier New"/>
                <a:ea typeface="Courier New"/>
              </a:rPr>
              <a:t>nodes { 2, 3 }</a:t>
            </a:r>
            <a:endParaRPr lang="en-US" sz="2550" b="0" u="none" strike="noStrike">
              <a:solidFill>
                <a:srgbClr val="FFFFFF"/>
              </a:solidFill>
              <a:effectLst/>
              <a:uFillTx/>
              <a:latin typeface="Arial"/>
            </a:endParaRPr>
          </a:p>
        </p:txBody>
      </p:sp>
      <p:sp>
        <p:nvSpPr>
          <p:cNvPr id="136" name="Google Shape;169;p9"/>
          <p:cNvSpPr/>
          <p:nvPr/>
        </p:nvSpPr>
        <p:spPr>
          <a:xfrm>
            <a:off x="12710520" y="4091040"/>
            <a:ext cx="4311720" cy="18360"/>
          </a:xfrm>
          <a:prstGeom prst="rect">
            <a:avLst/>
          </a:prstGeom>
          <a:blipFill rotWithShape="0">
            <a:blip r:embed="rId3"/>
            <a:srcRect/>
            <a:tile tx="0" ty="0" sx="100000" sy="100000" algn="tl"/>
          </a:blipFill>
          <a:ln w="0">
            <a:noFill/>
          </a:ln>
        </p:spPr>
        <p:style>
          <a:lnRef idx="0"/>
          <a:fillRef idx="0"/>
          <a:effectRef idx="0"/>
          <a:fontRef idx="minor"/>
        </p:style>
        <p:txBody>
          <a:bodyPr lIns="90000" tIns="9360" rIns="90000" bIns="9360" anchor="ctr">
            <a:noAutofit/>
          </a:bodyPr>
          <a:p>
            <a:pPr/>
            <a:endParaRPr lang="en-US" sz="1400" b="0" u="none" strike="noStrike">
              <a:solidFill>
                <a:srgbClr val="FFFFFF"/>
              </a:solidFill>
              <a:effectLst/>
              <a:uFillTx/>
              <a:latin typeface="Arial"/>
            </a:endParaRPr>
          </a:p>
        </p:txBody>
      </p:sp>
      <p:sp>
        <p:nvSpPr>
          <p:cNvPr id="137" name="Google Shape;170;p9"/>
          <p:cNvSpPr/>
          <p:nvPr/>
        </p:nvSpPr>
        <p:spPr>
          <a:xfrm>
            <a:off x="7429680" y="4741920"/>
            <a:ext cx="10202400" cy="6408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8B9AAB"/>
                </a:solidFill>
                <a:effectLst/>
                <a:uFillTx/>
                <a:latin typeface="Courier New"/>
                <a:ea typeface="Courier New"/>
              </a:rPr>
              <a:t>static schedule · shared PR[] and graph · reductions for dangling &amp; error</a:t>
            </a:r>
            <a:endParaRPr lang="en-US" sz="1800" b="0" u="none" strike="noStrike">
              <a:solidFill>
                <a:srgbClr val="FFFFFF"/>
              </a:solidFill>
              <a:effectLst/>
              <a:uFillTx/>
              <a:latin typeface="Arial"/>
            </a:endParaRPr>
          </a:p>
        </p:txBody>
      </p:sp>
      <p:sp>
        <p:nvSpPr>
          <p:cNvPr id="138" name="Google Shape;171;p9"/>
          <p:cNvSpPr/>
          <p:nvPr/>
        </p:nvSpPr>
        <p:spPr>
          <a:xfrm>
            <a:off x="5040360" y="5837400"/>
            <a:ext cx="8640" cy="2130480"/>
          </a:xfrm>
          <a:prstGeom prst="rect">
            <a:avLst/>
          </a:prstGeom>
          <a:solidFill>
            <a:srgbClr val="1E2733"/>
          </a:solidFill>
          <a:ln w="0">
            <a:noFill/>
          </a:ln>
        </p:spPr>
        <p:style>
          <a:lnRef idx="0"/>
          <a:fillRef idx="0"/>
          <a:effectRef idx="0"/>
          <a:fontRef idx="minor"/>
        </p:style>
        <p:txBody>
          <a:bodyPr lIns="4320" tIns="91440" rIns="4320" bIns="91440" anchor="ctr">
            <a:noAutofit/>
          </a:bodyPr>
          <a:p>
            <a:pPr/>
            <a:endParaRPr lang="en-US" sz="1400" b="0" u="none" strike="noStrike">
              <a:solidFill>
                <a:srgbClr val="FFFFFF"/>
              </a:solidFill>
              <a:effectLst/>
              <a:uFillTx/>
              <a:latin typeface="Arial"/>
            </a:endParaRPr>
          </a:p>
        </p:txBody>
      </p:sp>
      <p:sp>
        <p:nvSpPr>
          <p:cNvPr id="139" name="Google Shape;172;p9"/>
          <p:cNvSpPr/>
          <p:nvPr/>
        </p:nvSpPr>
        <p:spPr>
          <a:xfrm>
            <a:off x="952560" y="5837400"/>
            <a:ext cx="351720" cy="6206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3600" b="1" u="none" strike="noStrike">
                <a:solidFill>
                  <a:srgbClr val="4D9FFF"/>
                </a:solidFill>
                <a:effectLst/>
                <a:uFillTx/>
                <a:latin typeface="Arial"/>
                <a:ea typeface="Arial"/>
              </a:rPr>
              <a:t>P</a:t>
            </a:r>
            <a:endParaRPr lang="en-US" sz="3600" b="0" u="none" strike="noStrike">
              <a:solidFill>
                <a:srgbClr val="FFFFFF"/>
              </a:solidFill>
              <a:effectLst/>
              <a:uFillTx/>
              <a:latin typeface="Arial"/>
            </a:endParaRPr>
          </a:p>
        </p:txBody>
      </p:sp>
      <p:sp>
        <p:nvSpPr>
          <p:cNvPr id="140" name="Google Shape;173;p9"/>
          <p:cNvSpPr/>
          <p:nvPr/>
        </p:nvSpPr>
        <p:spPr>
          <a:xfrm>
            <a:off x="1362240" y="6031800"/>
            <a:ext cx="162288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020" b="1" u="none" strike="noStrike">
                <a:solidFill>
                  <a:srgbClr val="EEF2F7"/>
                </a:solidFill>
                <a:effectLst/>
                <a:uFillTx/>
                <a:latin typeface="Arial"/>
                <a:ea typeface="Arial"/>
              </a:rPr>
              <a:t>Partitioning</a:t>
            </a:r>
            <a:endParaRPr lang="en-US" sz="2020" b="0" u="none" strike="noStrike">
              <a:solidFill>
                <a:srgbClr val="FFFFFF"/>
              </a:solidFill>
              <a:effectLst/>
              <a:uFillTx/>
              <a:latin typeface="Arial"/>
            </a:endParaRPr>
          </a:p>
        </p:txBody>
      </p:sp>
      <p:sp>
        <p:nvSpPr>
          <p:cNvPr id="141" name="Google Shape;174;p9"/>
          <p:cNvSpPr/>
          <p:nvPr/>
        </p:nvSpPr>
        <p:spPr>
          <a:xfrm>
            <a:off x="1040040" y="6572880"/>
            <a:ext cx="3694680" cy="1432800"/>
          </a:xfrm>
          <a:prstGeom prst="rect">
            <a:avLst/>
          </a:prstGeom>
          <a:noFill/>
          <a:ln w="0">
            <a:noFill/>
          </a:ln>
        </p:spPr>
        <p:style>
          <a:lnRef idx="0"/>
          <a:fillRef idx="0"/>
          <a:effectRef idx="0"/>
          <a:fontRef idx="minor"/>
        </p:style>
        <p:txBody>
          <a:bodyPr lIns="25560" tIns="25560" rIns="25560" bIns="25560" anchor="t">
            <a:noAutofit/>
          </a:bodyPr>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Data decomposition</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Divide nodes among threads</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Same computation on each chunk</a:t>
            </a:r>
            <a:endParaRPr lang="en-US" sz="1800" b="0" u="none" strike="noStrike">
              <a:solidFill>
                <a:srgbClr val="FFFFFF"/>
              </a:solidFill>
              <a:effectLst/>
              <a:uFillTx/>
              <a:latin typeface="Arial"/>
            </a:endParaRPr>
          </a:p>
        </p:txBody>
      </p:sp>
      <p:sp>
        <p:nvSpPr>
          <p:cNvPr id="142" name="Google Shape;175;p9"/>
          <p:cNvSpPr/>
          <p:nvPr/>
        </p:nvSpPr>
        <p:spPr>
          <a:xfrm>
            <a:off x="9136080" y="5837400"/>
            <a:ext cx="8640" cy="2130480"/>
          </a:xfrm>
          <a:prstGeom prst="rect">
            <a:avLst/>
          </a:prstGeom>
          <a:solidFill>
            <a:srgbClr val="1E2733"/>
          </a:solidFill>
          <a:ln w="0">
            <a:noFill/>
          </a:ln>
        </p:spPr>
        <p:style>
          <a:lnRef idx="0"/>
          <a:fillRef idx="0"/>
          <a:effectRef idx="0"/>
          <a:fontRef idx="minor"/>
        </p:style>
        <p:txBody>
          <a:bodyPr lIns="4320" tIns="91440" rIns="4320" bIns="91440" anchor="ctr">
            <a:noAutofit/>
          </a:bodyPr>
          <a:p>
            <a:pPr/>
            <a:endParaRPr lang="en-US" sz="1400" b="0" u="none" strike="noStrike">
              <a:solidFill>
                <a:srgbClr val="FFFFFF"/>
              </a:solidFill>
              <a:effectLst/>
              <a:uFillTx/>
              <a:latin typeface="Arial"/>
            </a:endParaRPr>
          </a:p>
        </p:txBody>
      </p:sp>
      <p:sp>
        <p:nvSpPr>
          <p:cNvPr id="143" name="Google Shape;176;p9"/>
          <p:cNvSpPr/>
          <p:nvPr/>
        </p:nvSpPr>
        <p:spPr>
          <a:xfrm>
            <a:off x="5429160" y="5837400"/>
            <a:ext cx="370080" cy="6206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3600" b="1" u="none" strike="noStrike">
                <a:solidFill>
                  <a:srgbClr val="4D9FFF"/>
                </a:solidFill>
                <a:effectLst/>
                <a:uFillTx/>
                <a:latin typeface="Arial"/>
                <a:ea typeface="Arial"/>
              </a:rPr>
              <a:t>C</a:t>
            </a:r>
            <a:endParaRPr lang="en-US" sz="3600" b="0" u="none" strike="noStrike">
              <a:solidFill>
                <a:srgbClr val="FFFFFF"/>
              </a:solidFill>
              <a:effectLst/>
              <a:uFillTx/>
              <a:latin typeface="Arial"/>
            </a:endParaRPr>
          </a:p>
        </p:txBody>
      </p:sp>
      <p:sp>
        <p:nvSpPr>
          <p:cNvPr id="144" name="Google Shape;177;p9"/>
          <p:cNvSpPr/>
          <p:nvPr/>
        </p:nvSpPr>
        <p:spPr>
          <a:xfrm>
            <a:off x="5857200" y="6031800"/>
            <a:ext cx="212796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020" b="1" u="none" strike="noStrike">
                <a:solidFill>
                  <a:srgbClr val="EEF2F7"/>
                </a:solidFill>
                <a:effectLst/>
                <a:uFillTx/>
                <a:latin typeface="Arial"/>
                <a:ea typeface="Arial"/>
              </a:rPr>
              <a:t>Communication</a:t>
            </a:r>
            <a:endParaRPr lang="en-US" sz="2020" b="0" u="none" strike="noStrike">
              <a:solidFill>
                <a:srgbClr val="FFFFFF"/>
              </a:solidFill>
              <a:effectLst/>
              <a:uFillTx/>
              <a:latin typeface="Arial"/>
            </a:endParaRPr>
          </a:p>
        </p:txBody>
      </p:sp>
      <p:sp>
        <p:nvSpPr>
          <p:cNvPr id="145" name="Google Shape;178;p9"/>
          <p:cNvSpPr/>
          <p:nvPr/>
        </p:nvSpPr>
        <p:spPr>
          <a:xfrm>
            <a:off x="5517000" y="6572880"/>
            <a:ext cx="3313800" cy="1432800"/>
          </a:xfrm>
          <a:prstGeom prst="rect">
            <a:avLst/>
          </a:prstGeom>
          <a:noFill/>
          <a:ln w="0">
            <a:noFill/>
          </a:ln>
        </p:spPr>
        <p:style>
          <a:lnRef idx="0"/>
          <a:fillRef idx="0"/>
          <a:effectRef idx="0"/>
          <a:fontRef idx="minor"/>
        </p:style>
        <p:txBody>
          <a:bodyPr lIns="25560" tIns="25560" rIns="25560" bIns="25560" anchor="t">
            <a:noAutofit/>
          </a:bodyPr>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Shared PR[] and graph</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Global: dangling sum &amp; error</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Use reduction for global values</a:t>
            </a:r>
            <a:endParaRPr lang="en-US" sz="1800" b="0" u="none" strike="noStrike">
              <a:solidFill>
                <a:srgbClr val="FFFFFF"/>
              </a:solidFill>
              <a:effectLst/>
              <a:uFillTx/>
              <a:latin typeface="Arial"/>
            </a:endParaRPr>
          </a:p>
        </p:txBody>
      </p:sp>
      <p:sp>
        <p:nvSpPr>
          <p:cNvPr id="146" name="Google Shape;179;p9"/>
          <p:cNvSpPr/>
          <p:nvPr/>
        </p:nvSpPr>
        <p:spPr>
          <a:xfrm>
            <a:off x="13231800" y="5837400"/>
            <a:ext cx="8640" cy="1779840"/>
          </a:xfrm>
          <a:prstGeom prst="rect">
            <a:avLst/>
          </a:prstGeom>
          <a:solidFill>
            <a:srgbClr val="1E2733"/>
          </a:solidFill>
          <a:ln w="0">
            <a:noFill/>
          </a:ln>
        </p:spPr>
        <p:style>
          <a:lnRef idx="0"/>
          <a:fillRef idx="0"/>
          <a:effectRef idx="0"/>
          <a:fontRef idx="minor"/>
        </p:style>
        <p:txBody>
          <a:bodyPr lIns="4320" tIns="91440" rIns="4320" bIns="91440" anchor="ctr">
            <a:noAutofit/>
          </a:bodyPr>
          <a:p>
            <a:pPr/>
            <a:endParaRPr lang="en-US" sz="1400" b="0" u="none" strike="noStrike">
              <a:solidFill>
                <a:srgbClr val="FFFFFF"/>
              </a:solidFill>
              <a:effectLst/>
              <a:uFillTx/>
              <a:latin typeface="Arial"/>
            </a:endParaRPr>
          </a:p>
        </p:txBody>
      </p:sp>
      <p:sp>
        <p:nvSpPr>
          <p:cNvPr id="147" name="Google Shape;180;p9"/>
          <p:cNvSpPr/>
          <p:nvPr/>
        </p:nvSpPr>
        <p:spPr>
          <a:xfrm>
            <a:off x="9524880" y="5837400"/>
            <a:ext cx="365400" cy="6206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3600" b="1" u="none" strike="noStrike">
                <a:solidFill>
                  <a:srgbClr val="4D9FFF"/>
                </a:solidFill>
                <a:effectLst/>
                <a:uFillTx/>
                <a:latin typeface="Arial"/>
                <a:ea typeface="Arial"/>
              </a:rPr>
              <a:t>A</a:t>
            </a:r>
            <a:endParaRPr lang="en-US" sz="3600" b="0" u="none" strike="noStrike">
              <a:solidFill>
                <a:srgbClr val="FFFFFF"/>
              </a:solidFill>
              <a:effectLst/>
              <a:uFillTx/>
              <a:latin typeface="Arial"/>
            </a:endParaRPr>
          </a:p>
        </p:txBody>
      </p:sp>
      <p:sp>
        <p:nvSpPr>
          <p:cNvPr id="148" name="Google Shape;181;p9"/>
          <p:cNvSpPr/>
          <p:nvPr/>
        </p:nvSpPr>
        <p:spPr>
          <a:xfrm>
            <a:off x="9948240" y="6031800"/>
            <a:ext cx="200376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020" b="1" u="none" strike="noStrike">
                <a:solidFill>
                  <a:srgbClr val="EEF2F7"/>
                </a:solidFill>
                <a:effectLst/>
                <a:uFillTx/>
                <a:latin typeface="Arial"/>
                <a:ea typeface="Arial"/>
              </a:rPr>
              <a:t>Agglomeration</a:t>
            </a:r>
            <a:endParaRPr lang="en-US" sz="2020" b="0" u="none" strike="noStrike">
              <a:solidFill>
                <a:srgbClr val="FFFFFF"/>
              </a:solidFill>
              <a:effectLst/>
              <a:uFillTx/>
              <a:latin typeface="Arial"/>
            </a:endParaRPr>
          </a:p>
        </p:txBody>
      </p:sp>
      <p:sp>
        <p:nvSpPr>
          <p:cNvPr id="149" name="Google Shape;182;p9"/>
          <p:cNvSpPr/>
          <p:nvPr/>
        </p:nvSpPr>
        <p:spPr>
          <a:xfrm>
            <a:off x="9612720" y="6572880"/>
            <a:ext cx="3313800" cy="1081800"/>
          </a:xfrm>
          <a:prstGeom prst="rect">
            <a:avLst/>
          </a:prstGeom>
          <a:noFill/>
          <a:ln w="0">
            <a:noFill/>
          </a:ln>
        </p:spPr>
        <p:style>
          <a:lnRef idx="0"/>
          <a:fillRef idx="0"/>
          <a:effectRef idx="0"/>
          <a:fontRef idx="minor"/>
        </p:style>
        <p:txBody>
          <a:bodyPr lIns="25560" tIns="25560" rIns="25560" bIns="25560" anchor="t">
            <a:noAutofit/>
          </a:bodyPr>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Group nodes into chunks</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Reduce parallelization overhead</a:t>
            </a:r>
            <a:endParaRPr lang="en-US" sz="1800" b="0" u="none" strike="noStrike">
              <a:solidFill>
                <a:srgbClr val="FFFFFF"/>
              </a:solidFill>
              <a:effectLst/>
              <a:uFillTx/>
              <a:latin typeface="Arial"/>
            </a:endParaRPr>
          </a:p>
        </p:txBody>
      </p:sp>
      <p:sp>
        <p:nvSpPr>
          <p:cNvPr id="150" name="Google Shape;183;p9"/>
          <p:cNvSpPr/>
          <p:nvPr/>
        </p:nvSpPr>
        <p:spPr>
          <a:xfrm>
            <a:off x="13620600" y="5837400"/>
            <a:ext cx="478800" cy="6206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3600" b="1" u="none" strike="noStrike">
                <a:solidFill>
                  <a:srgbClr val="F5A524"/>
                </a:solidFill>
                <a:effectLst/>
                <a:uFillTx/>
                <a:latin typeface="Arial"/>
                <a:ea typeface="Arial"/>
              </a:rPr>
              <a:t>M</a:t>
            </a:r>
            <a:endParaRPr lang="en-US" sz="3600" b="0" u="none" strike="noStrike">
              <a:solidFill>
                <a:srgbClr val="FFFFFF"/>
              </a:solidFill>
              <a:effectLst/>
              <a:uFillTx/>
              <a:latin typeface="Arial"/>
            </a:endParaRPr>
          </a:p>
        </p:txBody>
      </p:sp>
      <p:sp>
        <p:nvSpPr>
          <p:cNvPr id="151" name="Google Shape;184;p9"/>
          <p:cNvSpPr/>
          <p:nvPr/>
        </p:nvSpPr>
        <p:spPr>
          <a:xfrm>
            <a:off x="14157360" y="6031800"/>
            <a:ext cx="11678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020" b="1" u="none" strike="noStrike">
                <a:solidFill>
                  <a:srgbClr val="EEF2F7"/>
                </a:solidFill>
                <a:effectLst/>
                <a:uFillTx/>
                <a:latin typeface="Arial"/>
                <a:ea typeface="Arial"/>
              </a:rPr>
              <a:t>Mapping</a:t>
            </a:r>
            <a:endParaRPr lang="en-US" sz="2020" b="0" u="none" strike="noStrike">
              <a:solidFill>
                <a:srgbClr val="FFFFFF"/>
              </a:solidFill>
              <a:effectLst/>
              <a:uFillTx/>
              <a:latin typeface="Arial"/>
            </a:endParaRPr>
          </a:p>
        </p:txBody>
      </p:sp>
      <p:sp>
        <p:nvSpPr>
          <p:cNvPr id="152" name="Google Shape;185;p9"/>
          <p:cNvSpPr/>
          <p:nvPr/>
        </p:nvSpPr>
        <p:spPr>
          <a:xfrm>
            <a:off x="13708440" y="6572880"/>
            <a:ext cx="3702600" cy="1432800"/>
          </a:xfrm>
          <a:prstGeom prst="rect">
            <a:avLst/>
          </a:prstGeom>
          <a:noFill/>
          <a:ln w="0">
            <a:noFill/>
          </a:ln>
        </p:spPr>
        <p:style>
          <a:lnRef idx="0"/>
          <a:fillRef idx="0"/>
          <a:effectRef idx="0"/>
          <a:fontRef idx="minor"/>
        </p:style>
        <p:txBody>
          <a:bodyPr lIns="25560" tIns="25560" rIns="25560" bIns="25560" anchor="t">
            <a:noAutofit/>
          </a:bodyPr>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Map chunks to OpenMP threads</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Static scheduling</a:t>
            </a:r>
            <a:endParaRPr lang="en-US" sz="1800" b="0" u="none" strike="noStrike">
              <a:solidFill>
                <a:srgbClr val="FFFFFF"/>
              </a:solidFill>
              <a:effectLst/>
              <a:uFillTx/>
              <a:latin typeface="Arial"/>
            </a:endParaRPr>
          </a:p>
          <a:p>
            <a:pPr marL="160200" indent="-160200">
              <a:lnSpc>
                <a:spcPct val="130000"/>
              </a:lnSpc>
              <a:buClr>
                <a:srgbClr val="A9B6C6"/>
              </a:buClr>
              <a:buFont typeface="Arial"/>
              <a:buChar char="•"/>
            </a:pPr>
            <a:r>
              <a:rPr lang="en-US" sz="1800" b="0" u="none" strike="noStrike">
                <a:solidFill>
                  <a:srgbClr val="A9B6C6"/>
                </a:solidFill>
                <a:effectLst/>
                <a:uFillTx/>
                <a:latin typeface="Arial"/>
                <a:ea typeface="Arial"/>
              </a:rPr>
              <a:t>Fixed node ranges per thread</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153" name="Google Shape;191;p10"/>
          <p:cNvSpPr/>
          <p:nvPr/>
        </p:nvSpPr>
        <p:spPr>
          <a:xfrm>
            <a:off x="952560" y="59040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F5A524"/>
                </a:solidFill>
                <a:effectLst/>
                <a:uFillTx/>
                <a:latin typeface="Courier New"/>
                <a:ea typeface="Courier New"/>
              </a:rPr>
              <a:t>SOLUTION DEMONSTRATION</a:t>
            </a:r>
            <a:endParaRPr lang="en-US" sz="1800" b="0" u="none" strike="noStrike">
              <a:solidFill>
                <a:srgbClr val="FFFFFF"/>
              </a:solidFill>
              <a:effectLst/>
              <a:uFillTx/>
              <a:latin typeface="Arial"/>
            </a:endParaRPr>
          </a:p>
        </p:txBody>
      </p:sp>
      <p:sp>
        <p:nvSpPr>
          <p:cNvPr id="154" name="Google Shape;192;p10"/>
          <p:cNvSpPr/>
          <p:nvPr/>
        </p:nvSpPr>
        <p:spPr>
          <a:xfrm>
            <a:off x="952560" y="949320"/>
            <a:ext cx="643680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 · Q3 — WORKED EXAMPLE 1</a:t>
            </a:r>
            <a:endParaRPr lang="en-US" sz="1800" b="0" u="none" strike="noStrike">
              <a:solidFill>
                <a:srgbClr val="FFFFFF"/>
              </a:solidFill>
              <a:effectLst/>
              <a:uFillTx/>
              <a:latin typeface="Arial"/>
            </a:endParaRPr>
          </a:p>
        </p:txBody>
      </p:sp>
      <p:sp>
        <p:nvSpPr>
          <p:cNvPr id="155" name="Google Shape;193;p10"/>
          <p:cNvSpPr/>
          <p:nvPr/>
        </p:nvSpPr>
        <p:spPr>
          <a:xfrm>
            <a:off x="12534840" y="949320"/>
            <a:ext cx="5280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N = 4 · d = 0.85 · no dangling node</a:t>
            </a:r>
            <a:endParaRPr lang="en-US" sz="1800" b="0" u="none" strike="noStrike">
              <a:solidFill>
                <a:srgbClr val="FFFFFF"/>
              </a:solidFill>
              <a:effectLst/>
              <a:uFillTx/>
              <a:latin typeface="Arial"/>
            </a:endParaRPr>
          </a:p>
        </p:txBody>
      </p:sp>
      <p:sp>
        <p:nvSpPr>
          <p:cNvPr id="156" name="Google Shape;194;p10"/>
          <p:cNvSpPr/>
          <p:nvPr/>
        </p:nvSpPr>
        <p:spPr>
          <a:xfrm>
            <a:off x="952560" y="1384200"/>
            <a:ext cx="18020520" cy="7675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500" b="1" u="none" strike="noStrike">
                <a:solidFill>
                  <a:srgbClr val="EEF2F7"/>
                </a:solidFill>
                <a:effectLst/>
                <a:uFillTx/>
                <a:latin typeface="Arial"/>
                <a:ea typeface="Arial"/>
              </a:rPr>
              <a:t>Example 1 — watch the rank move</a:t>
            </a:r>
            <a:endParaRPr lang="en-US" sz="4500" b="0" u="none" strike="noStrike">
              <a:solidFill>
                <a:srgbClr val="FFFFFF"/>
              </a:solidFill>
              <a:effectLst/>
              <a:uFillTx/>
              <a:latin typeface="Arial"/>
            </a:endParaRPr>
          </a:p>
        </p:txBody>
      </p:sp>
      <p:pic>
        <p:nvPicPr>
          <p:cNvPr id="157" name="Google Shape;195;p10" descr="preencoded.png"/>
          <p:cNvPicPr/>
          <p:nvPr/>
        </p:nvPicPr>
        <p:blipFill>
          <a:blip r:embed="rId1"/>
          <a:stretch/>
        </p:blipFill>
        <p:spPr>
          <a:xfrm>
            <a:off x="952560" y="2985480"/>
            <a:ext cx="8476560" cy="6095160"/>
          </a:xfrm>
          <a:prstGeom prst="rect">
            <a:avLst/>
          </a:prstGeom>
          <a:noFill/>
          <a:ln w="0">
            <a:noFill/>
          </a:ln>
        </p:spPr>
      </p:pic>
      <p:sp>
        <p:nvSpPr>
          <p:cNvPr id="158" name="Google Shape;196;p10"/>
          <p:cNvSpPr/>
          <p:nvPr/>
        </p:nvSpPr>
        <p:spPr>
          <a:xfrm>
            <a:off x="952560" y="9182520"/>
            <a:ext cx="932436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5B6A7D"/>
                </a:solidFill>
                <a:effectLst/>
                <a:uFillTx/>
                <a:latin typeface="Courier New"/>
                <a:ea typeface="Courier New"/>
              </a:rPr>
              <a:t>outdeg: 0:2 · 1:1 · 2:1 · 3:1 — node area ∝ converged rank</a:t>
            </a:r>
            <a:endParaRPr lang="en-US" sz="1870" b="0" u="none" strike="noStrike">
              <a:solidFill>
                <a:srgbClr val="FFFFFF"/>
              </a:solidFill>
              <a:effectLst/>
              <a:uFillTx/>
              <a:latin typeface="Arial"/>
            </a:endParaRPr>
          </a:p>
        </p:txBody>
      </p:sp>
      <p:sp>
        <p:nvSpPr>
          <p:cNvPr id="159" name="Google Shape;197;p10"/>
          <p:cNvSpPr/>
          <p:nvPr/>
        </p:nvSpPr>
        <p:spPr>
          <a:xfrm>
            <a:off x="10096560" y="2286720"/>
            <a:ext cx="24829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INITIAL STATE</a:t>
            </a:r>
            <a:endParaRPr lang="en-US" sz="1800" b="0" u="none" strike="noStrike">
              <a:solidFill>
                <a:srgbClr val="FFFFFF"/>
              </a:solidFill>
              <a:effectLst/>
              <a:uFillTx/>
              <a:latin typeface="Arial"/>
            </a:endParaRPr>
          </a:p>
        </p:txBody>
      </p:sp>
      <p:sp>
        <p:nvSpPr>
          <p:cNvPr id="160" name="Google Shape;198;p10"/>
          <p:cNvSpPr/>
          <p:nvPr/>
        </p:nvSpPr>
        <p:spPr>
          <a:xfrm>
            <a:off x="12773520" y="2266920"/>
            <a:ext cx="473940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A9B6C6"/>
                </a:solidFill>
                <a:effectLst/>
                <a:uFillTx/>
                <a:latin typeface="Courier New"/>
                <a:ea typeface="Courier New"/>
              </a:rPr>
              <a:t>PR = (0.25, 0.25, 0.25, 0.25)</a:t>
            </a:r>
            <a:endParaRPr lang="en-US" sz="1950" b="0" u="none" strike="noStrike">
              <a:solidFill>
                <a:srgbClr val="FFFFFF"/>
              </a:solidFill>
              <a:effectLst/>
              <a:uFillTx/>
              <a:latin typeface="Arial"/>
            </a:endParaRPr>
          </a:p>
        </p:txBody>
      </p:sp>
      <p:sp>
        <p:nvSpPr>
          <p:cNvPr id="161" name="Google Shape;199;p10"/>
          <p:cNvSpPr/>
          <p:nvPr/>
        </p:nvSpPr>
        <p:spPr>
          <a:xfrm>
            <a:off x="10096560" y="2805840"/>
            <a:ext cx="7962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ITERATION 01</a:t>
            </a:r>
            <a:endParaRPr lang="en-US" sz="1800" b="0" u="none" strike="noStrike">
              <a:solidFill>
                <a:srgbClr val="FFFFFF"/>
              </a:solidFill>
              <a:effectLst/>
              <a:uFillTx/>
              <a:latin typeface="Arial"/>
            </a:endParaRPr>
          </a:p>
        </p:txBody>
      </p:sp>
      <p:sp>
        <p:nvSpPr>
          <p:cNvPr id="162" name="Google Shape;200;p10"/>
          <p:cNvSpPr/>
          <p:nvPr/>
        </p:nvSpPr>
        <p:spPr>
          <a:xfrm>
            <a:off x="10096560" y="3240720"/>
            <a:ext cx="1361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NODE</a:t>
            </a:r>
            <a:endParaRPr lang="en-US" sz="1800" b="0" u="none" strike="noStrike">
              <a:solidFill>
                <a:srgbClr val="FFFFFF"/>
              </a:solidFill>
              <a:effectLst/>
              <a:uFillTx/>
              <a:latin typeface="Arial"/>
            </a:endParaRPr>
          </a:p>
        </p:txBody>
      </p:sp>
      <p:sp>
        <p:nvSpPr>
          <p:cNvPr id="163" name="Google Shape;201;p10"/>
          <p:cNvSpPr/>
          <p:nvPr/>
        </p:nvSpPr>
        <p:spPr>
          <a:xfrm>
            <a:off x="11525400" y="3240720"/>
            <a:ext cx="4609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UPDATE</a:t>
            </a:r>
            <a:endParaRPr lang="en-US" sz="1800" b="0" u="none" strike="noStrike">
              <a:solidFill>
                <a:srgbClr val="FFFFFF"/>
              </a:solidFill>
              <a:effectLst/>
              <a:uFillTx/>
              <a:latin typeface="Arial"/>
            </a:endParaRPr>
          </a:p>
        </p:txBody>
      </p:sp>
      <p:sp>
        <p:nvSpPr>
          <p:cNvPr id="164" name="Google Shape;202;p10"/>
          <p:cNvSpPr/>
          <p:nvPr/>
        </p:nvSpPr>
        <p:spPr>
          <a:xfrm>
            <a:off x="15764040" y="3240720"/>
            <a:ext cx="1571040" cy="33912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00" b="0" u="none" strike="noStrike">
                <a:solidFill>
                  <a:srgbClr val="5B6A7D"/>
                </a:solidFill>
                <a:effectLst/>
                <a:uFillTx/>
                <a:latin typeface="Courier New"/>
                <a:ea typeface="Courier New"/>
              </a:rPr>
              <a:t>VALUE</a:t>
            </a:r>
            <a:endParaRPr lang="en-US" sz="1800" b="0" u="none" strike="noStrike">
              <a:solidFill>
                <a:srgbClr val="FFFFFF"/>
              </a:solidFill>
              <a:effectLst/>
              <a:uFillTx/>
              <a:latin typeface="Arial"/>
            </a:endParaRPr>
          </a:p>
        </p:txBody>
      </p:sp>
      <p:sp>
        <p:nvSpPr>
          <p:cNvPr id="165" name="Google Shape;203;p10"/>
          <p:cNvSpPr/>
          <p:nvPr/>
        </p:nvSpPr>
        <p:spPr>
          <a:xfrm>
            <a:off x="10096560" y="367596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9EC6FF"/>
                </a:solidFill>
                <a:effectLst/>
                <a:uFillTx/>
                <a:latin typeface="Courier New"/>
                <a:ea typeface="Courier New"/>
              </a:rPr>
              <a:t>PR[0]</a:t>
            </a:r>
            <a:endParaRPr lang="en-US" sz="1870" b="0" u="none" strike="noStrike">
              <a:solidFill>
                <a:srgbClr val="FFFFFF"/>
              </a:solidFill>
              <a:effectLst/>
              <a:uFillTx/>
              <a:latin typeface="Arial"/>
            </a:endParaRPr>
          </a:p>
        </p:txBody>
      </p:sp>
      <p:sp>
        <p:nvSpPr>
          <p:cNvPr id="166" name="Google Shape;204;p10"/>
          <p:cNvSpPr/>
          <p:nvPr/>
        </p:nvSpPr>
        <p:spPr>
          <a:xfrm>
            <a:off x="11525400" y="367596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0.0375 + 0.85×(PR[3]/1)</a:t>
            </a:r>
            <a:endParaRPr lang="en-US" sz="1870" b="0" u="none" strike="noStrike">
              <a:solidFill>
                <a:srgbClr val="FFFFFF"/>
              </a:solidFill>
              <a:effectLst/>
              <a:uFillTx/>
              <a:latin typeface="Arial"/>
            </a:endParaRPr>
          </a:p>
        </p:txBody>
      </p:sp>
      <p:sp>
        <p:nvSpPr>
          <p:cNvPr id="167" name="Google Shape;205;p10"/>
          <p:cNvSpPr/>
          <p:nvPr/>
        </p:nvSpPr>
        <p:spPr>
          <a:xfrm>
            <a:off x="15764040" y="367596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0.2500</a:t>
            </a:r>
            <a:endParaRPr lang="en-US" sz="1870" b="0" u="none" strike="noStrike">
              <a:solidFill>
                <a:srgbClr val="FFFFFF"/>
              </a:solidFill>
              <a:effectLst/>
              <a:uFillTx/>
              <a:latin typeface="Arial"/>
            </a:endParaRPr>
          </a:p>
        </p:txBody>
      </p:sp>
      <p:sp>
        <p:nvSpPr>
          <p:cNvPr id="168" name="Google Shape;206;p10"/>
          <p:cNvSpPr/>
          <p:nvPr/>
        </p:nvSpPr>
        <p:spPr>
          <a:xfrm>
            <a:off x="10096560" y="412272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9EC6FF"/>
                </a:solidFill>
                <a:effectLst/>
                <a:uFillTx/>
                <a:latin typeface="Courier New"/>
                <a:ea typeface="Courier New"/>
              </a:rPr>
              <a:t>PR[1]</a:t>
            </a:r>
            <a:endParaRPr lang="en-US" sz="1870" b="0" u="none" strike="noStrike">
              <a:solidFill>
                <a:srgbClr val="FFFFFF"/>
              </a:solidFill>
              <a:effectLst/>
              <a:uFillTx/>
              <a:latin typeface="Arial"/>
            </a:endParaRPr>
          </a:p>
        </p:txBody>
      </p:sp>
      <p:sp>
        <p:nvSpPr>
          <p:cNvPr id="169" name="Google Shape;207;p10"/>
          <p:cNvSpPr/>
          <p:nvPr/>
        </p:nvSpPr>
        <p:spPr>
          <a:xfrm>
            <a:off x="11525400" y="412272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0.0375 + 0.85×(PR[0]/2)</a:t>
            </a:r>
            <a:endParaRPr lang="en-US" sz="1870" b="0" u="none" strike="noStrike">
              <a:solidFill>
                <a:srgbClr val="FFFFFF"/>
              </a:solidFill>
              <a:effectLst/>
              <a:uFillTx/>
              <a:latin typeface="Arial"/>
            </a:endParaRPr>
          </a:p>
        </p:txBody>
      </p:sp>
      <p:sp>
        <p:nvSpPr>
          <p:cNvPr id="170" name="Google Shape;208;p10"/>
          <p:cNvSpPr/>
          <p:nvPr/>
        </p:nvSpPr>
        <p:spPr>
          <a:xfrm>
            <a:off x="15764040" y="412272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0.1438</a:t>
            </a:r>
            <a:endParaRPr lang="en-US" sz="1870" b="0" u="none" strike="noStrike">
              <a:solidFill>
                <a:srgbClr val="FFFFFF"/>
              </a:solidFill>
              <a:effectLst/>
              <a:uFillTx/>
              <a:latin typeface="Arial"/>
            </a:endParaRPr>
          </a:p>
        </p:txBody>
      </p:sp>
      <p:sp>
        <p:nvSpPr>
          <p:cNvPr id="171" name="Google Shape;209;p10"/>
          <p:cNvSpPr/>
          <p:nvPr/>
        </p:nvSpPr>
        <p:spPr>
          <a:xfrm>
            <a:off x="10096560" y="456948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9EC6FF"/>
                </a:solidFill>
                <a:effectLst/>
                <a:uFillTx/>
                <a:latin typeface="Courier New"/>
                <a:ea typeface="Courier New"/>
              </a:rPr>
              <a:t>PR[2]</a:t>
            </a:r>
            <a:endParaRPr lang="en-US" sz="1870" b="0" u="none" strike="noStrike">
              <a:solidFill>
                <a:srgbClr val="FFFFFF"/>
              </a:solidFill>
              <a:effectLst/>
              <a:uFillTx/>
              <a:latin typeface="Arial"/>
            </a:endParaRPr>
          </a:p>
        </p:txBody>
      </p:sp>
      <p:sp>
        <p:nvSpPr>
          <p:cNvPr id="172" name="Google Shape;210;p10"/>
          <p:cNvSpPr/>
          <p:nvPr/>
        </p:nvSpPr>
        <p:spPr>
          <a:xfrm>
            <a:off x="11525400" y="456948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0.0375 + 0.85×(PR[0]/2)</a:t>
            </a:r>
            <a:endParaRPr lang="en-US" sz="1870" b="0" u="none" strike="noStrike">
              <a:solidFill>
                <a:srgbClr val="FFFFFF"/>
              </a:solidFill>
              <a:effectLst/>
              <a:uFillTx/>
              <a:latin typeface="Arial"/>
            </a:endParaRPr>
          </a:p>
        </p:txBody>
      </p:sp>
      <p:sp>
        <p:nvSpPr>
          <p:cNvPr id="173" name="Google Shape;211;p10"/>
          <p:cNvSpPr/>
          <p:nvPr/>
        </p:nvSpPr>
        <p:spPr>
          <a:xfrm>
            <a:off x="15764040" y="456948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0.1438</a:t>
            </a:r>
            <a:endParaRPr lang="en-US" sz="1870" b="0" u="none" strike="noStrike">
              <a:solidFill>
                <a:srgbClr val="FFFFFF"/>
              </a:solidFill>
              <a:effectLst/>
              <a:uFillTx/>
              <a:latin typeface="Arial"/>
            </a:endParaRPr>
          </a:p>
        </p:txBody>
      </p:sp>
      <p:sp>
        <p:nvSpPr>
          <p:cNvPr id="174" name="Google Shape;212;p10"/>
          <p:cNvSpPr/>
          <p:nvPr/>
        </p:nvSpPr>
        <p:spPr>
          <a:xfrm>
            <a:off x="10096560" y="501660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F5C069"/>
                </a:solidFill>
                <a:effectLst/>
                <a:uFillTx/>
                <a:latin typeface="Courier New"/>
                <a:ea typeface="Courier New"/>
              </a:rPr>
              <a:t>PR[3]</a:t>
            </a:r>
            <a:endParaRPr lang="en-US" sz="1870" b="0" u="none" strike="noStrike">
              <a:solidFill>
                <a:srgbClr val="FFFFFF"/>
              </a:solidFill>
              <a:effectLst/>
              <a:uFillTx/>
              <a:latin typeface="Arial"/>
            </a:endParaRPr>
          </a:p>
        </p:txBody>
      </p:sp>
      <p:sp>
        <p:nvSpPr>
          <p:cNvPr id="175" name="Google Shape;213;p10"/>
          <p:cNvSpPr/>
          <p:nvPr/>
        </p:nvSpPr>
        <p:spPr>
          <a:xfrm>
            <a:off x="11525400" y="5016600"/>
            <a:ext cx="4316040" cy="6645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0.0375 + 0.85×(PR[1]/1 + PR[2]/1)</a:t>
            </a:r>
            <a:endParaRPr lang="en-US" sz="1870" b="0" u="none" strike="noStrike">
              <a:solidFill>
                <a:srgbClr val="FFFFFF"/>
              </a:solidFill>
              <a:effectLst/>
              <a:uFillTx/>
              <a:latin typeface="Arial"/>
            </a:endParaRPr>
          </a:p>
        </p:txBody>
      </p:sp>
      <p:sp>
        <p:nvSpPr>
          <p:cNvPr id="176" name="Google Shape;214;p10"/>
          <p:cNvSpPr/>
          <p:nvPr/>
        </p:nvSpPr>
        <p:spPr>
          <a:xfrm>
            <a:off x="15764040" y="501660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1" u="none" strike="noStrike">
                <a:solidFill>
                  <a:srgbClr val="F5A524"/>
                </a:solidFill>
                <a:effectLst/>
                <a:uFillTx/>
                <a:latin typeface="Courier New"/>
                <a:ea typeface="Courier New"/>
              </a:rPr>
              <a:t>0.4625</a:t>
            </a:r>
            <a:endParaRPr lang="en-US" sz="1870" b="0" u="none" strike="noStrike">
              <a:solidFill>
                <a:srgbClr val="FFFFFF"/>
              </a:solidFill>
              <a:effectLst/>
              <a:uFillTx/>
              <a:latin typeface="Arial"/>
            </a:endParaRPr>
          </a:p>
        </p:txBody>
      </p:sp>
      <p:sp>
        <p:nvSpPr>
          <p:cNvPr id="177" name="Google Shape;215;p10"/>
          <p:cNvSpPr/>
          <p:nvPr/>
        </p:nvSpPr>
        <p:spPr>
          <a:xfrm>
            <a:off x="10096560" y="5738760"/>
            <a:ext cx="7962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7A8A9C"/>
                </a:solidFill>
                <a:effectLst/>
                <a:uFillTx/>
                <a:latin typeface="Courier New"/>
                <a:ea typeface="Courier New"/>
              </a:rPr>
              <a:t>error after iteration 1 = 0.4250</a:t>
            </a:r>
            <a:endParaRPr lang="en-US" sz="1800" b="0" u="none" strike="noStrike">
              <a:solidFill>
                <a:srgbClr val="FFFFFF"/>
              </a:solidFill>
              <a:effectLst/>
              <a:uFillTx/>
              <a:latin typeface="Arial"/>
            </a:endParaRPr>
          </a:p>
        </p:txBody>
      </p:sp>
      <p:sp>
        <p:nvSpPr>
          <p:cNvPr id="178" name="Google Shape;216;p10"/>
          <p:cNvSpPr/>
          <p:nvPr/>
        </p:nvSpPr>
        <p:spPr>
          <a:xfrm>
            <a:off x="10096560" y="6249960"/>
            <a:ext cx="7962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ITERATION 02</a:t>
            </a:r>
            <a:endParaRPr lang="en-US" sz="1800" b="0" u="none" strike="noStrike">
              <a:solidFill>
                <a:srgbClr val="FFFFFF"/>
              </a:solidFill>
              <a:effectLst/>
              <a:uFillTx/>
              <a:latin typeface="Arial"/>
            </a:endParaRPr>
          </a:p>
        </p:txBody>
      </p:sp>
      <p:sp>
        <p:nvSpPr>
          <p:cNvPr id="179" name="Google Shape;217;p10"/>
          <p:cNvSpPr/>
          <p:nvPr/>
        </p:nvSpPr>
        <p:spPr>
          <a:xfrm>
            <a:off x="10096560" y="6608880"/>
            <a:ext cx="7455600" cy="6408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A9B6C6"/>
                </a:solidFill>
                <a:effectLst/>
                <a:uFillTx/>
                <a:latin typeface="Courier New"/>
                <a:ea typeface="Courier New"/>
              </a:rPr>
              <a:t>PR = (0.4306, 0.1438, 0.1438, 0.2819) · error = 0.3613</a:t>
            </a:r>
            <a:endParaRPr lang="en-US" sz="1800" b="0" u="none" strike="noStrike">
              <a:solidFill>
                <a:srgbClr val="FFFFFF"/>
              </a:solidFill>
              <a:effectLst/>
              <a:uFillTx/>
              <a:latin typeface="Arial"/>
            </a:endParaRPr>
          </a:p>
        </p:txBody>
      </p:sp>
      <p:sp>
        <p:nvSpPr>
          <p:cNvPr id="180" name="Google Shape;218;p10"/>
          <p:cNvSpPr/>
          <p:nvPr/>
        </p:nvSpPr>
        <p:spPr>
          <a:xfrm>
            <a:off x="10096560" y="7421400"/>
            <a:ext cx="7238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181" name="Google Shape;219;p10"/>
          <p:cNvSpPr/>
          <p:nvPr/>
        </p:nvSpPr>
        <p:spPr>
          <a:xfrm>
            <a:off x="10096560" y="7814520"/>
            <a:ext cx="17186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3DDC97"/>
                </a:solidFill>
                <a:effectLst/>
                <a:uFillTx/>
                <a:latin typeface="Courier New"/>
                <a:ea typeface="Courier New"/>
              </a:rPr>
              <a:t>CONVERGED</a:t>
            </a:r>
            <a:endParaRPr lang="en-US" sz="1800" b="0" u="none" strike="noStrike">
              <a:solidFill>
                <a:srgbClr val="FFFFFF"/>
              </a:solidFill>
              <a:effectLst/>
              <a:uFillTx/>
              <a:latin typeface="Arial"/>
            </a:endParaRPr>
          </a:p>
        </p:txBody>
      </p:sp>
      <p:sp>
        <p:nvSpPr>
          <p:cNvPr id="182" name="Google Shape;220;p10"/>
          <p:cNvSpPr/>
          <p:nvPr/>
        </p:nvSpPr>
        <p:spPr>
          <a:xfrm>
            <a:off x="11850120" y="7620120"/>
            <a:ext cx="578520" cy="5929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3300" b="1" u="none" strike="noStrike">
                <a:solidFill>
                  <a:srgbClr val="EEF2F7"/>
                </a:solidFill>
                <a:effectLst/>
                <a:uFillTx/>
                <a:latin typeface="Courier New"/>
                <a:ea typeface="Courier New"/>
              </a:rPr>
              <a:t>81</a:t>
            </a:r>
            <a:endParaRPr lang="en-US" sz="3300" b="0" u="none" strike="noStrike">
              <a:solidFill>
                <a:srgbClr val="FFFFFF"/>
              </a:solidFill>
              <a:effectLst/>
              <a:uFillTx/>
              <a:latin typeface="Arial"/>
            </a:endParaRPr>
          </a:p>
        </p:txBody>
      </p:sp>
      <p:sp>
        <p:nvSpPr>
          <p:cNvPr id="183" name="Google Shape;221;p10"/>
          <p:cNvSpPr/>
          <p:nvPr/>
        </p:nvSpPr>
        <p:spPr>
          <a:xfrm>
            <a:off x="12543480" y="7804800"/>
            <a:ext cx="12261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8B9AAB"/>
                </a:solidFill>
                <a:effectLst/>
                <a:uFillTx/>
                <a:latin typeface="Arial"/>
                <a:ea typeface="Arial"/>
              </a:rPr>
              <a:t>iterations</a:t>
            </a:r>
            <a:endParaRPr lang="en-US" sz="1950" b="0" u="none" strike="noStrike">
              <a:solidFill>
                <a:srgbClr val="FFFFFF"/>
              </a:solidFill>
              <a:effectLst/>
              <a:uFillTx/>
              <a:latin typeface="Arial"/>
            </a:endParaRPr>
          </a:p>
        </p:txBody>
      </p:sp>
      <p:sp>
        <p:nvSpPr>
          <p:cNvPr id="184" name="Google Shape;222;p10"/>
          <p:cNvSpPr/>
          <p:nvPr/>
        </p:nvSpPr>
        <p:spPr>
          <a:xfrm>
            <a:off x="10096560" y="830880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PR[0]</a:t>
            </a:r>
            <a:endParaRPr lang="en-US" sz="1800" b="0" u="none" strike="noStrike">
              <a:solidFill>
                <a:srgbClr val="FFFFFF"/>
              </a:solidFill>
              <a:effectLst/>
              <a:uFillTx/>
              <a:latin typeface="Arial"/>
            </a:endParaRPr>
          </a:p>
        </p:txBody>
      </p:sp>
      <p:sp>
        <p:nvSpPr>
          <p:cNvPr id="185" name="Google Shape;223;p10"/>
          <p:cNvSpPr/>
          <p:nvPr/>
        </p:nvSpPr>
        <p:spPr>
          <a:xfrm>
            <a:off x="10096560" y="861048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EEF2F7"/>
                </a:solidFill>
                <a:effectLst/>
                <a:uFillTx/>
                <a:latin typeface="Courier New"/>
                <a:ea typeface="Courier New"/>
              </a:rPr>
              <a:t>0.3202</a:t>
            </a:r>
            <a:endParaRPr lang="en-US" sz="2550" b="0" u="none" strike="noStrike">
              <a:solidFill>
                <a:srgbClr val="FFFFFF"/>
              </a:solidFill>
              <a:effectLst/>
              <a:uFillTx/>
              <a:latin typeface="Arial"/>
            </a:endParaRPr>
          </a:p>
        </p:txBody>
      </p:sp>
      <p:sp>
        <p:nvSpPr>
          <p:cNvPr id="186" name="Google Shape;224;p10"/>
          <p:cNvSpPr/>
          <p:nvPr/>
        </p:nvSpPr>
        <p:spPr>
          <a:xfrm>
            <a:off x="11963520" y="830880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PR[1]</a:t>
            </a:r>
            <a:endParaRPr lang="en-US" sz="1800" b="0" u="none" strike="noStrike">
              <a:solidFill>
                <a:srgbClr val="FFFFFF"/>
              </a:solidFill>
              <a:effectLst/>
              <a:uFillTx/>
              <a:latin typeface="Arial"/>
            </a:endParaRPr>
          </a:p>
        </p:txBody>
      </p:sp>
      <p:sp>
        <p:nvSpPr>
          <p:cNvPr id="187" name="Google Shape;225;p10"/>
          <p:cNvSpPr/>
          <p:nvPr/>
        </p:nvSpPr>
        <p:spPr>
          <a:xfrm>
            <a:off x="11963520" y="861048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8B9AAB"/>
                </a:solidFill>
                <a:effectLst/>
                <a:uFillTx/>
                <a:latin typeface="Courier New"/>
                <a:ea typeface="Courier New"/>
              </a:rPr>
              <a:t>0.1736</a:t>
            </a:r>
            <a:endParaRPr lang="en-US" sz="2550" b="0" u="none" strike="noStrike">
              <a:solidFill>
                <a:srgbClr val="FFFFFF"/>
              </a:solidFill>
              <a:effectLst/>
              <a:uFillTx/>
              <a:latin typeface="Arial"/>
            </a:endParaRPr>
          </a:p>
        </p:txBody>
      </p:sp>
      <p:sp>
        <p:nvSpPr>
          <p:cNvPr id="188" name="Google Shape;226;p10"/>
          <p:cNvSpPr/>
          <p:nvPr/>
        </p:nvSpPr>
        <p:spPr>
          <a:xfrm>
            <a:off x="13830480" y="830880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PR[2]</a:t>
            </a:r>
            <a:endParaRPr lang="en-US" sz="1800" b="0" u="none" strike="noStrike">
              <a:solidFill>
                <a:srgbClr val="FFFFFF"/>
              </a:solidFill>
              <a:effectLst/>
              <a:uFillTx/>
              <a:latin typeface="Arial"/>
            </a:endParaRPr>
          </a:p>
        </p:txBody>
      </p:sp>
      <p:sp>
        <p:nvSpPr>
          <p:cNvPr id="189" name="Google Shape;227;p10"/>
          <p:cNvSpPr/>
          <p:nvPr/>
        </p:nvSpPr>
        <p:spPr>
          <a:xfrm>
            <a:off x="13830480" y="861048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8B9AAB"/>
                </a:solidFill>
                <a:effectLst/>
                <a:uFillTx/>
                <a:latin typeface="Courier New"/>
                <a:ea typeface="Courier New"/>
              </a:rPr>
              <a:t>0.1736</a:t>
            </a:r>
            <a:endParaRPr lang="en-US" sz="2550" b="0" u="none" strike="noStrike">
              <a:solidFill>
                <a:srgbClr val="FFFFFF"/>
              </a:solidFill>
              <a:effectLst/>
              <a:uFillTx/>
              <a:latin typeface="Arial"/>
            </a:endParaRPr>
          </a:p>
        </p:txBody>
      </p:sp>
      <p:sp>
        <p:nvSpPr>
          <p:cNvPr id="190" name="Google Shape;228;p10"/>
          <p:cNvSpPr/>
          <p:nvPr/>
        </p:nvSpPr>
        <p:spPr>
          <a:xfrm>
            <a:off x="15697080" y="830880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PR[3]</a:t>
            </a:r>
            <a:endParaRPr lang="en-US" sz="1800" b="0" u="none" strike="noStrike">
              <a:solidFill>
                <a:srgbClr val="FFFFFF"/>
              </a:solidFill>
              <a:effectLst/>
              <a:uFillTx/>
              <a:latin typeface="Arial"/>
            </a:endParaRPr>
          </a:p>
        </p:txBody>
      </p:sp>
      <p:sp>
        <p:nvSpPr>
          <p:cNvPr id="191" name="Google Shape;229;p10"/>
          <p:cNvSpPr/>
          <p:nvPr/>
        </p:nvSpPr>
        <p:spPr>
          <a:xfrm>
            <a:off x="15697080" y="861048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F5A524"/>
                </a:solidFill>
                <a:effectLst/>
                <a:uFillTx/>
                <a:latin typeface="Courier New"/>
                <a:ea typeface="Courier New"/>
              </a:rPr>
              <a:t>0.3326</a:t>
            </a:r>
            <a:endParaRPr lang="en-US" sz="2550" b="0" u="none" strike="noStrike">
              <a:solidFill>
                <a:srgbClr val="FFFFFF"/>
              </a:solidFill>
              <a:effectLst/>
              <a:uFillTx/>
              <a:latin typeface="Arial"/>
            </a:endParaRPr>
          </a:p>
        </p:txBody>
      </p:sp>
      <p:sp>
        <p:nvSpPr>
          <p:cNvPr id="192" name="Google Shape;230;p10"/>
          <p:cNvSpPr/>
          <p:nvPr/>
        </p:nvSpPr>
        <p:spPr>
          <a:xfrm>
            <a:off x="10096560" y="9248760"/>
            <a:ext cx="7455600" cy="1003320"/>
          </a:xfrm>
          <a:prstGeom prst="rect">
            <a:avLst/>
          </a:prstGeom>
          <a:noFill/>
          <a:ln w="0">
            <a:noFill/>
          </a:ln>
        </p:spPr>
        <p:style>
          <a:lnRef idx="0"/>
          <a:fillRef idx="0"/>
          <a:effectRef idx="0"/>
          <a:fontRef idx="minor"/>
        </p:style>
        <p:txBody>
          <a:bodyPr lIns="25560" tIns="25560" rIns="25560" bIns="25560" anchor="t">
            <a:noAutofit/>
          </a:bodyPr>
          <a:p>
            <a:pPr>
              <a:lnSpc>
                <a:spcPct val="114000"/>
              </a:lnSpc>
              <a:tabLst>
                <a:tab pos="0" algn="l"/>
              </a:tabLst>
            </a:pPr>
            <a:r>
              <a:rPr lang="en-US" sz="1950" b="0" u="none" strike="noStrike">
                <a:solidFill>
                  <a:srgbClr val="DBE4EE"/>
                </a:solidFill>
                <a:effectLst/>
                <a:uFillTx/>
                <a:latin typeface="Arial"/>
                <a:ea typeface="Arial"/>
              </a:rPr>
              <a:t>Node 3 receives the full rank of both 1 and 2, then hands it back to the hub — so the loop settles with 0 and 3 sharing most of the mass.</a:t>
            </a:r>
            <a:endParaRPr lang="en-US" sz="1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193" name="Google Shape;236;p11"/>
          <p:cNvSpPr/>
          <p:nvPr/>
        </p:nvSpPr>
        <p:spPr>
          <a:xfrm>
            <a:off x="952560" y="76212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F5A524"/>
                </a:solidFill>
                <a:effectLst/>
                <a:uFillTx/>
                <a:latin typeface="Courier New"/>
                <a:ea typeface="Courier New"/>
              </a:rPr>
              <a:t>SOLUTION DEMONSTRATION</a:t>
            </a:r>
            <a:endParaRPr lang="en-US" sz="1800" b="0" u="none" strike="noStrike">
              <a:solidFill>
                <a:srgbClr val="FFFFFF"/>
              </a:solidFill>
              <a:effectLst/>
              <a:uFillTx/>
              <a:latin typeface="Arial"/>
            </a:endParaRPr>
          </a:p>
        </p:txBody>
      </p:sp>
      <p:sp>
        <p:nvSpPr>
          <p:cNvPr id="194" name="Google Shape;237;p11"/>
          <p:cNvSpPr/>
          <p:nvPr/>
        </p:nvSpPr>
        <p:spPr>
          <a:xfrm>
            <a:off x="952560" y="1120680"/>
            <a:ext cx="643680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 · Q3 — WORKED EXAMPLE 2</a:t>
            </a:r>
            <a:endParaRPr lang="en-US" sz="1800" b="0" u="none" strike="noStrike">
              <a:solidFill>
                <a:srgbClr val="FFFFFF"/>
              </a:solidFill>
              <a:effectLst/>
              <a:uFillTx/>
              <a:latin typeface="Arial"/>
            </a:endParaRPr>
          </a:p>
        </p:txBody>
      </p:sp>
      <p:sp>
        <p:nvSpPr>
          <p:cNvPr id="195" name="Google Shape;238;p11"/>
          <p:cNvSpPr/>
          <p:nvPr/>
        </p:nvSpPr>
        <p:spPr>
          <a:xfrm>
            <a:off x="12946320" y="1120680"/>
            <a:ext cx="48272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N = 4 · d = 0.85 · outdeg(3) = 0</a:t>
            </a:r>
            <a:endParaRPr lang="en-US" sz="1800" b="0" u="none" strike="noStrike">
              <a:solidFill>
                <a:srgbClr val="FFFFFF"/>
              </a:solidFill>
              <a:effectLst/>
              <a:uFillTx/>
              <a:latin typeface="Arial"/>
            </a:endParaRPr>
          </a:p>
        </p:txBody>
      </p:sp>
      <p:sp>
        <p:nvSpPr>
          <p:cNvPr id="196" name="Google Shape;239;p11"/>
          <p:cNvSpPr/>
          <p:nvPr/>
        </p:nvSpPr>
        <p:spPr>
          <a:xfrm>
            <a:off x="952560" y="1555920"/>
            <a:ext cx="18020520" cy="720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200" b="1" u="none" strike="noStrike">
                <a:solidFill>
                  <a:srgbClr val="EEF2F7"/>
                </a:solidFill>
                <a:effectLst/>
                <a:uFillTx/>
                <a:latin typeface="Arial"/>
                <a:ea typeface="Arial"/>
              </a:rPr>
              <a:t>Example 2 — what happens when a page has nowhere to go?</a:t>
            </a:r>
            <a:endParaRPr lang="en-US" sz="4200" b="0" u="none" strike="noStrike">
              <a:solidFill>
                <a:srgbClr val="FFFFFF"/>
              </a:solidFill>
              <a:effectLst/>
              <a:uFillTx/>
              <a:latin typeface="Arial"/>
            </a:endParaRPr>
          </a:p>
        </p:txBody>
      </p:sp>
      <p:pic>
        <p:nvPicPr>
          <p:cNvPr id="197" name="Google Shape;240;p11" descr="preencoded.png"/>
          <p:cNvPicPr/>
          <p:nvPr/>
        </p:nvPicPr>
        <p:blipFill>
          <a:blip r:embed="rId1"/>
          <a:stretch/>
        </p:blipFill>
        <p:spPr>
          <a:xfrm>
            <a:off x="952560" y="3032280"/>
            <a:ext cx="8476560" cy="5714280"/>
          </a:xfrm>
          <a:prstGeom prst="rect">
            <a:avLst/>
          </a:prstGeom>
          <a:noFill/>
          <a:ln w="0">
            <a:noFill/>
          </a:ln>
        </p:spPr>
      </p:pic>
      <p:sp>
        <p:nvSpPr>
          <p:cNvPr id="198" name="Google Shape;241;p11"/>
          <p:cNvSpPr/>
          <p:nvPr/>
        </p:nvSpPr>
        <p:spPr>
          <a:xfrm>
            <a:off x="952560" y="8848080"/>
            <a:ext cx="932436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5B6A7D"/>
                </a:solidFill>
                <a:effectLst/>
                <a:uFillTx/>
                <a:latin typeface="Courier New"/>
                <a:ea typeface="Courier New"/>
              </a:rPr>
              <a:t>outdeg: 0:1 · 1:2 · 2:1 · 3:0</a:t>
            </a:r>
            <a:endParaRPr lang="en-US" sz="1870" b="0" u="none" strike="noStrike">
              <a:solidFill>
                <a:srgbClr val="FFFFFF"/>
              </a:solidFill>
              <a:effectLst/>
              <a:uFillTx/>
              <a:latin typeface="Arial"/>
            </a:endParaRPr>
          </a:p>
        </p:txBody>
      </p:sp>
      <p:sp>
        <p:nvSpPr>
          <p:cNvPr id="199" name="Google Shape;242;p11"/>
          <p:cNvSpPr/>
          <p:nvPr/>
        </p:nvSpPr>
        <p:spPr>
          <a:xfrm>
            <a:off x="10096560" y="2390760"/>
            <a:ext cx="1963440" cy="6408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ITERATION 01</a:t>
            </a:r>
            <a:endParaRPr lang="en-US" sz="1800" b="0" u="none" strike="noStrike">
              <a:solidFill>
                <a:srgbClr val="FFFFFF"/>
              </a:solidFill>
              <a:effectLst/>
              <a:uFillTx/>
              <a:latin typeface="Arial"/>
            </a:endParaRPr>
          </a:p>
        </p:txBody>
      </p:sp>
      <p:sp>
        <p:nvSpPr>
          <p:cNvPr id="200" name="Google Shape;243;p11"/>
          <p:cNvSpPr/>
          <p:nvPr/>
        </p:nvSpPr>
        <p:spPr>
          <a:xfrm>
            <a:off x="12365640" y="2390760"/>
            <a:ext cx="5118480" cy="6408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A9B6C6"/>
                </a:solidFill>
                <a:effectLst/>
                <a:uFillTx/>
                <a:latin typeface="Courier New"/>
                <a:ea typeface="Courier New"/>
              </a:rPr>
              <a:t>base = 0.0375 · dangling term = 0.053125</a:t>
            </a:r>
            <a:endParaRPr lang="en-US" sz="1800" b="0" u="none" strike="noStrike">
              <a:solidFill>
                <a:srgbClr val="FFFFFF"/>
              </a:solidFill>
              <a:effectLst/>
              <a:uFillTx/>
              <a:latin typeface="Arial"/>
            </a:endParaRPr>
          </a:p>
        </p:txBody>
      </p:sp>
      <p:sp>
        <p:nvSpPr>
          <p:cNvPr id="201" name="Google Shape;244;p11"/>
          <p:cNvSpPr/>
          <p:nvPr/>
        </p:nvSpPr>
        <p:spPr>
          <a:xfrm>
            <a:off x="10096560" y="3184560"/>
            <a:ext cx="1361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NODE</a:t>
            </a:r>
            <a:endParaRPr lang="en-US" sz="1800" b="0" u="none" strike="noStrike">
              <a:solidFill>
                <a:srgbClr val="FFFFFF"/>
              </a:solidFill>
              <a:effectLst/>
              <a:uFillTx/>
              <a:latin typeface="Arial"/>
            </a:endParaRPr>
          </a:p>
        </p:txBody>
      </p:sp>
      <p:sp>
        <p:nvSpPr>
          <p:cNvPr id="202" name="Google Shape;245;p11"/>
          <p:cNvSpPr/>
          <p:nvPr/>
        </p:nvSpPr>
        <p:spPr>
          <a:xfrm>
            <a:off x="11525400" y="3184560"/>
            <a:ext cx="4609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UPDATE</a:t>
            </a:r>
            <a:endParaRPr lang="en-US" sz="1800" b="0" u="none" strike="noStrike">
              <a:solidFill>
                <a:srgbClr val="FFFFFF"/>
              </a:solidFill>
              <a:effectLst/>
              <a:uFillTx/>
              <a:latin typeface="Arial"/>
            </a:endParaRPr>
          </a:p>
        </p:txBody>
      </p:sp>
      <p:sp>
        <p:nvSpPr>
          <p:cNvPr id="203" name="Google Shape;246;p11"/>
          <p:cNvSpPr/>
          <p:nvPr/>
        </p:nvSpPr>
        <p:spPr>
          <a:xfrm>
            <a:off x="15764040" y="3184560"/>
            <a:ext cx="1571040" cy="33912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00" b="0" u="none" strike="noStrike">
                <a:solidFill>
                  <a:srgbClr val="5B6A7D"/>
                </a:solidFill>
                <a:effectLst/>
                <a:uFillTx/>
                <a:latin typeface="Courier New"/>
                <a:ea typeface="Courier New"/>
              </a:rPr>
              <a:t>VALUE</a:t>
            </a:r>
            <a:endParaRPr lang="en-US" sz="1800" b="0" u="none" strike="noStrike">
              <a:solidFill>
                <a:srgbClr val="FFFFFF"/>
              </a:solidFill>
              <a:effectLst/>
              <a:uFillTx/>
              <a:latin typeface="Arial"/>
            </a:endParaRPr>
          </a:p>
        </p:txBody>
      </p:sp>
      <p:sp>
        <p:nvSpPr>
          <p:cNvPr id="204" name="Google Shape;247;p11"/>
          <p:cNvSpPr/>
          <p:nvPr/>
        </p:nvSpPr>
        <p:spPr>
          <a:xfrm>
            <a:off x="10096560" y="361944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9EC6FF"/>
                </a:solidFill>
                <a:effectLst/>
                <a:uFillTx/>
                <a:latin typeface="Courier New"/>
                <a:ea typeface="Courier New"/>
              </a:rPr>
              <a:t>PR[0]</a:t>
            </a:r>
            <a:endParaRPr lang="en-US" sz="1870" b="0" u="none" strike="noStrike">
              <a:solidFill>
                <a:srgbClr val="FFFFFF"/>
              </a:solidFill>
              <a:effectLst/>
              <a:uFillTx/>
              <a:latin typeface="Arial"/>
            </a:endParaRPr>
          </a:p>
        </p:txBody>
      </p:sp>
      <p:sp>
        <p:nvSpPr>
          <p:cNvPr id="205" name="Google Shape;248;p11"/>
          <p:cNvSpPr/>
          <p:nvPr/>
        </p:nvSpPr>
        <p:spPr>
          <a:xfrm>
            <a:off x="11525400" y="361944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base + 0.85×PR[2] + dngl</a:t>
            </a:r>
            <a:endParaRPr lang="en-US" sz="1870" b="0" u="none" strike="noStrike">
              <a:solidFill>
                <a:srgbClr val="FFFFFF"/>
              </a:solidFill>
              <a:effectLst/>
              <a:uFillTx/>
              <a:latin typeface="Arial"/>
            </a:endParaRPr>
          </a:p>
        </p:txBody>
      </p:sp>
      <p:sp>
        <p:nvSpPr>
          <p:cNvPr id="206" name="Google Shape;249;p11"/>
          <p:cNvSpPr/>
          <p:nvPr/>
        </p:nvSpPr>
        <p:spPr>
          <a:xfrm>
            <a:off x="15764040" y="361944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0.3031</a:t>
            </a:r>
            <a:endParaRPr lang="en-US" sz="1870" b="0" u="none" strike="noStrike">
              <a:solidFill>
                <a:srgbClr val="FFFFFF"/>
              </a:solidFill>
              <a:effectLst/>
              <a:uFillTx/>
              <a:latin typeface="Arial"/>
            </a:endParaRPr>
          </a:p>
        </p:txBody>
      </p:sp>
      <p:sp>
        <p:nvSpPr>
          <p:cNvPr id="207" name="Google Shape;250;p11"/>
          <p:cNvSpPr/>
          <p:nvPr/>
        </p:nvSpPr>
        <p:spPr>
          <a:xfrm>
            <a:off x="10096560" y="406656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9EC6FF"/>
                </a:solidFill>
                <a:effectLst/>
                <a:uFillTx/>
                <a:latin typeface="Courier New"/>
                <a:ea typeface="Courier New"/>
              </a:rPr>
              <a:t>PR[1]</a:t>
            </a:r>
            <a:endParaRPr lang="en-US" sz="1870" b="0" u="none" strike="noStrike">
              <a:solidFill>
                <a:srgbClr val="FFFFFF"/>
              </a:solidFill>
              <a:effectLst/>
              <a:uFillTx/>
              <a:latin typeface="Arial"/>
            </a:endParaRPr>
          </a:p>
        </p:txBody>
      </p:sp>
      <p:sp>
        <p:nvSpPr>
          <p:cNvPr id="208" name="Google Shape;251;p11"/>
          <p:cNvSpPr/>
          <p:nvPr/>
        </p:nvSpPr>
        <p:spPr>
          <a:xfrm>
            <a:off x="11525400" y="406656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base + 0.85×PR[0] + dngl</a:t>
            </a:r>
            <a:endParaRPr lang="en-US" sz="1870" b="0" u="none" strike="noStrike">
              <a:solidFill>
                <a:srgbClr val="FFFFFF"/>
              </a:solidFill>
              <a:effectLst/>
              <a:uFillTx/>
              <a:latin typeface="Arial"/>
            </a:endParaRPr>
          </a:p>
        </p:txBody>
      </p:sp>
      <p:sp>
        <p:nvSpPr>
          <p:cNvPr id="209" name="Google Shape;252;p11"/>
          <p:cNvSpPr/>
          <p:nvPr/>
        </p:nvSpPr>
        <p:spPr>
          <a:xfrm>
            <a:off x="15764040" y="406656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0.3031</a:t>
            </a:r>
            <a:endParaRPr lang="en-US" sz="1870" b="0" u="none" strike="noStrike">
              <a:solidFill>
                <a:srgbClr val="FFFFFF"/>
              </a:solidFill>
              <a:effectLst/>
              <a:uFillTx/>
              <a:latin typeface="Arial"/>
            </a:endParaRPr>
          </a:p>
        </p:txBody>
      </p:sp>
      <p:sp>
        <p:nvSpPr>
          <p:cNvPr id="210" name="Google Shape;253;p11"/>
          <p:cNvSpPr/>
          <p:nvPr/>
        </p:nvSpPr>
        <p:spPr>
          <a:xfrm>
            <a:off x="10096560" y="451332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9EC6FF"/>
                </a:solidFill>
                <a:effectLst/>
                <a:uFillTx/>
                <a:latin typeface="Courier New"/>
                <a:ea typeface="Courier New"/>
              </a:rPr>
              <a:t>PR[2]</a:t>
            </a:r>
            <a:endParaRPr lang="en-US" sz="1870" b="0" u="none" strike="noStrike">
              <a:solidFill>
                <a:srgbClr val="FFFFFF"/>
              </a:solidFill>
              <a:effectLst/>
              <a:uFillTx/>
              <a:latin typeface="Arial"/>
            </a:endParaRPr>
          </a:p>
        </p:txBody>
      </p:sp>
      <p:sp>
        <p:nvSpPr>
          <p:cNvPr id="211" name="Google Shape;254;p11"/>
          <p:cNvSpPr/>
          <p:nvPr/>
        </p:nvSpPr>
        <p:spPr>
          <a:xfrm>
            <a:off x="11525400" y="451332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base + 0.85×(PR[1]/2) + dngl</a:t>
            </a:r>
            <a:endParaRPr lang="en-US" sz="1870" b="0" u="none" strike="noStrike">
              <a:solidFill>
                <a:srgbClr val="FFFFFF"/>
              </a:solidFill>
              <a:effectLst/>
              <a:uFillTx/>
              <a:latin typeface="Arial"/>
            </a:endParaRPr>
          </a:p>
        </p:txBody>
      </p:sp>
      <p:sp>
        <p:nvSpPr>
          <p:cNvPr id="212" name="Google Shape;255;p11"/>
          <p:cNvSpPr/>
          <p:nvPr/>
        </p:nvSpPr>
        <p:spPr>
          <a:xfrm>
            <a:off x="15764040" y="451332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0.1969</a:t>
            </a:r>
            <a:endParaRPr lang="en-US" sz="1870" b="0" u="none" strike="noStrike">
              <a:solidFill>
                <a:srgbClr val="FFFFFF"/>
              </a:solidFill>
              <a:effectLst/>
              <a:uFillTx/>
              <a:latin typeface="Arial"/>
            </a:endParaRPr>
          </a:p>
        </p:txBody>
      </p:sp>
      <p:sp>
        <p:nvSpPr>
          <p:cNvPr id="213" name="Google Shape;256;p11"/>
          <p:cNvSpPr/>
          <p:nvPr/>
        </p:nvSpPr>
        <p:spPr>
          <a:xfrm>
            <a:off x="10096560" y="4960080"/>
            <a:ext cx="136152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FF8A8A"/>
                </a:solidFill>
                <a:effectLst/>
                <a:uFillTx/>
                <a:latin typeface="Courier New"/>
                <a:ea typeface="Courier New"/>
              </a:rPr>
              <a:t>PR[3]</a:t>
            </a:r>
            <a:endParaRPr lang="en-US" sz="1870" b="0" u="none" strike="noStrike">
              <a:solidFill>
                <a:srgbClr val="FFFFFF"/>
              </a:solidFill>
              <a:effectLst/>
              <a:uFillTx/>
              <a:latin typeface="Arial"/>
            </a:endParaRPr>
          </a:p>
        </p:txBody>
      </p:sp>
      <p:sp>
        <p:nvSpPr>
          <p:cNvPr id="214" name="Google Shape;257;p11"/>
          <p:cNvSpPr/>
          <p:nvPr/>
        </p:nvSpPr>
        <p:spPr>
          <a:xfrm>
            <a:off x="11525400" y="4960080"/>
            <a:ext cx="46094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A9B6C6"/>
                </a:solidFill>
                <a:effectLst/>
                <a:uFillTx/>
                <a:latin typeface="Courier New"/>
                <a:ea typeface="Courier New"/>
              </a:rPr>
              <a:t>base + 0.85×(PR[1]/2) + dngl</a:t>
            </a:r>
            <a:endParaRPr lang="en-US" sz="1870" b="0" u="none" strike="noStrike">
              <a:solidFill>
                <a:srgbClr val="FFFFFF"/>
              </a:solidFill>
              <a:effectLst/>
              <a:uFillTx/>
              <a:latin typeface="Arial"/>
            </a:endParaRPr>
          </a:p>
        </p:txBody>
      </p:sp>
      <p:sp>
        <p:nvSpPr>
          <p:cNvPr id="215" name="Google Shape;258;p11"/>
          <p:cNvSpPr/>
          <p:nvPr/>
        </p:nvSpPr>
        <p:spPr>
          <a:xfrm>
            <a:off x="15764040" y="4960080"/>
            <a:ext cx="1571040" cy="351000"/>
          </a:xfrm>
          <a:prstGeom prst="rect">
            <a:avLst/>
          </a:prstGeom>
          <a:noFill/>
          <a:ln w="0">
            <a:noFill/>
          </a:ln>
        </p:spPr>
        <p:style>
          <a:lnRef idx="0"/>
          <a:fillRef idx="0"/>
          <a:effectRef idx="0"/>
          <a:fontRef idx="minor"/>
        </p:style>
        <p:txBody>
          <a:bodyPr lIns="25560" tIns="25560" rIns="25560" bIns="25560" anchor="t">
            <a:noAutofit/>
          </a:bodyPr>
          <a:p>
            <a:pPr algn="r">
              <a:lnSpc>
                <a:spcPct val="100000"/>
              </a:lnSpc>
              <a:tabLst>
                <a:tab pos="0" algn="l"/>
              </a:tabLst>
            </a:pPr>
            <a:r>
              <a:rPr lang="en-US" sz="1870" b="0" u="none" strike="noStrike">
                <a:solidFill>
                  <a:srgbClr val="EEF2F7"/>
                </a:solidFill>
                <a:effectLst/>
                <a:uFillTx/>
                <a:latin typeface="Courier New"/>
                <a:ea typeface="Courier New"/>
              </a:rPr>
              <a:t>0.1969</a:t>
            </a:r>
            <a:endParaRPr lang="en-US" sz="1870" b="0" u="none" strike="noStrike">
              <a:solidFill>
                <a:srgbClr val="FFFFFF"/>
              </a:solidFill>
              <a:effectLst/>
              <a:uFillTx/>
              <a:latin typeface="Arial"/>
            </a:endParaRPr>
          </a:p>
        </p:txBody>
      </p:sp>
      <p:sp>
        <p:nvSpPr>
          <p:cNvPr id="216" name="Google Shape;259;p11"/>
          <p:cNvSpPr/>
          <p:nvPr/>
        </p:nvSpPr>
        <p:spPr>
          <a:xfrm>
            <a:off x="10096560" y="5464080"/>
            <a:ext cx="7962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7A8A9C"/>
                </a:solidFill>
                <a:effectLst/>
                <a:uFillTx/>
                <a:latin typeface="Courier New"/>
                <a:ea typeface="Courier New"/>
              </a:rPr>
              <a:t>error after iteration 1 = 0.2125</a:t>
            </a:r>
            <a:endParaRPr lang="en-US" sz="1800" b="0" u="none" strike="noStrike">
              <a:solidFill>
                <a:srgbClr val="FFFFFF"/>
              </a:solidFill>
              <a:effectLst/>
              <a:uFillTx/>
              <a:latin typeface="Arial"/>
            </a:endParaRPr>
          </a:p>
        </p:txBody>
      </p:sp>
      <p:sp>
        <p:nvSpPr>
          <p:cNvPr id="217" name="Google Shape;260;p11"/>
          <p:cNvSpPr/>
          <p:nvPr/>
        </p:nvSpPr>
        <p:spPr>
          <a:xfrm>
            <a:off x="10096560" y="5956200"/>
            <a:ext cx="79621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ITERATION 02</a:t>
            </a:r>
            <a:endParaRPr lang="en-US" sz="1800" b="0" u="none" strike="noStrike">
              <a:solidFill>
                <a:srgbClr val="FFFFFF"/>
              </a:solidFill>
              <a:effectLst/>
              <a:uFillTx/>
              <a:latin typeface="Arial"/>
            </a:endParaRPr>
          </a:p>
        </p:txBody>
      </p:sp>
      <p:sp>
        <p:nvSpPr>
          <p:cNvPr id="218" name="Google Shape;261;p11"/>
          <p:cNvSpPr/>
          <p:nvPr/>
        </p:nvSpPr>
        <p:spPr>
          <a:xfrm>
            <a:off x="10096560" y="6315120"/>
            <a:ext cx="7455600" cy="6408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A9B6C6"/>
                </a:solidFill>
                <a:effectLst/>
                <a:uFillTx/>
                <a:latin typeface="Courier New"/>
                <a:ea typeface="Courier New"/>
              </a:rPr>
              <a:t>PR = (0.2467, 0.3370, 0.2082, 0.2082) · error = 0.1129</a:t>
            </a:r>
            <a:endParaRPr lang="en-US" sz="1800" b="0" u="none" strike="noStrike">
              <a:solidFill>
                <a:srgbClr val="FFFFFF"/>
              </a:solidFill>
              <a:effectLst/>
              <a:uFillTx/>
              <a:latin typeface="Arial"/>
            </a:endParaRPr>
          </a:p>
        </p:txBody>
      </p:sp>
      <p:sp>
        <p:nvSpPr>
          <p:cNvPr id="219" name="Google Shape;262;p11"/>
          <p:cNvSpPr/>
          <p:nvPr/>
        </p:nvSpPr>
        <p:spPr>
          <a:xfrm>
            <a:off x="10096560" y="7108920"/>
            <a:ext cx="7238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220" name="Google Shape;263;p11"/>
          <p:cNvSpPr/>
          <p:nvPr/>
        </p:nvSpPr>
        <p:spPr>
          <a:xfrm>
            <a:off x="10096560" y="7482600"/>
            <a:ext cx="17186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3DDC97"/>
                </a:solidFill>
                <a:effectLst/>
                <a:uFillTx/>
                <a:latin typeface="Courier New"/>
                <a:ea typeface="Courier New"/>
              </a:rPr>
              <a:t>CONVERGED</a:t>
            </a:r>
            <a:endParaRPr lang="en-US" sz="1800" b="0" u="none" strike="noStrike">
              <a:solidFill>
                <a:srgbClr val="FFFFFF"/>
              </a:solidFill>
              <a:effectLst/>
              <a:uFillTx/>
              <a:latin typeface="Arial"/>
            </a:endParaRPr>
          </a:p>
        </p:txBody>
      </p:sp>
      <p:sp>
        <p:nvSpPr>
          <p:cNvPr id="221" name="Google Shape;264;p11"/>
          <p:cNvSpPr/>
          <p:nvPr/>
        </p:nvSpPr>
        <p:spPr>
          <a:xfrm>
            <a:off x="11850120" y="7288200"/>
            <a:ext cx="578520" cy="5929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3300" b="1" u="none" strike="noStrike">
                <a:solidFill>
                  <a:srgbClr val="EEF2F7"/>
                </a:solidFill>
                <a:effectLst/>
                <a:uFillTx/>
                <a:latin typeface="Courier New"/>
                <a:ea typeface="Courier New"/>
              </a:rPr>
              <a:t>32</a:t>
            </a:r>
            <a:endParaRPr lang="en-US" sz="3300" b="0" u="none" strike="noStrike">
              <a:solidFill>
                <a:srgbClr val="FFFFFF"/>
              </a:solidFill>
              <a:effectLst/>
              <a:uFillTx/>
              <a:latin typeface="Arial"/>
            </a:endParaRPr>
          </a:p>
        </p:txBody>
      </p:sp>
      <p:sp>
        <p:nvSpPr>
          <p:cNvPr id="222" name="Google Shape;265;p11"/>
          <p:cNvSpPr/>
          <p:nvPr/>
        </p:nvSpPr>
        <p:spPr>
          <a:xfrm>
            <a:off x="12543480" y="7472880"/>
            <a:ext cx="12261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8B9AAB"/>
                </a:solidFill>
                <a:effectLst/>
                <a:uFillTx/>
                <a:latin typeface="Arial"/>
                <a:ea typeface="Arial"/>
              </a:rPr>
              <a:t>iterations</a:t>
            </a:r>
            <a:endParaRPr lang="en-US" sz="1950" b="0" u="none" strike="noStrike">
              <a:solidFill>
                <a:srgbClr val="FFFFFF"/>
              </a:solidFill>
              <a:effectLst/>
              <a:uFillTx/>
              <a:latin typeface="Arial"/>
            </a:endParaRPr>
          </a:p>
        </p:txBody>
      </p:sp>
      <p:sp>
        <p:nvSpPr>
          <p:cNvPr id="223" name="Google Shape;266;p11"/>
          <p:cNvSpPr/>
          <p:nvPr/>
        </p:nvSpPr>
        <p:spPr>
          <a:xfrm>
            <a:off x="10096560" y="797724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PR[0]</a:t>
            </a:r>
            <a:endParaRPr lang="en-US" sz="1800" b="0" u="none" strike="noStrike">
              <a:solidFill>
                <a:srgbClr val="FFFFFF"/>
              </a:solidFill>
              <a:effectLst/>
              <a:uFillTx/>
              <a:latin typeface="Arial"/>
            </a:endParaRPr>
          </a:p>
        </p:txBody>
      </p:sp>
      <p:sp>
        <p:nvSpPr>
          <p:cNvPr id="224" name="Google Shape;267;p11"/>
          <p:cNvSpPr/>
          <p:nvPr/>
        </p:nvSpPr>
        <p:spPr>
          <a:xfrm>
            <a:off x="10096560" y="827892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EEF2F7"/>
                </a:solidFill>
                <a:effectLst/>
                <a:uFillTx/>
                <a:latin typeface="Courier New"/>
                <a:ea typeface="Courier New"/>
              </a:rPr>
              <a:t>0.2646</a:t>
            </a:r>
            <a:endParaRPr lang="en-US" sz="2550" b="0" u="none" strike="noStrike">
              <a:solidFill>
                <a:srgbClr val="FFFFFF"/>
              </a:solidFill>
              <a:effectLst/>
              <a:uFillTx/>
              <a:latin typeface="Arial"/>
            </a:endParaRPr>
          </a:p>
        </p:txBody>
      </p:sp>
      <p:sp>
        <p:nvSpPr>
          <p:cNvPr id="225" name="Google Shape;268;p11"/>
          <p:cNvSpPr/>
          <p:nvPr/>
        </p:nvSpPr>
        <p:spPr>
          <a:xfrm>
            <a:off x="11963520" y="797724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PR[1]</a:t>
            </a:r>
            <a:endParaRPr lang="en-US" sz="1800" b="0" u="none" strike="noStrike">
              <a:solidFill>
                <a:srgbClr val="FFFFFF"/>
              </a:solidFill>
              <a:effectLst/>
              <a:uFillTx/>
              <a:latin typeface="Arial"/>
            </a:endParaRPr>
          </a:p>
        </p:txBody>
      </p:sp>
      <p:sp>
        <p:nvSpPr>
          <p:cNvPr id="226" name="Google Shape;269;p11"/>
          <p:cNvSpPr/>
          <p:nvPr/>
        </p:nvSpPr>
        <p:spPr>
          <a:xfrm>
            <a:off x="11963520" y="827892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EEF2F7"/>
                </a:solidFill>
                <a:effectLst/>
                <a:uFillTx/>
                <a:latin typeface="Courier New"/>
                <a:ea typeface="Courier New"/>
              </a:rPr>
              <a:t>0.3079</a:t>
            </a:r>
            <a:endParaRPr lang="en-US" sz="2550" b="0" u="none" strike="noStrike">
              <a:solidFill>
                <a:srgbClr val="FFFFFF"/>
              </a:solidFill>
              <a:effectLst/>
              <a:uFillTx/>
              <a:latin typeface="Arial"/>
            </a:endParaRPr>
          </a:p>
        </p:txBody>
      </p:sp>
      <p:sp>
        <p:nvSpPr>
          <p:cNvPr id="227" name="Google Shape;270;p11"/>
          <p:cNvSpPr/>
          <p:nvPr/>
        </p:nvSpPr>
        <p:spPr>
          <a:xfrm>
            <a:off x="13830480" y="797724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PR[2]</a:t>
            </a:r>
            <a:endParaRPr lang="en-US" sz="1800" b="0" u="none" strike="noStrike">
              <a:solidFill>
                <a:srgbClr val="FFFFFF"/>
              </a:solidFill>
              <a:effectLst/>
              <a:uFillTx/>
              <a:latin typeface="Arial"/>
            </a:endParaRPr>
          </a:p>
        </p:txBody>
      </p:sp>
      <p:sp>
        <p:nvSpPr>
          <p:cNvPr id="228" name="Google Shape;271;p11"/>
          <p:cNvSpPr/>
          <p:nvPr/>
        </p:nvSpPr>
        <p:spPr>
          <a:xfrm>
            <a:off x="13830480" y="827892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8B9AAB"/>
                </a:solidFill>
                <a:effectLst/>
                <a:uFillTx/>
                <a:latin typeface="Courier New"/>
                <a:ea typeface="Courier New"/>
              </a:rPr>
              <a:t>0.2138</a:t>
            </a:r>
            <a:endParaRPr lang="en-US" sz="2550" b="0" u="none" strike="noStrike">
              <a:solidFill>
                <a:srgbClr val="FFFFFF"/>
              </a:solidFill>
              <a:effectLst/>
              <a:uFillTx/>
              <a:latin typeface="Arial"/>
            </a:endParaRPr>
          </a:p>
        </p:txBody>
      </p:sp>
      <p:sp>
        <p:nvSpPr>
          <p:cNvPr id="229" name="Google Shape;272;p11"/>
          <p:cNvSpPr/>
          <p:nvPr/>
        </p:nvSpPr>
        <p:spPr>
          <a:xfrm>
            <a:off x="15697080" y="7977240"/>
            <a:ext cx="180144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PR[3]</a:t>
            </a:r>
            <a:endParaRPr lang="en-US" sz="1800" b="0" u="none" strike="noStrike">
              <a:solidFill>
                <a:srgbClr val="FFFFFF"/>
              </a:solidFill>
              <a:effectLst/>
              <a:uFillTx/>
              <a:latin typeface="Arial"/>
            </a:endParaRPr>
          </a:p>
        </p:txBody>
      </p:sp>
      <p:sp>
        <p:nvSpPr>
          <p:cNvPr id="230" name="Google Shape;273;p11"/>
          <p:cNvSpPr/>
          <p:nvPr/>
        </p:nvSpPr>
        <p:spPr>
          <a:xfrm>
            <a:off x="15697080" y="8278920"/>
            <a:ext cx="1801440" cy="465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550" b="0" u="none" strike="noStrike">
                <a:solidFill>
                  <a:srgbClr val="8B9AAB"/>
                </a:solidFill>
                <a:effectLst/>
                <a:uFillTx/>
                <a:latin typeface="Courier New"/>
                <a:ea typeface="Courier New"/>
              </a:rPr>
              <a:t>0.2138</a:t>
            </a:r>
            <a:endParaRPr lang="en-US" sz="2550" b="0" u="none" strike="noStrike">
              <a:solidFill>
                <a:srgbClr val="FFFFFF"/>
              </a:solidFill>
              <a:effectLst/>
              <a:uFillTx/>
              <a:latin typeface="Arial"/>
            </a:endParaRPr>
          </a:p>
        </p:txBody>
      </p:sp>
      <p:sp>
        <p:nvSpPr>
          <p:cNvPr id="231" name="Google Shape;274;p11"/>
          <p:cNvSpPr/>
          <p:nvPr/>
        </p:nvSpPr>
        <p:spPr>
          <a:xfrm>
            <a:off x="10096560" y="8897760"/>
            <a:ext cx="7238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232" name="Google Shape;275;p11"/>
          <p:cNvSpPr/>
          <p:nvPr/>
        </p:nvSpPr>
        <p:spPr>
          <a:xfrm>
            <a:off x="10096560" y="9134640"/>
            <a:ext cx="2746440" cy="705960"/>
          </a:xfrm>
          <a:prstGeom prst="rect">
            <a:avLst/>
          </a:prstGeom>
          <a:noFill/>
          <a:ln w="0">
            <a:noFill/>
          </a:ln>
        </p:spPr>
        <p:style>
          <a:lnRef idx="0"/>
          <a:fillRef idx="0"/>
          <a:effectRef idx="0"/>
          <a:fontRef idx="minor"/>
        </p:style>
        <p:txBody>
          <a:bodyPr lIns="25560" tIns="25560" rIns="25560" bIns="25560" anchor="t">
            <a:noAutofit/>
          </a:bodyPr>
          <a:p>
            <a:pPr>
              <a:lnSpc>
                <a:spcPct val="118000"/>
              </a:lnSpc>
              <a:tabLst>
                <a:tab pos="0" algn="l"/>
              </a:tabLst>
            </a:pPr>
            <a:r>
              <a:rPr lang="en-US" sz="1950" b="0" u="none" strike="noStrike">
                <a:solidFill>
                  <a:srgbClr val="E05252"/>
                </a:solidFill>
                <a:effectLst/>
                <a:uFillTx/>
                <a:latin typeface="Arial"/>
                <a:ea typeface="Arial"/>
              </a:rPr>
              <a:t>Without redistribution rank leaks</a:t>
            </a:r>
            <a:endParaRPr lang="en-US" sz="1950" b="0" u="none" strike="noStrike">
              <a:solidFill>
                <a:srgbClr val="FFFFFF"/>
              </a:solidFill>
              <a:effectLst/>
              <a:uFillTx/>
              <a:latin typeface="Arial"/>
            </a:endParaRPr>
          </a:p>
        </p:txBody>
      </p:sp>
      <p:sp>
        <p:nvSpPr>
          <p:cNvPr id="233" name="Google Shape;276;p11"/>
          <p:cNvSpPr/>
          <p:nvPr/>
        </p:nvSpPr>
        <p:spPr>
          <a:xfrm>
            <a:off x="13182840" y="9134640"/>
            <a:ext cx="2324160" cy="705960"/>
          </a:xfrm>
          <a:prstGeom prst="rect">
            <a:avLst/>
          </a:prstGeom>
          <a:noFill/>
          <a:ln w="0">
            <a:noFill/>
          </a:ln>
        </p:spPr>
        <p:style>
          <a:lnRef idx="0"/>
          <a:fillRef idx="0"/>
          <a:effectRef idx="0"/>
          <a:fontRef idx="minor"/>
        </p:style>
        <p:txBody>
          <a:bodyPr lIns="25560" tIns="25560" rIns="25560" bIns="25560" anchor="t">
            <a:noAutofit/>
          </a:bodyPr>
          <a:p>
            <a:pPr>
              <a:lnSpc>
                <a:spcPct val="118000"/>
              </a:lnSpc>
              <a:tabLst>
                <a:tab pos="0" algn="l"/>
              </a:tabLst>
            </a:pPr>
            <a:r>
              <a:rPr lang="en-US" sz="1950" b="0" u="none" strike="noStrike">
                <a:solidFill>
                  <a:srgbClr val="3DDC97"/>
                </a:solidFill>
                <a:effectLst/>
                <a:uFillTx/>
                <a:latin typeface="Arial"/>
                <a:ea typeface="Arial"/>
              </a:rPr>
              <a:t>With redistribution rank conserved</a:t>
            </a:r>
            <a:endParaRPr lang="en-US" sz="1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220"/>
        </a:solidFill>
      </p:bgPr>
    </p:bg>
    <p:spTree>
      <p:nvGrpSpPr>
        <p:cNvPr id="1" name=""/>
        <p:cNvGrpSpPr/>
        <p:nvPr/>
      </p:nvGrpSpPr>
      <p:grpSpPr>
        <a:xfrm>
          <a:off x="0" y="0"/>
          <a:ext cx="0" cy="0"/>
          <a:chOff x="0" y="0"/>
          <a:chExt cx="0" cy="0"/>
        </a:xfrm>
      </p:grpSpPr>
      <p:sp>
        <p:nvSpPr>
          <p:cNvPr id="234" name="TextBox 281"/>
          <p:cNvSpPr/>
          <p:nvPr/>
        </p:nvSpPr>
        <p:spPr>
          <a:xfrm>
            <a:off x="731520" y="320040"/>
            <a:ext cx="16458480" cy="2919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400" b="1" u="none" strike="noStrike">
                <a:solidFill>
                  <a:srgbClr val="5FD3DC"/>
                </a:solidFill>
                <a:effectLst/>
                <a:uFillTx/>
                <a:latin typeface="Courier New"/>
                <a:ea typeface="Arial"/>
              </a:rPr>
              <a:t>MODULE I · Q4–Q5 — SERIAL IMPLEMENTATION</a:t>
            </a:r>
            <a:endParaRPr lang="en-US" sz="1400" b="0" u="none" strike="noStrike">
              <a:solidFill>
                <a:srgbClr val="FFFFFF"/>
              </a:solidFill>
              <a:effectLst/>
              <a:uFillTx/>
              <a:latin typeface="Arial"/>
            </a:endParaRPr>
          </a:p>
        </p:txBody>
      </p:sp>
      <p:sp>
        <p:nvSpPr>
          <p:cNvPr id="235" name="TextBox 282"/>
          <p:cNvSpPr/>
          <p:nvPr/>
        </p:nvSpPr>
        <p:spPr>
          <a:xfrm>
            <a:off x="731520" y="667440"/>
            <a:ext cx="16458480" cy="5295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2800" b="1" u="none" strike="noStrike">
                <a:solidFill>
                  <a:srgbClr val="F4F7FC"/>
                </a:solidFill>
                <a:effectLst/>
                <a:uFillTx/>
                <a:latin typeface="Arial"/>
                <a:ea typeface="Arial"/>
              </a:rPr>
              <a:t>Serial PageRank: input size vs. runtime</a:t>
            </a:r>
            <a:endParaRPr lang="en-US" sz="2800" b="0" u="none" strike="noStrike">
              <a:solidFill>
                <a:srgbClr val="FFFFFF"/>
              </a:solidFill>
              <a:effectLst/>
              <a:uFillTx/>
              <a:latin typeface="Arial"/>
            </a:endParaRPr>
          </a:p>
        </p:txBody>
      </p:sp>
      <p:sp>
        <p:nvSpPr>
          <p:cNvPr id="236" name="TextBox 283"/>
          <p:cNvSpPr/>
          <p:nvPr/>
        </p:nvSpPr>
        <p:spPr>
          <a:xfrm>
            <a:off x="749880" y="1207080"/>
            <a:ext cx="16458480" cy="31032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300" b="0" u="none" strike="noStrike">
                <a:solidFill>
                  <a:srgbClr val="A4B1C6"/>
                </a:solidFill>
                <a:effectLst/>
                <a:uFillTx/>
                <a:latin typeface="Arial"/>
                <a:ea typeface="Arial"/>
              </a:rPr>
              <a:t>Input: node count N and generated edge count E. Hold graph-generation rule and ε constant.</a:t>
            </a:r>
            <a:endParaRPr lang="en-US" sz="1300" b="0" u="none" strike="noStrike">
              <a:solidFill>
                <a:srgbClr val="FFFFFF"/>
              </a:solidFill>
              <a:effectLst/>
              <a:uFillTx/>
              <a:latin typeface="Arial"/>
            </a:endParaRPr>
          </a:p>
        </p:txBody>
      </p:sp>
      <p:sp>
        <p:nvSpPr>
          <p:cNvPr id="237" name="Rounded Rectangle 284"/>
          <p:cNvSpPr/>
          <p:nvPr/>
        </p:nvSpPr>
        <p:spPr>
          <a:xfrm>
            <a:off x="777240" y="1627560"/>
            <a:ext cx="3336840" cy="6577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38" name="TextBox 285"/>
          <p:cNvSpPr/>
          <p:nvPr/>
        </p:nvSpPr>
        <p:spPr>
          <a:xfrm>
            <a:off x="868680" y="1664280"/>
            <a:ext cx="3108240" cy="20052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050" b="1" u="none" strike="noStrike">
                <a:solidFill>
                  <a:srgbClr val="5FD3DC"/>
                </a:solidFill>
                <a:effectLst/>
                <a:uFillTx/>
                <a:latin typeface="Courier New"/>
                <a:ea typeface="Arial"/>
              </a:rPr>
              <a:t>PER ITERATION</a:t>
            </a:r>
            <a:endParaRPr lang="en-US" sz="1050" b="0" u="none" strike="noStrike">
              <a:solidFill>
                <a:srgbClr val="FFFFFF"/>
              </a:solidFill>
              <a:effectLst/>
              <a:uFillTx/>
              <a:latin typeface="Arial"/>
            </a:endParaRPr>
          </a:p>
        </p:txBody>
      </p:sp>
      <p:sp>
        <p:nvSpPr>
          <p:cNvPr id="239" name="TextBox 286"/>
          <p:cNvSpPr/>
          <p:nvPr/>
        </p:nvSpPr>
        <p:spPr>
          <a:xfrm>
            <a:off x="868680" y="1874520"/>
            <a:ext cx="3108240" cy="2919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700" b="1" u="none" strike="noStrike">
                <a:solidFill>
                  <a:srgbClr val="F4F7FC"/>
                </a:solidFill>
                <a:effectLst/>
                <a:uFillTx/>
                <a:latin typeface="Arial"/>
                <a:ea typeface="Arial"/>
              </a:rPr>
              <a:t>O(N + E)</a:t>
            </a:r>
            <a:endParaRPr lang="en-US" sz="1700" b="0" u="none" strike="noStrike">
              <a:solidFill>
                <a:srgbClr val="FFFFFF"/>
              </a:solidFill>
              <a:effectLst/>
              <a:uFillTx/>
              <a:latin typeface="Arial"/>
            </a:endParaRPr>
          </a:p>
        </p:txBody>
      </p:sp>
      <p:sp>
        <p:nvSpPr>
          <p:cNvPr id="240" name="Rounded Rectangle 287"/>
          <p:cNvSpPr/>
          <p:nvPr/>
        </p:nvSpPr>
        <p:spPr>
          <a:xfrm>
            <a:off x="4389120" y="1627560"/>
            <a:ext cx="3336840" cy="6577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41" name="TextBox 288"/>
          <p:cNvSpPr/>
          <p:nvPr/>
        </p:nvSpPr>
        <p:spPr>
          <a:xfrm>
            <a:off x="4480560" y="1664280"/>
            <a:ext cx="3108240" cy="20052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050" b="1" u="none" strike="noStrike">
                <a:solidFill>
                  <a:srgbClr val="5FD3DC"/>
                </a:solidFill>
                <a:effectLst/>
                <a:uFillTx/>
                <a:latin typeface="Courier New"/>
                <a:ea typeface="Arial"/>
              </a:rPr>
              <a:t>TOTAL</a:t>
            </a:r>
            <a:endParaRPr lang="en-US" sz="1050" b="0" u="none" strike="noStrike">
              <a:solidFill>
                <a:srgbClr val="FFFFFF"/>
              </a:solidFill>
              <a:effectLst/>
              <a:uFillTx/>
              <a:latin typeface="Arial"/>
            </a:endParaRPr>
          </a:p>
        </p:txBody>
      </p:sp>
      <p:sp>
        <p:nvSpPr>
          <p:cNvPr id="242" name="TextBox 289"/>
          <p:cNvSpPr/>
          <p:nvPr/>
        </p:nvSpPr>
        <p:spPr>
          <a:xfrm>
            <a:off x="4480560" y="1874520"/>
            <a:ext cx="3108240" cy="2919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700" b="1" u="none" strike="noStrike">
                <a:solidFill>
                  <a:srgbClr val="F4F7FC"/>
                </a:solidFill>
                <a:effectLst/>
                <a:uFillTx/>
                <a:latin typeface="Arial"/>
                <a:ea typeface="Arial"/>
              </a:rPr>
              <a:t>O(I · (N + E))</a:t>
            </a:r>
            <a:endParaRPr lang="en-US" sz="1700" b="0" u="none" strike="noStrike">
              <a:solidFill>
                <a:srgbClr val="FFFFFF"/>
              </a:solidFill>
              <a:effectLst/>
              <a:uFillTx/>
              <a:latin typeface="Arial"/>
            </a:endParaRPr>
          </a:p>
        </p:txBody>
      </p:sp>
      <p:sp>
        <p:nvSpPr>
          <p:cNvPr id="243" name="Rounded Rectangle 290"/>
          <p:cNvSpPr/>
          <p:nvPr/>
        </p:nvSpPr>
        <p:spPr>
          <a:xfrm>
            <a:off x="8001000" y="1627560"/>
            <a:ext cx="3336840" cy="6577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44" name="TextBox 291"/>
          <p:cNvSpPr/>
          <p:nvPr/>
        </p:nvSpPr>
        <p:spPr>
          <a:xfrm>
            <a:off x="8092440" y="1664280"/>
            <a:ext cx="3108240" cy="20052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050" b="1" u="none" strike="noStrike">
                <a:solidFill>
                  <a:srgbClr val="5FD3DC"/>
                </a:solidFill>
                <a:effectLst/>
                <a:uFillTx/>
                <a:latin typeface="Courier New"/>
                <a:ea typeface="Arial"/>
              </a:rPr>
              <a:t>SPACE</a:t>
            </a:r>
            <a:endParaRPr lang="en-US" sz="1050" b="0" u="none" strike="noStrike">
              <a:solidFill>
                <a:srgbClr val="FFFFFF"/>
              </a:solidFill>
              <a:effectLst/>
              <a:uFillTx/>
              <a:latin typeface="Arial"/>
            </a:endParaRPr>
          </a:p>
        </p:txBody>
      </p:sp>
      <p:sp>
        <p:nvSpPr>
          <p:cNvPr id="245" name="TextBox 292"/>
          <p:cNvSpPr/>
          <p:nvPr/>
        </p:nvSpPr>
        <p:spPr>
          <a:xfrm>
            <a:off x="8092440" y="1874520"/>
            <a:ext cx="3108240" cy="2919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700" b="1" u="none" strike="noStrike">
                <a:solidFill>
                  <a:srgbClr val="F4F7FC"/>
                </a:solidFill>
                <a:effectLst/>
                <a:uFillTx/>
                <a:latin typeface="Arial"/>
                <a:ea typeface="Arial"/>
              </a:rPr>
              <a:t>O(N + E)</a:t>
            </a:r>
            <a:endParaRPr lang="en-US" sz="1700" b="0" u="none" strike="noStrike">
              <a:solidFill>
                <a:srgbClr val="FFFFFF"/>
              </a:solidFill>
              <a:effectLst/>
              <a:uFillTx/>
              <a:latin typeface="Arial"/>
            </a:endParaRPr>
          </a:p>
        </p:txBody>
      </p:sp>
      <p:sp>
        <p:nvSpPr>
          <p:cNvPr id="246" name="Rounded Rectangle 293"/>
          <p:cNvSpPr/>
          <p:nvPr/>
        </p:nvSpPr>
        <p:spPr>
          <a:xfrm>
            <a:off x="11658600" y="1627560"/>
            <a:ext cx="5577120" cy="6577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47" name="TextBox 294"/>
          <p:cNvSpPr/>
          <p:nvPr/>
        </p:nvSpPr>
        <p:spPr>
          <a:xfrm>
            <a:off x="11795760" y="1682640"/>
            <a:ext cx="5302800" cy="5295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150" b="0" u="none" strike="noStrike">
                <a:solidFill>
                  <a:srgbClr val="A4B1C6"/>
                </a:solidFill>
                <a:effectLst/>
                <a:uFillTx/>
                <a:latin typeface="Arial"/>
                <a:ea typeface="Arial"/>
              </a:rPr>
              <a:t>Input density: about 6 edges/node (existing pattern)</a:t>
            </a:r>
            <a:endParaRPr lang="en-US" sz="1150" b="0" u="none" strike="noStrike">
              <a:solidFill>
                <a:srgbClr val="FFFFFF"/>
              </a:solidFill>
              <a:effectLst/>
              <a:uFillTx/>
              <a:latin typeface="Arial"/>
            </a:endParaRPr>
          </a:p>
        </p:txBody>
      </p:sp>
      <p:sp>
        <p:nvSpPr>
          <p:cNvPr id="248" name="TextBox 295"/>
          <p:cNvSpPr/>
          <p:nvPr/>
        </p:nvSpPr>
        <p:spPr>
          <a:xfrm>
            <a:off x="777240" y="2450520"/>
            <a:ext cx="16458480" cy="2919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350" b="1" u="none" strike="noStrike">
                <a:solidFill>
                  <a:srgbClr val="5FD3DC"/>
                </a:solidFill>
                <a:effectLst/>
                <a:uFillTx/>
                <a:latin typeface="Courier New"/>
                <a:ea typeface="Arial"/>
              </a:rPr>
              <a:t>OBSERVATION TABLE  ·  N is the experiment input</a:t>
            </a:r>
            <a:endParaRPr lang="en-US" sz="1350" b="0" u="none" strike="noStrike">
              <a:solidFill>
                <a:srgbClr val="FFFFFF"/>
              </a:solidFill>
              <a:effectLst/>
              <a:uFillTx/>
              <a:latin typeface="Arial"/>
            </a:endParaRPr>
          </a:p>
        </p:txBody>
      </p:sp>
      <p:sp>
        <p:nvSpPr>
          <p:cNvPr id="249" name="Rounded Rectangle 296"/>
          <p:cNvSpPr/>
          <p:nvPr/>
        </p:nvSpPr>
        <p:spPr>
          <a:xfrm>
            <a:off x="777240" y="2779920"/>
            <a:ext cx="2742480" cy="419760"/>
          </a:xfrm>
          <a:prstGeom prst="roundRect">
            <a:avLst>
              <a:gd name="adj" fmla="val 16667"/>
            </a:avLst>
          </a:prstGeom>
          <a:solidFill>
            <a:srgbClr val="1F2D43"/>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50" name="TextBox 297"/>
          <p:cNvSpPr/>
          <p:nvPr/>
        </p:nvSpPr>
        <p:spPr>
          <a:xfrm>
            <a:off x="795600" y="2788920"/>
            <a:ext cx="2705760" cy="401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30" b="1" u="none" strike="noStrike">
                <a:solidFill>
                  <a:srgbClr val="5FD3DC"/>
                </a:solidFill>
                <a:effectLst/>
                <a:uFillTx/>
                <a:latin typeface="Arial"/>
                <a:ea typeface="Arial"/>
              </a:rPr>
              <a:t>Input nodes N</a:t>
            </a:r>
            <a:endParaRPr lang="en-US" sz="1130" b="0" u="none" strike="noStrike">
              <a:solidFill>
                <a:srgbClr val="FFFFFF"/>
              </a:solidFill>
              <a:effectLst/>
              <a:uFillTx/>
              <a:latin typeface="Arial"/>
            </a:endParaRPr>
          </a:p>
        </p:txBody>
      </p:sp>
      <p:sp>
        <p:nvSpPr>
          <p:cNvPr id="251" name="Rounded Rectangle 298"/>
          <p:cNvSpPr/>
          <p:nvPr/>
        </p:nvSpPr>
        <p:spPr>
          <a:xfrm>
            <a:off x="3520440" y="2779920"/>
            <a:ext cx="3108240" cy="419760"/>
          </a:xfrm>
          <a:prstGeom prst="roundRect">
            <a:avLst>
              <a:gd name="adj" fmla="val 16667"/>
            </a:avLst>
          </a:prstGeom>
          <a:solidFill>
            <a:srgbClr val="1F2D43"/>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52" name="TextBox 299"/>
          <p:cNvSpPr/>
          <p:nvPr/>
        </p:nvSpPr>
        <p:spPr>
          <a:xfrm>
            <a:off x="3538800" y="2788920"/>
            <a:ext cx="3071520" cy="401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30" b="1" u="none" strike="noStrike">
                <a:solidFill>
                  <a:srgbClr val="5FD3DC"/>
                </a:solidFill>
                <a:effectLst/>
                <a:uFillTx/>
                <a:latin typeface="Arial"/>
                <a:ea typeface="Arial"/>
              </a:rPr>
              <a:t>Generated edges E</a:t>
            </a:r>
            <a:endParaRPr lang="en-US" sz="1130" b="0" u="none" strike="noStrike">
              <a:solidFill>
                <a:srgbClr val="FFFFFF"/>
              </a:solidFill>
              <a:effectLst/>
              <a:uFillTx/>
              <a:latin typeface="Arial"/>
            </a:endParaRPr>
          </a:p>
        </p:txBody>
      </p:sp>
      <p:sp>
        <p:nvSpPr>
          <p:cNvPr id="253" name="Rounded Rectangle 300"/>
          <p:cNvSpPr/>
          <p:nvPr/>
        </p:nvSpPr>
        <p:spPr>
          <a:xfrm>
            <a:off x="6629400" y="2779920"/>
            <a:ext cx="2285280" cy="419760"/>
          </a:xfrm>
          <a:prstGeom prst="roundRect">
            <a:avLst>
              <a:gd name="adj" fmla="val 16667"/>
            </a:avLst>
          </a:prstGeom>
          <a:solidFill>
            <a:srgbClr val="1F2D43"/>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54" name="TextBox 301"/>
          <p:cNvSpPr/>
          <p:nvPr/>
        </p:nvSpPr>
        <p:spPr>
          <a:xfrm>
            <a:off x="6647760" y="2788920"/>
            <a:ext cx="2248560" cy="401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30" b="1" u="none" strike="noStrike">
                <a:solidFill>
                  <a:srgbClr val="5FD3DC"/>
                </a:solidFill>
                <a:effectLst/>
                <a:uFillTx/>
                <a:latin typeface="Arial"/>
                <a:ea typeface="Arial"/>
              </a:rPr>
              <a:t>Iterations</a:t>
            </a:r>
            <a:endParaRPr lang="en-US" sz="1130" b="0" u="none" strike="noStrike">
              <a:solidFill>
                <a:srgbClr val="FFFFFF"/>
              </a:solidFill>
              <a:effectLst/>
              <a:uFillTx/>
              <a:latin typeface="Arial"/>
            </a:endParaRPr>
          </a:p>
        </p:txBody>
      </p:sp>
      <p:sp>
        <p:nvSpPr>
          <p:cNvPr id="255" name="Rounded Rectangle 302"/>
          <p:cNvSpPr/>
          <p:nvPr/>
        </p:nvSpPr>
        <p:spPr>
          <a:xfrm>
            <a:off x="8915400" y="2779920"/>
            <a:ext cx="2742480" cy="419760"/>
          </a:xfrm>
          <a:prstGeom prst="roundRect">
            <a:avLst>
              <a:gd name="adj" fmla="val 16667"/>
            </a:avLst>
          </a:prstGeom>
          <a:solidFill>
            <a:srgbClr val="1F2D43"/>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56" name="TextBox 303"/>
          <p:cNvSpPr/>
          <p:nvPr/>
        </p:nvSpPr>
        <p:spPr>
          <a:xfrm>
            <a:off x="8933760" y="2788920"/>
            <a:ext cx="2705760" cy="401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30" b="1" u="none" strike="noStrike">
                <a:solidFill>
                  <a:srgbClr val="5FD3DC"/>
                </a:solidFill>
                <a:effectLst/>
                <a:uFillTx/>
                <a:latin typeface="Arial"/>
                <a:ea typeface="Arial"/>
              </a:rPr>
              <a:t>Serial time (s)</a:t>
            </a:r>
            <a:endParaRPr lang="en-US" sz="1130" b="0" u="none" strike="noStrike">
              <a:solidFill>
                <a:srgbClr val="FFFFFF"/>
              </a:solidFill>
              <a:effectLst/>
              <a:uFillTx/>
              <a:latin typeface="Arial"/>
            </a:endParaRPr>
          </a:p>
        </p:txBody>
      </p:sp>
      <p:sp>
        <p:nvSpPr>
          <p:cNvPr id="257" name="Rounded Rectangle 304"/>
          <p:cNvSpPr/>
          <p:nvPr/>
        </p:nvSpPr>
        <p:spPr>
          <a:xfrm>
            <a:off x="11658600" y="2779920"/>
            <a:ext cx="5577120" cy="419760"/>
          </a:xfrm>
          <a:prstGeom prst="roundRect">
            <a:avLst>
              <a:gd name="adj" fmla="val 16667"/>
            </a:avLst>
          </a:prstGeom>
          <a:solidFill>
            <a:srgbClr val="1F2D43"/>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58" name="TextBox 305"/>
          <p:cNvSpPr/>
          <p:nvPr/>
        </p:nvSpPr>
        <p:spPr>
          <a:xfrm>
            <a:off x="11676960" y="2788920"/>
            <a:ext cx="5540400" cy="401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30" b="1" u="none" strike="noStrike">
                <a:solidFill>
                  <a:srgbClr val="5FD3DC"/>
                </a:solidFill>
                <a:effectLst/>
                <a:uFillTx/>
                <a:latin typeface="Arial"/>
                <a:ea typeface="Arial"/>
              </a:rPr>
              <a:t>Result status</a:t>
            </a:r>
            <a:endParaRPr lang="en-US" sz="1130" b="0" u="none" strike="noStrike">
              <a:solidFill>
                <a:srgbClr val="FFFFFF"/>
              </a:solidFill>
              <a:effectLst/>
              <a:uFillTx/>
              <a:latin typeface="Arial"/>
            </a:endParaRPr>
          </a:p>
        </p:txBody>
      </p:sp>
      <p:sp>
        <p:nvSpPr>
          <p:cNvPr id="259" name="Rounded Rectangle 306"/>
          <p:cNvSpPr/>
          <p:nvPr/>
        </p:nvSpPr>
        <p:spPr>
          <a:xfrm>
            <a:off x="777240" y="3255120"/>
            <a:ext cx="27424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60" name="TextBox 307"/>
          <p:cNvSpPr/>
          <p:nvPr/>
        </p:nvSpPr>
        <p:spPr>
          <a:xfrm>
            <a:off x="795600" y="326448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1,000</a:t>
            </a:r>
            <a:endParaRPr lang="en-US" sz="1120" b="0" u="none" strike="noStrike">
              <a:solidFill>
                <a:srgbClr val="FFFFFF"/>
              </a:solidFill>
              <a:effectLst/>
              <a:uFillTx/>
              <a:latin typeface="Arial"/>
            </a:endParaRPr>
          </a:p>
        </p:txBody>
      </p:sp>
      <p:sp>
        <p:nvSpPr>
          <p:cNvPr id="261" name="Rounded Rectangle 308"/>
          <p:cNvSpPr/>
          <p:nvPr/>
        </p:nvSpPr>
        <p:spPr>
          <a:xfrm>
            <a:off x="3520440" y="3255120"/>
            <a:ext cx="310824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62" name="TextBox 309"/>
          <p:cNvSpPr/>
          <p:nvPr/>
        </p:nvSpPr>
        <p:spPr>
          <a:xfrm>
            <a:off x="3538800" y="3264480"/>
            <a:ext cx="307152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5,994</a:t>
            </a:r>
            <a:endParaRPr lang="en-US" sz="1120" b="0" u="none" strike="noStrike">
              <a:solidFill>
                <a:srgbClr val="FFFFFF"/>
              </a:solidFill>
              <a:effectLst/>
              <a:uFillTx/>
              <a:latin typeface="Arial"/>
            </a:endParaRPr>
          </a:p>
        </p:txBody>
      </p:sp>
      <p:sp>
        <p:nvSpPr>
          <p:cNvPr id="263" name="Rounded Rectangle 310"/>
          <p:cNvSpPr/>
          <p:nvPr/>
        </p:nvSpPr>
        <p:spPr>
          <a:xfrm>
            <a:off x="6629400" y="3255120"/>
            <a:ext cx="22852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64" name="TextBox 311"/>
          <p:cNvSpPr/>
          <p:nvPr/>
        </p:nvSpPr>
        <p:spPr>
          <a:xfrm>
            <a:off x="6647760" y="3264480"/>
            <a:ext cx="22485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13</a:t>
            </a:r>
            <a:endParaRPr lang="en-US" sz="1120" b="0" u="none" strike="noStrike">
              <a:solidFill>
                <a:srgbClr val="FFFFFF"/>
              </a:solidFill>
              <a:effectLst/>
              <a:uFillTx/>
              <a:latin typeface="Arial"/>
            </a:endParaRPr>
          </a:p>
        </p:txBody>
      </p:sp>
      <p:sp>
        <p:nvSpPr>
          <p:cNvPr id="265" name="Rounded Rectangle 312"/>
          <p:cNvSpPr/>
          <p:nvPr/>
        </p:nvSpPr>
        <p:spPr>
          <a:xfrm>
            <a:off x="8915400" y="3255120"/>
            <a:ext cx="27424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66" name="TextBox 313"/>
          <p:cNvSpPr/>
          <p:nvPr/>
        </p:nvSpPr>
        <p:spPr>
          <a:xfrm>
            <a:off x="8933760" y="326448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0.000120</a:t>
            </a:r>
            <a:endParaRPr lang="en-US" sz="1120" b="0" u="none" strike="noStrike">
              <a:solidFill>
                <a:srgbClr val="FFFFFF"/>
              </a:solidFill>
              <a:effectLst/>
              <a:uFillTx/>
              <a:latin typeface="Arial"/>
            </a:endParaRPr>
          </a:p>
        </p:txBody>
      </p:sp>
      <p:sp>
        <p:nvSpPr>
          <p:cNvPr id="267" name="Rounded Rectangle 314"/>
          <p:cNvSpPr/>
          <p:nvPr/>
        </p:nvSpPr>
        <p:spPr>
          <a:xfrm>
            <a:off x="11658600" y="3255120"/>
            <a:ext cx="557712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68" name="TextBox 315"/>
          <p:cNvSpPr/>
          <p:nvPr/>
        </p:nvSpPr>
        <p:spPr>
          <a:xfrm>
            <a:off x="11676960" y="3264480"/>
            <a:ext cx="554040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80E0B7"/>
                </a:solidFill>
                <a:effectLst/>
                <a:uFillTx/>
                <a:latin typeface="Arial"/>
                <a:ea typeface="Arial"/>
              </a:rPr>
              <a:t>Measured</a:t>
            </a:r>
            <a:endParaRPr lang="en-US" sz="1120" b="0" u="none" strike="noStrike">
              <a:solidFill>
                <a:srgbClr val="FFFFFF"/>
              </a:solidFill>
              <a:effectLst/>
              <a:uFillTx/>
              <a:latin typeface="Arial"/>
            </a:endParaRPr>
          </a:p>
        </p:txBody>
      </p:sp>
      <p:sp>
        <p:nvSpPr>
          <p:cNvPr id="269" name="Rounded Rectangle 316"/>
          <p:cNvSpPr/>
          <p:nvPr/>
        </p:nvSpPr>
        <p:spPr>
          <a:xfrm>
            <a:off x="777240" y="3730680"/>
            <a:ext cx="274248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70" name="TextBox 317"/>
          <p:cNvSpPr/>
          <p:nvPr/>
        </p:nvSpPr>
        <p:spPr>
          <a:xfrm>
            <a:off x="795600" y="374004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10,000</a:t>
            </a:r>
            <a:endParaRPr lang="en-US" sz="1120" b="0" u="none" strike="noStrike">
              <a:solidFill>
                <a:srgbClr val="FFFFFF"/>
              </a:solidFill>
              <a:effectLst/>
              <a:uFillTx/>
              <a:latin typeface="Arial"/>
            </a:endParaRPr>
          </a:p>
        </p:txBody>
      </p:sp>
      <p:sp>
        <p:nvSpPr>
          <p:cNvPr id="271" name="Rounded Rectangle 318"/>
          <p:cNvSpPr/>
          <p:nvPr/>
        </p:nvSpPr>
        <p:spPr>
          <a:xfrm>
            <a:off x="3520440" y="3730680"/>
            <a:ext cx="310824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72" name="TextBox 319"/>
          <p:cNvSpPr/>
          <p:nvPr/>
        </p:nvSpPr>
        <p:spPr>
          <a:xfrm>
            <a:off x="3538800" y="3740040"/>
            <a:ext cx="307152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59,995</a:t>
            </a:r>
            <a:endParaRPr lang="en-US" sz="1120" b="0" u="none" strike="noStrike">
              <a:solidFill>
                <a:srgbClr val="FFFFFF"/>
              </a:solidFill>
              <a:effectLst/>
              <a:uFillTx/>
              <a:latin typeface="Arial"/>
            </a:endParaRPr>
          </a:p>
        </p:txBody>
      </p:sp>
      <p:sp>
        <p:nvSpPr>
          <p:cNvPr id="273" name="Rounded Rectangle 320"/>
          <p:cNvSpPr/>
          <p:nvPr/>
        </p:nvSpPr>
        <p:spPr>
          <a:xfrm>
            <a:off x="6629400" y="3730680"/>
            <a:ext cx="228528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74" name="TextBox 321"/>
          <p:cNvSpPr/>
          <p:nvPr/>
        </p:nvSpPr>
        <p:spPr>
          <a:xfrm>
            <a:off x="6647760" y="3740040"/>
            <a:ext cx="22485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13</a:t>
            </a:r>
            <a:endParaRPr lang="en-US" sz="1120" b="0" u="none" strike="noStrike">
              <a:solidFill>
                <a:srgbClr val="FFFFFF"/>
              </a:solidFill>
              <a:effectLst/>
              <a:uFillTx/>
              <a:latin typeface="Arial"/>
            </a:endParaRPr>
          </a:p>
        </p:txBody>
      </p:sp>
      <p:sp>
        <p:nvSpPr>
          <p:cNvPr id="275" name="Rounded Rectangle 322"/>
          <p:cNvSpPr/>
          <p:nvPr/>
        </p:nvSpPr>
        <p:spPr>
          <a:xfrm>
            <a:off x="8915400" y="3730680"/>
            <a:ext cx="274248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76" name="TextBox 323"/>
          <p:cNvSpPr/>
          <p:nvPr/>
        </p:nvSpPr>
        <p:spPr>
          <a:xfrm>
            <a:off x="8933760" y="374004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0.001672</a:t>
            </a:r>
            <a:endParaRPr lang="en-US" sz="1120" b="0" u="none" strike="noStrike">
              <a:solidFill>
                <a:srgbClr val="FFFFFF"/>
              </a:solidFill>
              <a:effectLst/>
              <a:uFillTx/>
              <a:latin typeface="Arial"/>
            </a:endParaRPr>
          </a:p>
        </p:txBody>
      </p:sp>
      <p:sp>
        <p:nvSpPr>
          <p:cNvPr id="277" name="Rounded Rectangle 324"/>
          <p:cNvSpPr/>
          <p:nvPr/>
        </p:nvSpPr>
        <p:spPr>
          <a:xfrm>
            <a:off x="11658600" y="3730680"/>
            <a:ext cx="557712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78" name="TextBox 325"/>
          <p:cNvSpPr/>
          <p:nvPr/>
        </p:nvSpPr>
        <p:spPr>
          <a:xfrm>
            <a:off x="11676960" y="3740040"/>
            <a:ext cx="554040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80E0B7"/>
                </a:solidFill>
                <a:effectLst/>
                <a:uFillTx/>
                <a:latin typeface="Arial"/>
                <a:ea typeface="Arial"/>
              </a:rPr>
              <a:t>Measured</a:t>
            </a:r>
            <a:endParaRPr lang="en-US" sz="1120" b="0" u="none" strike="noStrike">
              <a:solidFill>
                <a:srgbClr val="FFFFFF"/>
              </a:solidFill>
              <a:effectLst/>
              <a:uFillTx/>
              <a:latin typeface="Arial"/>
            </a:endParaRPr>
          </a:p>
        </p:txBody>
      </p:sp>
      <p:sp>
        <p:nvSpPr>
          <p:cNvPr id="279" name="Rounded Rectangle 326"/>
          <p:cNvSpPr/>
          <p:nvPr/>
        </p:nvSpPr>
        <p:spPr>
          <a:xfrm>
            <a:off x="777240" y="4206240"/>
            <a:ext cx="27424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80" name="TextBox 327"/>
          <p:cNvSpPr/>
          <p:nvPr/>
        </p:nvSpPr>
        <p:spPr>
          <a:xfrm>
            <a:off x="795600" y="421524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100,000</a:t>
            </a:r>
            <a:endParaRPr lang="en-US" sz="1120" b="0" u="none" strike="noStrike">
              <a:solidFill>
                <a:srgbClr val="FFFFFF"/>
              </a:solidFill>
              <a:effectLst/>
              <a:uFillTx/>
              <a:latin typeface="Arial"/>
            </a:endParaRPr>
          </a:p>
        </p:txBody>
      </p:sp>
      <p:sp>
        <p:nvSpPr>
          <p:cNvPr id="281" name="Rounded Rectangle 328"/>
          <p:cNvSpPr/>
          <p:nvPr/>
        </p:nvSpPr>
        <p:spPr>
          <a:xfrm>
            <a:off x="3520440" y="4206240"/>
            <a:ext cx="310824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82" name="TextBox 329"/>
          <p:cNvSpPr/>
          <p:nvPr/>
        </p:nvSpPr>
        <p:spPr>
          <a:xfrm>
            <a:off x="3538800" y="4215240"/>
            <a:ext cx="307152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599,992</a:t>
            </a:r>
            <a:endParaRPr lang="en-US" sz="1120" b="0" u="none" strike="noStrike">
              <a:solidFill>
                <a:srgbClr val="FFFFFF"/>
              </a:solidFill>
              <a:effectLst/>
              <a:uFillTx/>
              <a:latin typeface="Arial"/>
            </a:endParaRPr>
          </a:p>
        </p:txBody>
      </p:sp>
      <p:sp>
        <p:nvSpPr>
          <p:cNvPr id="283" name="Rounded Rectangle 330"/>
          <p:cNvSpPr/>
          <p:nvPr/>
        </p:nvSpPr>
        <p:spPr>
          <a:xfrm>
            <a:off x="6629400" y="4206240"/>
            <a:ext cx="22852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84" name="TextBox 331"/>
          <p:cNvSpPr/>
          <p:nvPr/>
        </p:nvSpPr>
        <p:spPr>
          <a:xfrm>
            <a:off x="6647760" y="4215240"/>
            <a:ext cx="22485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13</a:t>
            </a:r>
            <a:endParaRPr lang="en-US" sz="1120" b="0" u="none" strike="noStrike">
              <a:solidFill>
                <a:srgbClr val="FFFFFF"/>
              </a:solidFill>
              <a:effectLst/>
              <a:uFillTx/>
              <a:latin typeface="Arial"/>
            </a:endParaRPr>
          </a:p>
        </p:txBody>
      </p:sp>
      <p:sp>
        <p:nvSpPr>
          <p:cNvPr id="285" name="Rounded Rectangle 332"/>
          <p:cNvSpPr/>
          <p:nvPr/>
        </p:nvSpPr>
        <p:spPr>
          <a:xfrm>
            <a:off x="8915400" y="4206240"/>
            <a:ext cx="27424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86" name="TextBox 333"/>
          <p:cNvSpPr/>
          <p:nvPr/>
        </p:nvSpPr>
        <p:spPr>
          <a:xfrm>
            <a:off x="8933760" y="421524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F4F7FC"/>
                </a:solidFill>
                <a:effectLst/>
                <a:uFillTx/>
                <a:latin typeface="Arial"/>
                <a:ea typeface="Arial"/>
              </a:rPr>
              <a:t>0.020366</a:t>
            </a:r>
            <a:endParaRPr lang="en-US" sz="1120" b="0" u="none" strike="noStrike">
              <a:solidFill>
                <a:srgbClr val="FFFFFF"/>
              </a:solidFill>
              <a:effectLst/>
              <a:uFillTx/>
              <a:latin typeface="Arial"/>
            </a:endParaRPr>
          </a:p>
        </p:txBody>
      </p:sp>
      <p:sp>
        <p:nvSpPr>
          <p:cNvPr id="287" name="Rounded Rectangle 334"/>
          <p:cNvSpPr/>
          <p:nvPr/>
        </p:nvSpPr>
        <p:spPr>
          <a:xfrm>
            <a:off x="11658600" y="4206240"/>
            <a:ext cx="557712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88" name="TextBox 335"/>
          <p:cNvSpPr/>
          <p:nvPr/>
        </p:nvSpPr>
        <p:spPr>
          <a:xfrm>
            <a:off x="11676960" y="4215240"/>
            <a:ext cx="554040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0" u="none" strike="noStrike">
                <a:solidFill>
                  <a:srgbClr val="80E0B7"/>
                </a:solidFill>
                <a:effectLst/>
                <a:uFillTx/>
                <a:latin typeface="Arial"/>
                <a:ea typeface="Arial"/>
              </a:rPr>
              <a:t>Measured</a:t>
            </a:r>
            <a:endParaRPr lang="en-US" sz="1120" b="0" u="none" strike="noStrike">
              <a:solidFill>
                <a:srgbClr val="FFFFFF"/>
              </a:solidFill>
              <a:effectLst/>
              <a:uFillTx/>
              <a:latin typeface="Arial"/>
            </a:endParaRPr>
          </a:p>
        </p:txBody>
      </p:sp>
      <p:sp>
        <p:nvSpPr>
          <p:cNvPr id="289" name="Rounded Rectangle 336"/>
          <p:cNvSpPr/>
          <p:nvPr/>
        </p:nvSpPr>
        <p:spPr>
          <a:xfrm>
            <a:off x="777240" y="4681800"/>
            <a:ext cx="274248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90" name="TextBox 337"/>
          <p:cNvSpPr/>
          <p:nvPr/>
        </p:nvSpPr>
        <p:spPr>
          <a:xfrm>
            <a:off x="795600" y="469080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1,000,000</a:t>
            </a:r>
            <a:endParaRPr lang="en-US" sz="1120" b="0" u="none" strike="noStrike">
              <a:solidFill>
                <a:srgbClr val="FFFFFF"/>
              </a:solidFill>
              <a:effectLst/>
              <a:uFillTx/>
              <a:latin typeface="Arial"/>
            </a:endParaRPr>
          </a:p>
        </p:txBody>
      </p:sp>
      <p:sp>
        <p:nvSpPr>
          <p:cNvPr id="291" name="Rounded Rectangle 338"/>
          <p:cNvSpPr/>
          <p:nvPr/>
        </p:nvSpPr>
        <p:spPr>
          <a:xfrm>
            <a:off x="3520440" y="4681800"/>
            <a:ext cx="310824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92" name="TextBox 339"/>
          <p:cNvSpPr/>
          <p:nvPr/>
        </p:nvSpPr>
        <p:spPr>
          <a:xfrm>
            <a:off x="3538800" y="4690800"/>
            <a:ext cx="307152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 6,000,000</a:t>
            </a:r>
            <a:endParaRPr lang="en-US" sz="1120" b="0" u="none" strike="noStrike">
              <a:solidFill>
                <a:srgbClr val="FFFFFF"/>
              </a:solidFill>
              <a:effectLst/>
              <a:uFillTx/>
              <a:latin typeface="Arial"/>
            </a:endParaRPr>
          </a:p>
        </p:txBody>
      </p:sp>
      <p:sp>
        <p:nvSpPr>
          <p:cNvPr id="293" name="Rounded Rectangle 340"/>
          <p:cNvSpPr/>
          <p:nvPr/>
        </p:nvSpPr>
        <p:spPr>
          <a:xfrm>
            <a:off x="6629400" y="4681800"/>
            <a:ext cx="228528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94" name="TextBox 341"/>
          <p:cNvSpPr/>
          <p:nvPr/>
        </p:nvSpPr>
        <p:spPr>
          <a:xfrm>
            <a:off x="6647760" y="4690800"/>
            <a:ext cx="22485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Measure</a:t>
            </a:r>
            <a:endParaRPr lang="en-US" sz="1120" b="0" u="none" strike="noStrike">
              <a:solidFill>
                <a:srgbClr val="FFFFFF"/>
              </a:solidFill>
              <a:effectLst/>
              <a:uFillTx/>
              <a:latin typeface="Arial"/>
            </a:endParaRPr>
          </a:p>
        </p:txBody>
      </p:sp>
      <p:sp>
        <p:nvSpPr>
          <p:cNvPr id="295" name="Rounded Rectangle 342"/>
          <p:cNvSpPr/>
          <p:nvPr/>
        </p:nvSpPr>
        <p:spPr>
          <a:xfrm>
            <a:off x="8915400" y="4681800"/>
            <a:ext cx="274248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96" name="TextBox 343"/>
          <p:cNvSpPr/>
          <p:nvPr/>
        </p:nvSpPr>
        <p:spPr>
          <a:xfrm>
            <a:off x="8933760" y="469080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Measure</a:t>
            </a:r>
            <a:endParaRPr lang="en-US" sz="1120" b="0" u="none" strike="noStrike">
              <a:solidFill>
                <a:srgbClr val="FFFFFF"/>
              </a:solidFill>
              <a:effectLst/>
              <a:uFillTx/>
              <a:latin typeface="Arial"/>
            </a:endParaRPr>
          </a:p>
        </p:txBody>
      </p:sp>
      <p:sp>
        <p:nvSpPr>
          <p:cNvPr id="297" name="Rounded Rectangle 344"/>
          <p:cNvSpPr/>
          <p:nvPr/>
        </p:nvSpPr>
        <p:spPr>
          <a:xfrm>
            <a:off x="11658600" y="4681800"/>
            <a:ext cx="5577120" cy="438120"/>
          </a:xfrm>
          <a:prstGeom prst="roundRect">
            <a:avLst>
              <a:gd name="adj" fmla="val 16667"/>
            </a:avLst>
          </a:prstGeom>
          <a:solidFill>
            <a:srgbClr val="161E30"/>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98" name="TextBox 345"/>
          <p:cNvSpPr/>
          <p:nvPr/>
        </p:nvSpPr>
        <p:spPr>
          <a:xfrm>
            <a:off x="11676960" y="4690800"/>
            <a:ext cx="554040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Run this input</a:t>
            </a:r>
            <a:endParaRPr lang="en-US" sz="1120" b="0" u="none" strike="noStrike">
              <a:solidFill>
                <a:srgbClr val="FFFFFF"/>
              </a:solidFill>
              <a:effectLst/>
              <a:uFillTx/>
              <a:latin typeface="Arial"/>
            </a:endParaRPr>
          </a:p>
        </p:txBody>
      </p:sp>
      <p:sp>
        <p:nvSpPr>
          <p:cNvPr id="299" name="Rounded Rectangle 346"/>
          <p:cNvSpPr/>
          <p:nvPr/>
        </p:nvSpPr>
        <p:spPr>
          <a:xfrm>
            <a:off x="777240" y="5157360"/>
            <a:ext cx="27424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300" name="TextBox 347"/>
          <p:cNvSpPr/>
          <p:nvPr/>
        </p:nvSpPr>
        <p:spPr>
          <a:xfrm>
            <a:off x="795600" y="516636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10,000,000</a:t>
            </a:r>
            <a:endParaRPr lang="en-US" sz="1120" b="0" u="none" strike="noStrike">
              <a:solidFill>
                <a:srgbClr val="FFFFFF"/>
              </a:solidFill>
              <a:effectLst/>
              <a:uFillTx/>
              <a:latin typeface="Arial"/>
            </a:endParaRPr>
          </a:p>
        </p:txBody>
      </p:sp>
      <p:sp>
        <p:nvSpPr>
          <p:cNvPr id="301" name="Rounded Rectangle 348"/>
          <p:cNvSpPr/>
          <p:nvPr/>
        </p:nvSpPr>
        <p:spPr>
          <a:xfrm>
            <a:off x="3520440" y="5157360"/>
            <a:ext cx="310824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302" name="TextBox 349"/>
          <p:cNvSpPr/>
          <p:nvPr/>
        </p:nvSpPr>
        <p:spPr>
          <a:xfrm>
            <a:off x="3538800" y="5166360"/>
            <a:ext cx="307152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 60,000,000</a:t>
            </a:r>
            <a:endParaRPr lang="en-US" sz="1120" b="0" u="none" strike="noStrike">
              <a:solidFill>
                <a:srgbClr val="FFFFFF"/>
              </a:solidFill>
              <a:effectLst/>
              <a:uFillTx/>
              <a:latin typeface="Arial"/>
            </a:endParaRPr>
          </a:p>
        </p:txBody>
      </p:sp>
      <p:sp>
        <p:nvSpPr>
          <p:cNvPr id="303" name="Rounded Rectangle 350"/>
          <p:cNvSpPr/>
          <p:nvPr/>
        </p:nvSpPr>
        <p:spPr>
          <a:xfrm>
            <a:off x="6629400" y="5157360"/>
            <a:ext cx="22852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304" name="TextBox 351"/>
          <p:cNvSpPr/>
          <p:nvPr/>
        </p:nvSpPr>
        <p:spPr>
          <a:xfrm>
            <a:off x="6647760" y="5166360"/>
            <a:ext cx="22485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Measure</a:t>
            </a:r>
            <a:endParaRPr lang="en-US" sz="1120" b="0" u="none" strike="noStrike">
              <a:solidFill>
                <a:srgbClr val="FFFFFF"/>
              </a:solidFill>
              <a:effectLst/>
              <a:uFillTx/>
              <a:latin typeface="Arial"/>
            </a:endParaRPr>
          </a:p>
        </p:txBody>
      </p:sp>
      <p:sp>
        <p:nvSpPr>
          <p:cNvPr id="305" name="Rounded Rectangle 352"/>
          <p:cNvSpPr/>
          <p:nvPr/>
        </p:nvSpPr>
        <p:spPr>
          <a:xfrm>
            <a:off x="8915400" y="5157360"/>
            <a:ext cx="274248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306" name="TextBox 353"/>
          <p:cNvSpPr/>
          <p:nvPr/>
        </p:nvSpPr>
        <p:spPr>
          <a:xfrm>
            <a:off x="8933760" y="5166360"/>
            <a:ext cx="270576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Measure</a:t>
            </a:r>
            <a:endParaRPr lang="en-US" sz="1120" b="0" u="none" strike="noStrike">
              <a:solidFill>
                <a:srgbClr val="FFFFFF"/>
              </a:solidFill>
              <a:effectLst/>
              <a:uFillTx/>
              <a:latin typeface="Arial"/>
            </a:endParaRPr>
          </a:p>
        </p:txBody>
      </p:sp>
      <p:sp>
        <p:nvSpPr>
          <p:cNvPr id="307" name="Rounded Rectangle 354"/>
          <p:cNvSpPr/>
          <p:nvPr/>
        </p:nvSpPr>
        <p:spPr>
          <a:xfrm>
            <a:off x="11658600" y="5157360"/>
            <a:ext cx="5577120" cy="438120"/>
          </a:xfrm>
          <a:prstGeom prst="roundRect">
            <a:avLst>
              <a:gd name="adj" fmla="val 16667"/>
            </a:avLst>
          </a:prstGeom>
          <a:solidFill>
            <a:srgbClr val="212A3A"/>
          </a:solidFill>
          <a:ln w="1270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308" name="TextBox 355"/>
          <p:cNvSpPr/>
          <p:nvPr/>
        </p:nvSpPr>
        <p:spPr>
          <a:xfrm>
            <a:off x="11676960" y="5166360"/>
            <a:ext cx="5540400" cy="419760"/>
          </a:xfrm>
          <a:prstGeom prst="rect">
            <a:avLst/>
          </a:prstGeom>
          <a:noFill/>
          <a:ln w="0">
            <a:noFill/>
          </a:ln>
        </p:spPr>
        <p:style>
          <a:lnRef idx="0"/>
          <a:fillRef idx="0"/>
          <a:effectRef idx="0"/>
          <a:fontRef idx="minor"/>
        </p:style>
        <p:txBody>
          <a:bodyPr lIns="54720" tIns="18360" rIns="54720" bIns="18360" anchor="ctr">
            <a:spAutoFit/>
          </a:bodyPr>
          <a:p>
            <a:pPr algn="ctr">
              <a:lnSpc>
                <a:spcPct val="100000"/>
              </a:lnSpc>
            </a:pPr>
            <a:r>
              <a:rPr lang="en-US" sz="1120" b="1" u="none" strike="noStrike">
                <a:solidFill>
                  <a:srgbClr val="FFD273"/>
                </a:solidFill>
                <a:effectLst/>
                <a:uFillTx/>
                <a:latin typeface="Arial"/>
                <a:ea typeface="Arial"/>
              </a:rPr>
              <a:t>Large input; check RAM</a:t>
            </a:r>
            <a:endParaRPr lang="en-US" sz="1120" b="0" u="none" strike="noStrike">
              <a:solidFill>
                <a:srgbClr val="FFFFFF"/>
              </a:solidFill>
              <a:effectLst/>
              <a:uFillTx/>
              <a:latin typeface="Arial"/>
            </a:endParaRPr>
          </a:p>
        </p:txBody>
      </p:sp>
      <p:sp>
        <p:nvSpPr>
          <p:cNvPr id="309" name="TextBox 356"/>
          <p:cNvSpPr/>
          <p:nvPr/>
        </p:nvSpPr>
        <p:spPr>
          <a:xfrm>
            <a:off x="822960" y="5623560"/>
            <a:ext cx="16458480" cy="38340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250" b="1" u="none" strike="noStrike">
                <a:solidFill>
                  <a:srgbClr val="FFB469"/>
                </a:solidFill>
                <a:effectLst/>
                <a:uFillTx/>
                <a:latin typeface="Arial"/>
                <a:ea typeface="Arial"/>
              </a:rPr>
              <a:t>How to run: change N as an input parameter; generate/build the graph, then time the serial algorithm.</a:t>
            </a:r>
            <a:endParaRPr lang="en-US" sz="1250" b="0" u="none" strike="noStrike">
              <a:solidFill>
                <a:srgbClr val="FFFFFF"/>
              </a:solidFill>
              <a:effectLst/>
              <a:uFillTx/>
              <a:latin typeface="Arial"/>
            </a:endParaRPr>
          </a:p>
        </p:txBody>
      </p:sp>
      <p:sp>
        <p:nvSpPr>
          <p:cNvPr id="310" name="TextBox 357"/>
          <p:cNvSpPr/>
          <p:nvPr/>
        </p:nvSpPr>
        <p:spPr>
          <a:xfrm>
            <a:off x="822960" y="6053400"/>
            <a:ext cx="16458480" cy="410760"/>
          </a:xfrm>
          <a:prstGeom prst="rect">
            <a:avLst/>
          </a:prstGeom>
          <a:noFill/>
          <a:ln w="0">
            <a:noFill/>
          </a:ln>
        </p:spPr>
        <p:style>
          <a:lnRef idx="0"/>
          <a:fillRef idx="0"/>
          <a:effectRef idx="0"/>
          <a:fontRef idx="minor"/>
        </p:style>
        <p:txBody>
          <a:bodyPr lIns="54720" tIns="18360" rIns="54720" bIns="18360" anchor="ctr">
            <a:spAutoFit/>
          </a:bodyPr>
          <a:p>
            <a:pPr>
              <a:lnSpc>
                <a:spcPct val="100000"/>
              </a:lnSpc>
            </a:pPr>
            <a:r>
              <a:rPr lang="en-US" sz="1150" b="0" u="none" strike="noStrike">
                <a:solidFill>
                  <a:srgbClr val="A4B1C6"/>
                </a:solidFill>
                <a:effectLst/>
                <a:uFillTx/>
                <a:latin typeface="Arial"/>
                <a:ea typeface="Arial"/>
              </a:rPr>
              <a:t>Record compiler flags, ε, iteration count, CPU, and median of repeated runs. Do not treat proposed rows as measured.</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311" name="Google Shape;316;p13"/>
          <p:cNvSpPr/>
          <p:nvPr/>
        </p:nvSpPr>
        <p:spPr>
          <a:xfrm>
            <a:off x="952560" y="76212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II · Q6 — IDENTIFYING THE PARALLELIZABLE BLOCK</a:t>
            </a:r>
            <a:endParaRPr lang="en-US" sz="1800" b="0" u="none" strike="noStrike">
              <a:solidFill>
                <a:srgbClr val="FFFFFF"/>
              </a:solidFill>
              <a:effectLst/>
              <a:uFillTx/>
              <a:latin typeface="Arial"/>
            </a:endParaRPr>
          </a:p>
        </p:txBody>
      </p:sp>
      <p:sp>
        <p:nvSpPr>
          <p:cNvPr id="312" name="Google Shape;317;p13"/>
          <p:cNvSpPr/>
          <p:nvPr/>
        </p:nvSpPr>
        <p:spPr>
          <a:xfrm>
            <a:off x="952560" y="1254240"/>
            <a:ext cx="18020520" cy="7912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650" b="1" u="none" strike="noStrike">
                <a:solidFill>
                  <a:srgbClr val="EEF2F7"/>
                </a:solidFill>
                <a:effectLst/>
                <a:uFillTx/>
                <a:latin typeface="Arial"/>
                <a:ea typeface="Arial"/>
              </a:rPr>
              <a:t>The good news: every node can be updated independently</a:t>
            </a:r>
            <a:endParaRPr lang="en-US" sz="4650" b="0" u="none" strike="noStrike">
              <a:solidFill>
                <a:srgbClr val="FFFFFF"/>
              </a:solidFill>
              <a:effectLst/>
              <a:uFillTx/>
              <a:latin typeface="Arial"/>
            </a:endParaRPr>
          </a:p>
        </p:txBody>
      </p:sp>
      <p:sp>
        <p:nvSpPr>
          <p:cNvPr id="313" name="Google Shape;318;p13"/>
          <p:cNvSpPr/>
          <p:nvPr/>
        </p:nvSpPr>
        <p:spPr>
          <a:xfrm>
            <a:off x="952560" y="2389320"/>
            <a:ext cx="10667160" cy="761400"/>
          </a:xfrm>
          <a:prstGeom prst="rect">
            <a:avLst/>
          </a:prstGeom>
          <a:solidFill>
            <a:srgbClr val="0D131C"/>
          </a:solidFill>
          <a:ln w="9525">
            <a:solidFill>
              <a:srgbClr val="22304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14" name="Google Shape;319;p13"/>
          <p:cNvSpPr/>
          <p:nvPr/>
        </p:nvSpPr>
        <p:spPr>
          <a:xfrm>
            <a:off x="1227240" y="2587680"/>
            <a:ext cx="2879640" cy="4024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250" b="1" u="none" strike="noStrike">
                <a:solidFill>
                  <a:srgbClr val="EEF2F7"/>
                </a:solidFill>
                <a:effectLst/>
                <a:uFillTx/>
                <a:latin typeface="Arial"/>
                <a:ea typeface="Arial"/>
              </a:rPr>
              <a:t>PageRank iteration</a:t>
            </a:r>
            <a:endParaRPr lang="en-US" sz="2250" b="0" u="none" strike="noStrike">
              <a:solidFill>
                <a:srgbClr val="FFFFFF"/>
              </a:solidFill>
              <a:effectLst/>
              <a:uFillTx/>
              <a:latin typeface="Arial"/>
            </a:endParaRPr>
          </a:p>
        </p:txBody>
      </p:sp>
      <p:sp>
        <p:nvSpPr>
          <p:cNvPr id="315" name="Google Shape;320;p13"/>
          <p:cNvSpPr/>
          <p:nvPr/>
        </p:nvSpPr>
        <p:spPr>
          <a:xfrm>
            <a:off x="7505280" y="2635200"/>
            <a:ext cx="422388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8B9AAB"/>
                </a:solidFill>
                <a:effectLst/>
                <a:uFillTx/>
                <a:latin typeface="Courier New"/>
                <a:ea typeface="Courier New"/>
              </a:rPr>
              <a:t>compute newPR[i], i = 0..N-1</a:t>
            </a:r>
            <a:endParaRPr lang="en-US" sz="1800" b="0" u="none" strike="noStrike">
              <a:solidFill>
                <a:srgbClr val="FFFFFF"/>
              </a:solidFill>
              <a:effectLst/>
              <a:uFillTx/>
              <a:latin typeface="Arial"/>
            </a:endParaRPr>
          </a:p>
        </p:txBody>
      </p:sp>
      <p:sp>
        <p:nvSpPr>
          <p:cNvPr id="316" name="Google Shape;321;p13"/>
          <p:cNvSpPr/>
          <p:nvPr/>
        </p:nvSpPr>
        <p:spPr>
          <a:xfrm>
            <a:off x="419040" y="3360600"/>
            <a:ext cx="11734200" cy="342360"/>
          </a:xfrm>
          <a:prstGeom prst="rect">
            <a:avLst/>
          </a:prstGeom>
          <a:noFill/>
          <a:ln w="0">
            <a:noFill/>
          </a:ln>
        </p:spPr>
        <p:style>
          <a:lnRef idx="0"/>
          <a:fillRef idx="0"/>
          <a:effectRef idx="0"/>
          <a:fontRef idx="minor"/>
        </p:style>
        <p:txBody>
          <a:bodyPr lIns="25560" tIns="25560" rIns="25560" bIns="25560" anchor="t">
            <a:noAutofit/>
          </a:bodyPr>
          <a:p>
            <a:pPr algn="ctr">
              <a:lnSpc>
                <a:spcPct val="88000"/>
              </a:lnSpc>
              <a:tabLst>
                <a:tab pos="0" algn="l"/>
              </a:tabLst>
            </a:pPr>
            <a:r>
              <a:rPr lang="en-US" sz="2400" b="0" u="none" strike="noStrike">
                <a:solidFill>
                  <a:srgbClr val="4D9FFF"/>
                </a:solidFill>
                <a:effectLst/>
                <a:uFillTx/>
                <a:latin typeface="Arial"/>
                <a:ea typeface="Arial"/>
              </a:rPr>
              <a:t>↓</a:t>
            </a:r>
            <a:endParaRPr lang="en-US" sz="2400" b="0" u="none" strike="noStrike">
              <a:solidFill>
                <a:srgbClr val="FFFFFF"/>
              </a:solidFill>
              <a:effectLst/>
              <a:uFillTx/>
              <a:latin typeface="Arial"/>
            </a:endParaRPr>
          </a:p>
        </p:txBody>
      </p:sp>
      <p:sp>
        <p:nvSpPr>
          <p:cNvPr id="317" name="Google Shape;322;p13"/>
          <p:cNvSpPr/>
          <p:nvPr/>
        </p:nvSpPr>
        <p:spPr>
          <a:xfrm>
            <a:off x="952560" y="4029480"/>
            <a:ext cx="15710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4D9FFF"/>
                </a:solidFill>
                <a:effectLst/>
                <a:uFillTx/>
                <a:latin typeface="Courier New"/>
                <a:ea typeface="Courier New"/>
              </a:rPr>
              <a:t>THREAD 0</a:t>
            </a:r>
            <a:endParaRPr lang="en-US" sz="1870" b="0" u="none" strike="noStrike">
              <a:solidFill>
                <a:srgbClr val="FFFFFF"/>
              </a:solidFill>
              <a:effectLst/>
              <a:uFillTx/>
              <a:latin typeface="Arial"/>
            </a:endParaRPr>
          </a:p>
        </p:txBody>
      </p:sp>
      <p:sp>
        <p:nvSpPr>
          <p:cNvPr id="318" name="Google Shape;323;p13"/>
          <p:cNvSpPr/>
          <p:nvPr/>
        </p:nvSpPr>
        <p:spPr>
          <a:xfrm>
            <a:off x="2571840" y="3875040"/>
            <a:ext cx="2939400" cy="621720"/>
          </a:xfrm>
          <a:prstGeom prst="rect">
            <a:avLst/>
          </a:prstGeom>
          <a:solidFill>
            <a:srgbClr val="0F1B2B"/>
          </a:solidFill>
          <a:ln w="9525">
            <a:solidFill>
              <a:srgbClr val="2B4A7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19" name="Google Shape;324;p13"/>
          <p:cNvSpPr/>
          <p:nvPr/>
        </p:nvSpPr>
        <p:spPr>
          <a:xfrm>
            <a:off x="2535480" y="4035600"/>
            <a:ext cx="301176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9EC6FF"/>
                </a:solidFill>
                <a:effectLst/>
                <a:uFillTx/>
                <a:latin typeface="Courier New"/>
                <a:ea typeface="Courier New"/>
              </a:rPr>
              <a:t>newPR[0]</a:t>
            </a:r>
            <a:endParaRPr lang="en-US" sz="1800" b="0" u="none" strike="noStrike">
              <a:solidFill>
                <a:srgbClr val="FFFFFF"/>
              </a:solidFill>
              <a:effectLst/>
              <a:uFillTx/>
              <a:latin typeface="Arial"/>
            </a:endParaRPr>
          </a:p>
        </p:txBody>
      </p:sp>
      <p:sp>
        <p:nvSpPr>
          <p:cNvPr id="320" name="Google Shape;325;p13"/>
          <p:cNvSpPr/>
          <p:nvPr/>
        </p:nvSpPr>
        <p:spPr>
          <a:xfrm>
            <a:off x="5626080" y="3875040"/>
            <a:ext cx="2939400" cy="621720"/>
          </a:xfrm>
          <a:prstGeom prst="rect">
            <a:avLst/>
          </a:prstGeom>
          <a:solidFill>
            <a:srgbClr val="0F1B2B"/>
          </a:solidFill>
          <a:ln w="9525">
            <a:solidFill>
              <a:srgbClr val="2B4A7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21" name="Google Shape;326;p13"/>
          <p:cNvSpPr/>
          <p:nvPr/>
        </p:nvSpPr>
        <p:spPr>
          <a:xfrm>
            <a:off x="5590080" y="4035600"/>
            <a:ext cx="301176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9EC6FF"/>
                </a:solidFill>
                <a:effectLst/>
                <a:uFillTx/>
                <a:latin typeface="Courier New"/>
                <a:ea typeface="Courier New"/>
              </a:rPr>
              <a:t>newPR[1]</a:t>
            </a:r>
            <a:endParaRPr lang="en-US" sz="1800" b="0" u="none" strike="noStrike">
              <a:solidFill>
                <a:srgbClr val="FFFFFF"/>
              </a:solidFill>
              <a:effectLst/>
              <a:uFillTx/>
              <a:latin typeface="Arial"/>
            </a:endParaRPr>
          </a:p>
        </p:txBody>
      </p:sp>
      <p:sp>
        <p:nvSpPr>
          <p:cNvPr id="322" name="Google Shape;327;p13"/>
          <p:cNvSpPr/>
          <p:nvPr/>
        </p:nvSpPr>
        <p:spPr>
          <a:xfrm>
            <a:off x="8680320" y="3875040"/>
            <a:ext cx="2939400" cy="621720"/>
          </a:xfrm>
          <a:prstGeom prst="rect">
            <a:avLst/>
          </a:prstGeom>
          <a:noFill/>
          <a:ln w="9525">
            <a:solidFill>
              <a:srgbClr val="223045"/>
            </a:solidFill>
            <a:prstDash val="dash"/>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23" name="Google Shape;328;p13"/>
          <p:cNvSpPr/>
          <p:nvPr/>
        </p:nvSpPr>
        <p:spPr>
          <a:xfrm>
            <a:off x="8644320" y="4035600"/>
            <a:ext cx="301176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5B6A7D"/>
                </a:solidFill>
                <a:effectLst/>
                <a:uFillTx/>
                <a:latin typeface="Courier New"/>
                <a:ea typeface="Courier New"/>
              </a:rPr>
              <a:t>…</a:t>
            </a:r>
            <a:endParaRPr lang="en-US" sz="1800" b="0" u="none" strike="noStrike">
              <a:solidFill>
                <a:srgbClr val="FFFFFF"/>
              </a:solidFill>
              <a:effectLst/>
              <a:uFillTx/>
              <a:latin typeface="Arial"/>
            </a:endParaRPr>
          </a:p>
        </p:txBody>
      </p:sp>
      <p:sp>
        <p:nvSpPr>
          <p:cNvPr id="324" name="Google Shape;329;p13"/>
          <p:cNvSpPr/>
          <p:nvPr/>
        </p:nvSpPr>
        <p:spPr>
          <a:xfrm>
            <a:off x="952560" y="4785120"/>
            <a:ext cx="1571040" cy="35100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70" b="0" u="none" strike="noStrike">
                <a:solidFill>
                  <a:srgbClr val="4D9FFF"/>
                </a:solidFill>
                <a:effectLst/>
                <a:uFillTx/>
                <a:latin typeface="Courier New"/>
                <a:ea typeface="Courier New"/>
              </a:rPr>
              <a:t>THREAD 1</a:t>
            </a:r>
            <a:endParaRPr lang="en-US" sz="1870" b="0" u="none" strike="noStrike">
              <a:solidFill>
                <a:srgbClr val="FFFFFF"/>
              </a:solidFill>
              <a:effectLst/>
              <a:uFillTx/>
              <a:latin typeface="Arial"/>
            </a:endParaRPr>
          </a:p>
        </p:txBody>
      </p:sp>
      <p:sp>
        <p:nvSpPr>
          <p:cNvPr id="325" name="Google Shape;330;p13"/>
          <p:cNvSpPr/>
          <p:nvPr/>
        </p:nvSpPr>
        <p:spPr>
          <a:xfrm>
            <a:off x="2571840" y="4630680"/>
            <a:ext cx="2939400" cy="621720"/>
          </a:xfrm>
          <a:prstGeom prst="rect">
            <a:avLst/>
          </a:prstGeom>
          <a:solidFill>
            <a:srgbClr val="0F1B2B"/>
          </a:solidFill>
          <a:ln w="9525">
            <a:solidFill>
              <a:srgbClr val="2B4A7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26" name="Google Shape;331;p13"/>
          <p:cNvSpPr/>
          <p:nvPr/>
        </p:nvSpPr>
        <p:spPr>
          <a:xfrm>
            <a:off x="2535480" y="4791240"/>
            <a:ext cx="301176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9EC6FF"/>
                </a:solidFill>
                <a:effectLst/>
                <a:uFillTx/>
                <a:latin typeface="Courier New"/>
                <a:ea typeface="Courier New"/>
              </a:rPr>
              <a:t>newPR[2]</a:t>
            </a:r>
            <a:endParaRPr lang="en-US" sz="1800" b="0" u="none" strike="noStrike">
              <a:solidFill>
                <a:srgbClr val="FFFFFF"/>
              </a:solidFill>
              <a:effectLst/>
              <a:uFillTx/>
              <a:latin typeface="Arial"/>
            </a:endParaRPr>
          </a:p>
        </p:txBody>
      </p:sp>
      <p:sp>
        <p:nvSpPr>
          <p:cNvPr id="327" name="Google Shape;332;p13"/>
          <p:cNvSpPr/>
          <p:nvPr/>
        </p:nvSpPr>
        <p:spPr>
          <a:xfrm>
            <a:off x="5626080" y="4630680"/>
            <a:ext cx="2939400" cy="621720"/>
          </a:xfrm>
          <a:prstGeom prst="rect">
            <a:avLst/>
          </a:prstGeom>
          <a:solidFill>
            <a:srgbClr val="0F1B2B"/>
          </a:solidFill>
          <a:ln w="9525">
            <a:solidFill>
              <a:srgbClr val="2B4A7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28" name="Google Shape;333;p13"/>
          <p:cNvSpPr/>
          <p:nvPr/>
        </p:nvSpPr>
        <p:spPr>
          <a:xfrm>
            <a:off x="5590080" y="4791240"/>
            <a:ext cx="301176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9EC6FF"/>
                </a:solidFill>
                <a:effectLst/>
                <a:uFillTx/>
                <a:latin typeface="Courier New"/>
                <a:ea typeface="Courier New"/>
              </a:rPr>
              <a:t>newPR[3]</a:t>
            </a:r>
            <a:endParaRPr lang="en-US" sz="1800" b="0" u="none" strike="noStrike">
              <a:solidFill>
                <a:srgbClr val="FFFFFF"/>
              </a:solidFill>
              <a:effectLst/>
              <a:uFillTx/>
              <a:latin typeface="Arial"/>
            </a:endParaRPr>
          </a:p>
        </p:txBody>
      </p:sp>
      <p:sp>
        <p:nvSpPr>
          <p:cNvPr id="329" name="Google Shape;334;p13"/>
          <p:cNvSpPr/>
          <p:nvPr/>
        </p:nvSpPr>
        <p:spPr>
          <a:xfrm>
            <a:off x="8680320" y="4630680"/>
            <a:ext cx="2939400" cy="621720"/>
          </a:xfrm>
          <a:prstGeom prst="rect">
            <a:avLst/>
          </a:prstGeom>
          <a:noFill/>
          <a:ln w="9525">
            <a:solidFill>
              <a:srgbClr val="223045"/>
            </a:solidFill>
            <a:prstDash val="dash"/>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30" name="Google Shape;335;p13"/>
          <p:cNvSpPr/>
          <p:nvPr/>
        </p:nvSpPr>
        <p:spPr>
          <a:xfrm>
            <a:off x="8644320" y="4791240"/>
            <a:ext cx="301176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5B6A7D"/>
                </a:solidFill>
                <a:effectLst/>
                <a:uFillTx/>
                <a:latin typeface="Courier New"/>
                <a:ea typeface="Courier New"/>
              </a:rPr>
              <a:t>newPR[N-1]</a:t>
            </a:r>
            <a:endParaRPr lang="en-US" sz="1800" b="0" u="none" strike="noStrike">
              <a:solidFill>
                <a:srgbClr val="FFFFFF"/>
              </a:solidFill>
              <a:effectLst/>
              <a:uFillTx/>
              <a:latin typeface="Arial"/>
            </a:endParaRPr>
          </a:p>
        </p:txBody>
      </p:sp>
      <p:sp>
        <p:nvSpPr>
          <p:cNvPr id="331" name="Google Shape;336;p13"/>
          <p:cNvSpPr/>
          <p:nvPr/>
        </p:nvSpPr>
        <p:spPr>
          <a:xfrm>
            <a:off x="952560" y="6212520"/>
            <a:ext cx="10667160" cy="15120"/>
          </a:xfrm>
          <a:prstGeom prst="rect">
            <a:avLst/>
          </a:prstGeom>
          <a:solidFill>
            <a:srgbClr val="F5A524"/>
          </a:solidFill>
          <a:ln w="0">
            <a:noFill/>
          </a:ln>
        </p:spPr>
        <p:style>
          <a:lnRef idx="0"/>
          <a:fillRef idx="0"/>
          <a:effectRef idx="0"/>
          <a:fontRef idx="minor"/>
        </p:style>
        <p:txBody>
          <a:bodyPr lIns="90000" tIns="7560" rIns="90000" bIns="7560" anchor="ctr">
            <a:noAutofit/>
          </a:bodyPr>
          <a:p>
            <a:pPr/>
            <a:endParaRPr lang="en-US" sz="1400" b="0" u="none" strike="noStrike">
              <a:solidFill>
                <a:srgbClr val="000000"/>
              </a:solidFill>
              <a:effectLst/>
              <a:uFillTx/>
              <a:latin typeface="Arial"/>
            </a:endParaRPr>
          </a:p>
        </p:txBody>
      </p:sp>
      <p:sp>
        <p:nvSpPr>
          <p:cNvPr id="332" name="Google Shape;337;p13"/>
          <p:cNvSpPr/>
          <p:nvPr/>
        </p:nvSpPr>
        <p:spPr>
          <a:xfrm>
            <a:off x="952560" y="5538960"/>
            <a:ext cx="10667160" cy="15120"/>
          </a:xfrm>
          <a:prstGeom prst="rect">
            <a:avLst/>
          </a:prstGeom>
          <a:solidFill>
            <a:srgbClr val="F5A524"/>
          </a:solidFill>
          <a:ln w="0">
            <a:noFill/>
          </a:ln>
        </p:spPr>
        <p:style>
          <a:lnRef idx="0"/>
          <a:fillRef idx="0"/>
          <a:effectRef idx="0"/>
          <a:fontRef idx="minor"/>
        </p:style>
        <p:txBody>
          <a:bodyPr lIns="90000" tIns="7560" rIns="90000" bIns="7560" anchor="ctr">
            <a:noAutofit/>
          </a:bodyPr>
          <a:p>
            <a:pPr/>
            <a:endParaRPr lang="en-US" sz="1400" b="0" u="none" strike="noStrike">
              <a:solidFill>
                <a:srgbClr val="000000"/>
              </a:solidFill>
              <a:effectLst/>
              <a:uFillTx/>
              <a:latin typeface="Arial"/>
            </a:endParaRPr>
          </a:p>
        </p:txBody>
      </p:sp>
      <p:sp>
        <p:nvSpPr>
          <p:cNvPr id="333" name="Google Shape;338;p13"/>
          <p:cNvSpPr/>
          <p:nvPr/>
        </p:nvSpPr>
        <p:spPr>
          <a:xfrm>
            <a:off x="792360" y="5707080"/>
            <a:ext cx="10987200" cy="3906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2100" b="0" u="none" strike="noStrike">
                <a:solidFill>
                  <a:srgbClr val="F5A524"/>
                </a:solidFill>
                <a:effectLst/>
                <a:uFillTx/>
                <a:latin typeface="Courier New"/>
                <a:ea typeface="Courier New"/>
              </a:rPr>
              <a:t>BARRIER</a:t>
            </a:r>
            <a:endParaRPr lang="en-US" sz="2100" b="0" u="none" strike="noStrike">
              <a:solidFill>
                <a:srgbClr val="FFFFFF"/>
              </a:solidFill>
              <a:effectLst/>
              <a:uFillTx/>
              <a:latin typeface="Arial"/>
            </a:endParaRPr>
          </a:p>
        </p:txBody>
      </p:sp>
      <p:sp>
        <p:nvSpPr>
          <p:cNvPr id="334" name="Google Shape;339;p13"/>
          <p:cNvSpPr/>
          <p:nvPr/>
        </p:nvSpPr>
        <p:spPr>
          <a:xfrm>
            <a:off x="419040" y="6438240"/>
            <a:ext cx="11734200" cy="342360"/>
          </a:xfrm>
          <a:prstGeom prst="rect">
            <a:avLst/>
          </a:prstGeom>
          <a:noFill/>
          <a:ln w="0">
            <a:noFill/>
          </a:ln>
        </p:spPr>
        <p:style>
          <a:lnRef idx="0"/>
          <a:fillRef idx="0"/>
          <a:effectRef idx="0"/>
          <a:fontRef idx="minor"/>
        </p:style>
        <p:txBody>
          <a:bodyPr lIns="25560" tIns="25560" rIns="25560" bIns="25560" anchor="t">
            <a:noAutofit/>
          </a:bodyPr>
          <a:p>
            <a:pPr algn="ctr">
              <a:lnSpc>
                <a:spcPct val="88000"/>
              </a:lnSpc>
              <a:tabLst>
                <a:tab pos="0" algn="l"/>
              </a:tabLst>
            </a:pPr>
            <a:r>
              <a:rPr lang="en-US" sz="2400" b="0" u="none" strike="noStrike">
                <a:solidFill>
                  <a:srgbClr val="4D9FFF"/>
                </a:solidFill>
                <a:effectLst/>
                <a:uFillTx/>
                <a:latin typeface="Arial"/>
                <a:ea typeface="Arial"/>
              </a:rPr>
              <a:t>↓</a:t>
            </a:r>
            <a:endParaRPr lang="en-US" sz="2400" b="0" u="none" strike="noStrike">
              <a:solidFill>
                <a:srgbClr val="FFFFFF"/>
              </a:solidFill>
              <a:effectLst/>
              <a:uFillTx/>
              <a:latin typeface="Arial"/>
            </a:endParaRPr>
          </a:p>
        </p:txBody>
      </p:sp>
      <p:sp>
        <p:nvSpPr>
          <p:cNvPr id="335" name="Google Shape;340;p13"/>
          <p:cNvSpPr/>
          <p:nvPr/>
        </p:nvSpPr>
        <p:spPr>
          <a:xfrm>
            <a:off x="419040" y="6952320"/>
            <a:ext cx="11734200" cy="33912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00" b="0" u="none" strike="noStrike">
                <a:solidFill>
                  <a:srgbClr val="8B9AAB"/>
                </a:solidFill>
                <a:effectLst/>
                <a:uFillTx/>
                <a:latin typeface="Courier New"/>
                <a:ea typeface="Courier New"/>
              </a:rPr>
              <a:t>next iteration</a:t>
            </a:r>
            <a:endParaRPr lang="en-US" sz="1800" b="0" u="none" strike="noStrike">
              <a:solidFill>
                <a:srgbClr val="FFFFFF"/>
              </a:solidFill>
              <a:effectLst/>
              <a:uFillTx/>
              <a:latin typeface="Arial"/>
            </a:endParaRPr>
          </a:p>
        </p:txBody>
      </p:sp>
      <p:sp>
        <p:nvSpPr>
          <p:cNvPr id="336" name="Google Shape;341;p13"/>
          <p:cNvSpPr/>
          <p:nvPr/>
        </p:nvSpPr>
        <p:spPr>
          <a:xfrm>
            <a:off x="952560" y="7597080"/>
            <a:ext cx="15120" cy="873720"/>
          </a:xfrm>
          <a:prstGeom prst="rect">
            <a:avLst/>
          </a:prstGeom>
          <a:solidFill>
            <a:srgbClr val="3DDC97"/>
          </a:solidFill>
          <a:ln w="0">
            <a:noFill/>
          </a:ln>
        </p:spPr>
        <p:style>
          <a:lnRef idx="0"/>
          <a:fillRef idx="0"/>
          <a:effectRef idx="0"/>
          <a:fontRef idx="minor"/>
        </p:style>
        <p:txBody>
          <a:bodyPr lIns="7560" tIns="91440" rIns="7560" bIns="91440" anchor="ctr">
            <a:noAutofit/>
          </a:bodyPr>
          <a:p>
            <a:pPr/>
            <a:endParaRPr lang="en-US" sz="1400" b="0" u="none" strike="noStrike">
              <a:solidFill>
                <a:srgbClr val="000000"/>
              </a:solidFill>
              <a:effectLst/>
              <a:uFillTx/>
              <a:latin typeface="Arial"/>
            </a:endParaRPr>
          </a:p>
        </p:txBody>
      </p:sp>
      <p:sp>
        <p:nvSpPr>
          <p:cNvPr id="337" name="Google Shape;342;p13"/>
          <p:cNvSpPr/>
          <p:nvPr/>
        </p:nvSpPr>
        <p:spPr>
          <a:xfrm>
            <a:off x="1254240" y="7597080"/>
            <a:ext cx="10685520" cy="911880"/>
          </a:xfrm>
          <a:prstGeom prst="rect">
            <a:avLst/>
          </a:prstGeom>
          <a:noFill/>
          <a:ln w="0">
            <a:noFill/>
          </a:ln>
        </p:spPr>
        <p:style>
          <a:lnRef idx="0"/>
          <a:fillRef idx="0"/>
          <a:effectRef idx="0"/>
          <a:fontRef idx="minor"/>
        </p:style>
        <p:txBody>
          <a:bodyPr lIns="25560" tIns="25560" rIns="25560" bIns="25560" anchor="t">
            <a:noAutofit/>
          </a:bodyPr>
          <a:p>
            <a:pPr>
              <a:lnSpc>
                <a:spcPct val="119000"/>
              </a:lnSpc>
              <a:tabLst>
                <a:tab pos="0" algn="l"/>
              </a:tabLst>
            </a:pPr>
            <a:r>
              <a:rPr lang="en-US" sz="2550" b="0" u="none" strike="noStrike">
                <a:solidFill>
                  <a:srgbClr val="EEF2F7"/>
                </a:solidFill>
                <a:effectLst/>
                <a:uFillTx/>
                <a:latin typeface="Arial"/>
                <a:ea typeface="Arial"/>
              </a:rPr>
              <a:t>Node updates within one iteration are parallel, but iterations themselves remain sequential.</a:t>
            </a:r>
            <a:endParaRPr lang="en-US" sz="2550" b="0" u="none" strike="noStrike">
              <a:solidFill>
                <a:srgbClr val="FFFFFF"/>
              </a:solidFill>
              <a:effectLst/>
              <a:uFillTx/>
              <a:latin typeface="Arial"/>
            </a:endParaRPr>
          </a:p>
        </p:txBody>
      </p:sp>
      <p:sp>
        <p:nvSpPr>
          <p:cNvPr id="338" name="Google Shape;343;p13"/>
          <p:cNvSpPr/>
          <p:nvPr/>
        </p:nvSpPr>
        <p:spPr>
          <a:xfrm>
            <a:off x="12382560" y="2389320"/>
            <a:ext cx="5447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SHARED</a:t>
            </a:r>
            <a:endParaRPr lang="en-US" sz="1800" b="0" u="none" strike="noStrike">
              <a:solidFill>
                <a:srgbClr val="FFFFFF"/>
              </a:solidFill>
              <a:effectLst/>
              <a:uFillTx/>
              <a:latin typeface="Arial"/>
            </a:endParaRPr>
          </a:p>
        </p:txBody>
      </p:sp>
      <p:sp>
        <p:nvSpPr>
          <p:cNvPr id="339" name="Google Shape;344;p13"/>
          <p:cNvSpPr/>
          <p:nvPr/>
        </p:nvSpPr>
        <p:spPr>
          <a:xfrm>
            <a:off x="12382560" y="2805120"/>
            <a:ext cx="5100840" cy="730800"/>
          </a:xfrm>
          <a:prstGeom prst="rect">
            <a:avLst/>
          </a:prstGeom>
          <a:noFill/>
          <a:ln w="0">
            <a:noFill/>
          </a:ln>
        </p:spPr>
        <p:style>
          <a:lnRef idx="0"/>
          <a:fillRef idx="0"/>
          <a:effectRef idx="0"/>
          <a:fontRef idx="minor"/>
        </p:style>
        <p:txBody>
          <a:bodyPr lIns="25560" tIns="25560" rIns="25560" bIns="25560" anchor="t">
            <a:noAutofit/>
          </a:bodyPr>
          <a:p>
            <a:pPr>
              <a:lnSpc>
                <a:spcPct val="123000"/>
              </a:lnSpc>
              <a:tabLst>
                <a:tab pos="0" algn="l"/>
              </a:tabLst>
            </a:pPr>
            <a:r>
              <a:rPr lang="en-US" sz="1950" b="0" u="none" strike="noStrike">
                <a:solidFill>
                  <a:srgbClr val="A9B6C6"/>
                </a:solidFill>
                <a:effectLst/>
                <a:uFillTx/>
                <a:latin typeface="Arial"/>
                <a:ea typeface="Arial"/>
              </a:rPr>
              <a:t>PR[], graph / in-link adjacency (read-only during the loop).</a:t>
            </a:r>
            <a:endParaRPr lang="en-US" sz="1950" b="0" u="none" strike="noStrike">
              <a:solidFill>
                <a:srgbClr val="FFFFFF"/>
              </a:solidFill>
              <a:effectLst/>
              <a:uFillTx/>
              <a:latin typeface="Arial"/>
            </a:endParaRPr>
          </a:p>
        </p:txBody>
      </p:sp>
      <p:sp>
        <p:nvSpPr>
          <p:cNvPr id="340" name="Google Shape;345;p13"/>
          <p:cNvSpPr/>
          <p:nvPr/>
        </p:nvSpPr>
        <p:spPr>
          <a:xfrm>
            <a:off x="12382560" y="3784320"/>
            <a:ext cx="4952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341" name="Google Shape;346;p13"/>
          <p:cNvSpPr/>
          <p:nvPr/>
        </p:nvSpPr>
        <p:spPr>
          <a:xfrm>
            <a:off x="12382560" y="4079520"/>
            <a:ext cx="5447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PRIVATE</a:t>
            </a:r>
            <a:endParaRPr lang="en-US" sz="1800" b="0" u="none" strike="noStrike">
              <a:solidFill>
                <a:srgbClr val="FFFFFF"/>
              </a:solidFill>
              <a:effectLst/>
              <a:uFillTx/>
              <a:latin typeface="Arial"/>
            </a:endParaRPr>
          </a:p>
        </p:txBody>
      </p:sp>
      <p:sp>
        <p:nvSpPr>
          <p:cNvPr id="342" name="Google Shape;347;p13"/>
          <p:cNvSpPr/>
          <p:nvPr/>
        </p:nvSpPr>
        <p:spPr>
          <a:xfrm>
            <a:off x="12382560" y="4495320"/>
            <a:ext cx="5447520" cy="384120"/>
          </a:xfrm>
          <a:prstGeom prst="rect">
            <a:avLst/>
          </a:prstGeom>
          <a:noFill/>
          <a:ln w="0">
            <a:noFill/>
          </a:ln>
        </p:spPr>
        <p:style>
          <a:lnRef idx="0"/>
          <a:fillRef idx="0"/>
          <a:effectRef idx="0"/>
          <a:fontRef idx="minor"/>
        </p:style>
        <p:txBody>
          <a:bodyPr lIns="25560" tIns="25560" rIns="25560" bIns="25560" anchor="t">
            <a:noAutofit/>
          </a:bodyPr>
          <a:p>
            <a:pPr>
              <a:lnSpc>
                <a:spcPct val="123000"/>
              </a:lnSpc>
              <a:tabLst>
                <a:tab pos="0" algn="l"/>
              </a:tabLst>
            </a:pPr>
            <a:r>
              <a:rPr lang="en-US" sz="1950" b="0" u="none" strike="noStrike">
                <a:solidFill>
                  <a:srgbClr val="A9B6C6"/>
                </a:solidFill>
                <a:effectLst/>
                <a:uFillTx/>
                <a:latin typeface="Arial"/>
                <a:ea typeface="Arial"/>
              </a:rPr>
              <a:t>Loop variable i, local sum accumulator.</a:t>
            </a:r>
            <a:endParaRPr lang="en-US" sz="1950" b="0" u="none" strike="noStrike">
              <a:solidFill>
                <a:srgbClr val="FFFFFF"/>
              </a:solidFill>
              <a:effectLst/>
              <a:uFillTx/>
              <a:latin typeface="Arial"/>
            </a:endParaRPr>
          </a:p>
        </p:txBody>
      </p:sp>
      <p:sp>
        <p:nvSpPr>
          <p:cNvPr id="343" name="Google Shape;348;p13"/>
          <p:cNvSpPr/>
          <p:nvPr/>
        </p:nvSpPr>
        <p:spPr>
          <a:xfrm>
            <a:off x="12382560" y="5127840"/>
            <a:ext cx="4952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344" name="Google Shape;349;p13"/>
          <p:cNvSpPr/>
          <p:nvPr/>
        </p:nvSpPr>
        <p:spPr>
          <a:xfrm>
            <a:off x="12382560" y="5423040"/>
            <a:ext cx="5447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REDUCTION</a:t>
            </a:r>
            <a:endParaRPr lang="en-US" sz="1800" b="0" u="none" strike="noStrike">
              <a:solidFill>
                <a:srgbClr val="FFFFFF"/>
              </a:solidFill>
              <a:effectLst/>
              <a:uFillTx/>
              <a:latin typeface="Arial"/>
            </a:endParaRPr>
          </a:p>
        </p:txBody>
      </p:sp>
      <p:sp>
        <p:nvSpPr>
          <p:cNvPr id="345" name="Google Shape;350;p13"/>
          <p:cNvSpPr/>
          <p:nvPr/>
        </p:nvSpPr>
        <p:spPr>
          <a:xfrm>
            <a:off x="12382560" y="5839200"/>
            <a:ext cx="5447520" cy="384120"/>
          </a:xfrm>
          <a:prstGeom prst="rect">
            <a:avLst/>
          </a:prstGeom>
          <a:noFill/>
          <a:ln w="0">
            <a:noFill/>
          </a:ln>
        </p:spPr>
        <p:style>
          <a:lnRef idx="0"/>
          <a:fillRef idx="0"/>
          <a:effectRef idx="0"/>
          <a:fontRef idx="minor"/>
        </p:style>
        <p:txBody>
          <a:bodyPr lIns="25560" tIns="25560" rIns="25560" bIns="25560" anchor="t">
            <a:noAutofit/>
          </a:bodyPr>
          <a:p>
            <a:pPr>
              <a:lnSpc>
                <a:spcPct val="123000"/>
              </a:lnSpc>
              <a:tabLst>
                <a:tab pos="0" algn="l"/>
              </a:tabLst>
            </a:pPr>
            <a:r>
              <a:rPr lang="en-US" sz="1950" b="0" u="none" strike="noStrike">
                <a:solidFill>
                  <a:srgbClr val="A9B6C6"/>
                </a:solidFill>
                <a:effectLst/>
                <a:uFillTx/>
                <a:latin typeface="Arial"/>
                <a:ea typeface="Arial"/>
              </a:rPr>
              <a:t>Dangling sum, error norm.</a:t>
            </a:r>
            <a:endParaRPr lang="en-US" sz="1950" b="0" u="none" strike="noStrike">
              <a:solidFill>
                <a:srgbClr val="FFFFFF"/>
              </a:solidFill>
              <a:effectLst/>
              <a:uFillTx/>
              <a:latin typeface="Arial"/>
            </a:endParaRPr>
          </a:p>
        </p:txBody>
      </p:sp>
      <p:sp>
        <p:nvSpPr>
          <p:cNvPr id="346" name="Google Shape;351;p13"/>
          <p:cNvSpPr/>
          <p:nvPr/>
        </p:nvSpPr>
        <p:spPr>
          <a:xfrm>
            <a:off x="12382560" y="6471720"/>
            <a:ext cx="495216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347" name="Google Shape;352;p13"/>
          <p:cNvSpPr/>
          <p:nvPr/>
        </p:nvSpPr>
        <p:spPr>
          <a:xfrm>
            <a:off x="12382560" y="6766920"/>
            <a:ext cx="5447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F5A524"/>
                </a:solidFill>
                <a:effectLst/>
                <a:uFillTx/>
                <a:latin typeface="Courier New"/>
                <a:ea typeface="Courier New"/>
              </a:rPr>
              <a:t>SYNCHRONIZATION</a:t>
            </a:r>
            <a:endParaRPr lang="en-US" sz="1800" b="0" u="none" strike="noStrike">
              <a:solidFill>
                <a:srgbClr val="FFFFFF"/>
              </a:solidFill>
              <a:effectLst/>
              <a:uFillTx/>
              <a:latin typeface="Arial"/>
            </a:endParaRPr>
          </a:p>
        </p:txBody>
      </p:sp>
      <p:sp>
        <p:nvSpPr>
          <p:cNvPr id="348" name="Google Shape;353;p13"/>
          <p:cNvSpPr/>
          <p:nvPr/>
        </p:nvSpPr>
        <p:spPr>
          <a:xfrm>
            <a:off x="12382560" y="7182720"/>
            <a:ext cx="5100840" cy="730800"/>
          </a:xfrm>
          <a:prstGeom prst="rect">
            <a:avLst/>
          </a:prstGeom>
          <a:noFill/>
          <a:ln w="0">
            <a:noFill/>
          </a:ln>
        </p:spPr>
        <p:style>
          <a:lnRef idx="0"/>
          <a:fillRef idx="0"/>
          <a:effectRef idx="0"/>
          <a:fontRef idx="minor"/>
        </p:style>
        <p:txBody>
          <a:bodyPr lIns="25560" tIns="25560" rIns="25560" bIns="25560" anchor="t">
            <a:noAutofit/>
          </a:bodyPr>
          <a:p>
            <a:pPr>
              <a:lnSpc>
                <a:spcPct val="123000"/>
              </a:lnSpc>
              <a:tabLst>
                <a:tab pos="0" algn="l"/>
              </a:tabLst>
            </a:pPr>
            <a:r>
              <a:rPr lang="en-US" sz="1950" b="0" u="none" strike="noStrike">
                <a:solidFill>
                  <a:srgbClr val="A9B6C6"/>
                </a:solidFill>
                <a:effectLst/>
                <a:uFillTx/>
                <a:latin typeface="Arial"/>
                <a:ea typeface="Arial"/>
              </a:rPr>
              <a:t>Barrier required before the next iteration begins.</a:t>
            </a:r>
            <a:endParaRPr lang="en-US" sz="1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349" name="Google Shape;359;p14"/>
          <p:cNvSpPr/>
          <p:nvPr/>
        </p:nvSpPr>
        <p:spPr>
          <a:xfrm>
            <a:off x="952560" y="80028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MODULE II · Q7 – Q8 — OPENMP IMPLEMENTATION</a:t>
            </a:r>
            <a:endParaRPr lang="en-US" sz="1800" b="0" u="none" strike="noStrike">
              <a:solidFill>
                <a:srgbClr val="FFFFFF"/>
              </a:solidFill>
              <a:effectLst/>
              <a:uFillTx/>
              <a:latin typeface="Arial"/>
            </a:endParaRPr>
          </a:p>
        </p:txBody>
      </p:sp>
      <p:sp>
        <p:nvSpPr>
          <p:cNvPr id="350" name="Google Shape;360;p14"/>
          <p:cNvSpPr/>
          <p:nvPr/>
        </p:nvSpPr>
        <p:spPr>
          <a:xfrm>
            <a:off x="952560" y="1292400"/>
            <a:ext cx="18020520" cy="8391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950" b="1" u="none" strike="noStrike">
                <a:solidFill>
                  <a:srgbClr val="EEF2F7"/>
                </a:solidFill>
                <a:effectLst/>
                <a:uFillTx/>
                <a:latin typeface="Arial"/>
                <a:ea typeface="Arial"/>
              </a:rPr>
              <a:t>Turning the recurrence into OpenMP</a:t>
            </a:r>
            <a:endParaRPr lang="en-US" sz="4950" b="0" u="none" strike="noStrike">
              <a:solidFill>
                <a:srgbClr val="FFFFFF"/>
              </a:solidFill>
              <a:effectLst/>
              <a:uFillTx/>
              <a:latin typeface="Arial"/>
            </a:endParaRPr>
          </a:p>
        </p:txBody>
      </p:sp>
      <p:sp>
        <p:nvSpPr>
          <p:cNvPr id="351" name="Google Shape;361;p14"/>
          <p:cNvSpPr/>
          <p:nvPr/>
        </p:nvSpPr>
        <p:spPr>
          <a:xfrm>
            <a:off x="952560" y="2494080"/>
            <a:ext cx="15120" cy="7068240"/>
          </a:xfrm>
          <a:prstGeom prst="rect">
            <a:avLst/>
          </a:prstGeom>
          <a:solidFill>
            <a:srgbClr val="4D9FFF"/>
          </a:solidFill>
          <a:ln w="0">
            <a:noFill/>
          </a:ln>
        </p:spPr>
        <p:style>
          <a:lnRef idx="0"/>
          <a:fillRef idx="0"/>
          <a:effectRef idx="0"/>
          <a:fontRef idx="minor"/>
        </p:style>
        <p:txBody>
          <a:bodyPr lIns="7560" tIns="91440" rIns="7560" bIns="91440" anchor="ctr">
            <a:noAutofit/>
          </a:bodyPr>
          <a:p>
            <a:pPr/>
            <a:endParaRPr lang="en-US" sz="1400" b="0" u="none" strike="noStrike">
              <a:solidFill>
                <a:srgbClr val="FFFFFF"/>
              </a:solidFill>
              <a:effectLst/>
              <a:uFillTx/>
              <a:latin typeface="Arial"/>
            </a:endParaRPr>
          </a:p>
        </p:txBody>
      </p:sp>
      <p:sp>
        <p:nvSpPr>
          <p:cNvPr id="352" name="Google Shape;362;p14"/>
          <p:cNvSpPr/>
          <p:nvPr/>
        </p:nvSpPr>
        <p:spPr>
          <a:xfrm>
            <a:off x="1311120" y="2494080"/>
            <a:ext cx="823572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C8D3E0"/>
                </a:solidFill>
                <a:effectLst/>
                <a:uFillTx/>
                <a:latin typeface="Courier New"/>
                <a:ea typeface="Courier New"/>
              </a:rPr>
              <a:t>Initialize PR[i] = 1/N</a:t>
            </a:r>
            <a:endParaRPr lang="en-US" sz="1870" b="0" u="none" strike="noStrike">
              <a:solidFill>
                <a:srgbClr val="FFFFFF"/>
              </a:solidFill>
              <a:effectLst/>
              <a:uFillTx/>
              <a:latin typeface="Arial"/>
            </a:endParaRPr>
          </a:p>
        </p:txBody>
      </p:sp>
      <p:sp>
        <p:nvSpPr>
          <p:cNvPr id="353" name="Google Shape;363;p14"/>
          <p:cNvSpPr/>
          <p:nvPr/>
        </p:nvSpPr>
        <p:spPr>
          <a:xfrm>
            <a:off x="1311120" y="2874960"/>
            <a:ext cx="823572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C8D3E0"/>
                </a:solidFill>
                <a:effectLst/>
                <a:uFillTx/>
                <a:latin typeface="Courier New"/>
                <a:ea typeface="Courier New"/>
              </a:rPr>
              <a:t>repeat</a:t>
            </a:r>
            <a:endParaRPr lang="en-US" sz="1870" b="0" u="none" strike="noStrike">
              <a:solidFill>
                <a:srgbClr val="FFFFFF"/>
              </a:solidFill>
              <a:effectLst/>
              <a:uFillTx/>
              <a:latin typeface="Arial"/>
            </a:endParaRPr>
          </a:p>
        </p:txBody>
      </p:sp>
      <p:sp>
        <p:nvSpPr>
          <p:cNvPr id="354" name="Google Shape;364;p14"/>
          <p:cNvSpPr/>
          <p:nvPr/>
        </p:nvSpPr>
        <p:spPr>
          <a:xfrm>
            <a:off x="1596960" y="3255840"/>
            <a:ext cx="795024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F5A524"/>
                </a:solidFill>
                <a:effectLst/>
                <a:uFillTx/>
                <a:latin typeface="Courier New"/>
                <a:ea typeface="Courier New"/>
              </a:rPr>
              <a:t>#pragma omp parallel for reduction(+:dangling)</a:t>
            </a:r>
            <a:endParaRPr lang="en-US" sz="1870" b="0" u="none" strike="noStrike">
              <a:solidFill>
                <a:srgbClr val="FFFFFF"/>
              </a:solidFill>
              <a:effectLst/>
              <a:uFillTx/>
              <a:latin typeface="Arial"/>
            </a:endParaRPr>
          </a:p>
        </p:txBody>
      </p:sp>
      <p:sp>
        <p:nvSpPr>
          <p:cNvPr id="355" name="Google Shape;365;p14"/>
          <p:cNvSpPr/>
          <p:nvPr/>
        </p:nvSpPr>
        <p:spPr>
          <a:xfrm>
            <a:off x="1882800" y="3637080"/>
            <a:ext cx="766440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C8D3E0"/>
                </a:solidFill>
                <a:effectLst/>
                <a:uFillTx/>
                <a:latin typeface="Courier New"/>
                <a:ea typeface="Courier New"/>
              </a:rPr>
              <a:t>dangling = sum PR[j], outdeg(j)=0</a:t>
            </a:r>
            <a:endParaRPr lang="en-US" sz="1870" b="0" u="none" strike="noStrike">
              <a:solidFill>
                <a:srgbClr val="FFFFFF"/>
              </a:solidFill>
              <a:effectLst/>
              <a:uFillTx/>
              <a:latin typeface="Arial"/>
            </a:endParaRPr>
          </a:p>
        </p:txBody>
      </p:sp>
      <p:sp>
        <p:nvSpPr>
          <p:cNvPr id="356" name="Google Shape;366;p14"/>
          <p:cNvSpPr/>
          <p:nvPr/>
        </p:nvSpPr>
        <p:spPr>
          <a:xfrm>
            <a:off x="1596960" y="4017960"/>
            <a:ext cx="795024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F5A524"/>
                </a:solidFill>
                <a:effectLst/>
                <a:uFillTx/>
                <a:latin typeface="Courier New"/>
                <a:ea typeface="Courier New"/>
              </a:rPr>
              <a:t>#pragma omp parallel for</a:t>
            </a:r>
            <a:endParaRPr lang="en-US" sz="1870" b="0" u="none" strike="noStrike">
              <a:solidFill>
                <a:srgbClr val="FFFFFF"/>
              </a:solidFill>
              <a:effectLst/>
              <a:uFillTx/>
              <a:latin typeface="Arial"/>
            </a:endParaRPr>
          </a:p>
        </p:txBody>
      </p:sp>
      <p:sp>
        <p:nvSpPr>
          <p:cNvPr id="357" name="Google Shape;367;p14"/>
          <p:cNvSpPr/>
          <p:nvPr/>
        </p:nvSpPr>
        <p:spPr>
          <a:xfrm>
            <a:off x="1882800" y="4398840"/>
            <a:ext cx="766440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C8D3E0"/>
                </a:solidFill>
                <a:effectLst/>
                <a:uFillTx/>
                <a:latin typeface="Courier New"/>
                <a:ea typeface="Courier New"/>
              </a:rPr>
              <a:t>for each i: compute </a:t>
            </a:r>
            <a:r>
              <a:rPr lang="en-US" sz="1870" b="0" u="none" strike="noStrike">
                <a:solidFill>
                  <a:srgbClr val="4D9FFF"/>
                </a:solidFill>
                <a:effectLst/>
                <a:uFillTx/>
                <a:latin typeface="Courier New"/>
                <a:ea typeface="Courier New"/>
              </a:rPr>
              <a:t>newPR[i]</a:t>
            </a:r>
            <a:endParaRPr lang="en-US" sz="1870" b="0" u="none" strike="noStrike">
              <a:solidFill>
                <a:srgbClr val="FFFFFF"/>
              </a:solidFill>
              <a:effectLst/>
              <a:uFillTx/>
              <a:latin typeface="Arial"/>
            </a:endParaRPr>
          </a:p>
        </p:txBody>
      </p:sp>
      <p:sp>
        <p:nvSpPr>
          <p:cNvPr id="358" name="Google Shape;368;p14"/>
          <p:cNvSpPr/>
          <p:nvPr/>
        </p:nvSpPr>
        <p:spPr>
          <a:xfrm>
            <a:off x="1596960" y="4780080"/>
            <a:ext cx="795024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F5A524"/>
                </a:solidFill>
                <a:effectLst/>
                <a:uFillTx/>
                <a:latin typeface="Courier New"/>
                <a:ea typeface="Courier New"/>
              </a:rPr>
              <a:t>barrier</a:t>
            </a:r>
            <a:endParaRPr lang="en-US" sz="1870" b="0" u="none" strike="noStrike">
              <a:solidFill>
                <a:srgbClr val="FFFFFF"/>
              </a:solidFill>
              <a:effectLst/>
              <a:uFillTx/>
              <a:latin typeface="Arial"/>
            </a:endParaRPr>
          </a:p>
        </p:txBody>
      </p:sp>
      <p:sp>
        <p:nvSpPr>
          <p:cNvPr id="359" name="Google Shape;369;p14"/>
          <p:cNvSpPr/>
          <p:nvPr/>
        </p:nvSpPr>
        <p:spPr>
          <a:xfrm>
            <a:off x="1596960" y="5160960"/>
            <a:ext cx="795024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F5A524"/>
                </a:solidFill>
                <a:effectLst/>
                <a:uFillTx/>
                <a:latin typeface="Courier New"/>
                <a:ea typeface="Courier New"/>
              </a:rPr>
              <a:t>#pragma omp parallel for reduction(+:error)</a:t>
            </a:r>
            <a:endParaRPr lang="en-US" sz="1870" b="0" u="none" strike="noStrike">
              <a:solidFill>
                <a:srgbClr val="FFFFFF"/>
              </a:solidFill>
              <a:effectLst/>
              <a:uFillTx/>
              <a:latin typeface="Arial"/>
            </a:endParaRPr>
          </a:p>
        </p:txBody>
      </p:sp>
      <p:sp>
        <p:nvSpPr>
          <p:cNvPr id="360" name="Google Shape;370;p14"/>
          <p:cNvSpPr/>
          <p:nvPr/>
        </p:nvSpPr>
        <p:spPr>
          <a:xfrm>
            <a:off x="1882800" y="5541840"/>
            <a:ext cx="766440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3DDC97"/>
                </a:solidFill>
                <a:effectLst/>
                <a:uFillTx/>
                <a:latin typeface="Courier New"/>
                <a:ea typeface="Courier New"/>
              </a:rPr>
              <a:t>error </a:t>
            </a:r>
            <a:r>
              <a:rPr lang="en-US" sz="1870" b="0" u="none" strike="noStrike">
                <a:solidFill>
                  <a:srgbClr val="C8D3E0"/>
                </a:solidFill>
                <a:effectLst/>
                <a:uFillTx/>
                <a:latin typeface="Courier New"/>
                <a:ea typeface="Courier New"/>
              </a:rPr>
              <a:t>= sum |newPR[i]-PR[i]|</a:t>
            </a:r>
            <a:endParaRPr lang="en-US" sz="1870" b="0" u="none" strike="noStrike">
              <a:solidFill>
                <a:srgbClr val="FFFFFF"/>
              </a:solidFill>
              <a:effectLst/>
              <a:uFillTx/>
              <a:latin typeface="Arial"/>
            </a:endParaRPr>
          </a:p>
        </p:txBody>
      </p:sp>
      <p:sp>
        <p:nvSpPr>
          <p:cNvPr id="361" name="Google Shape;371;p14"/>
          <p:cNvSpPr/>
          <p:nvPr/>
        </p:nvSpPr>
        <p:spPr>
          <a:xfrm>
            <a:off x="1596960" y="5923080"/>
            <a:ext cx="795024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C8D3E0"/>
                </a:solidFill>
                <a:effectLst/>
                <a:uFillTx/>
                <a:latin typeface="Courier New"/>
                <a:ea typeface="Courier New"/>
              </a:rPr>
              <a:t>PR = newPR</a:t>
            </a:r>
            <a:endParaRPr lang="en-US" sz="1870" b="0" u="none" strike="noStrike">
              <a:solidFill>
                <a:srgbClr val="FFFFFF"/>
              </a:solidFill>
              <a:effectLst/>
              <a:uFillTx/>
              <a:latin typeface="Arial"/>
            </a:endParaRPr>
          </a:p>
        </p:txBody>
      </p:sp>
      <p:sp>
        <p:nvSpPr>
          <p:cNvPr id="362" name="Google Shape;372;p14"/>
          <p:cNvSpPr/>
          <p:nvPr/>
        </p:nvSpPr>
        <p:spPr>
          <a:xfrm>
            <a:off x="1311120" y="6303960"/>
            <a:ext cx="823572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C8D3E0"/>
                </a:solidFill>
                <a:effectLst/>
                <a:uFillTx/>
                <a:latin typeface="Courier New"/>
                <a:ea typeface="Courier New"/>
              </a:rPr>
              <a:t>until </a:t>
            </a:r>
            <a:r>
              <a:rPr lang="en-US" sz="1870" b="0" u="none" strike="noStrike">
                <a:solidFill>
                  <a:srgbClr val="3DDC97"/>
                </a:solidFill>
                <a:effectLst/>
                <a:uFillTx/>
                <a:latin typeface="Courier New"/>
                <a:ea typeface="Courier New"/>
              </a:rPr>
              <a:t>error &lt; eps</a:t>
            </a:r>
            <a:endParaRPr lang="en-US" sz="1870" b="0" u="none" strike="noStrike">
              <a:solidFill>
                <a:srgbClr val="FFFFFF"/>
              </a:solidFill>
              <a:effectLst/>
              <a:uFillTx/>
              <a:latin typeface="Arial"/>
            </a:endParaRPr>
          </a:p>
        </p:txBody>
      </p:sp>
      <p:sp>
        <p:nvSpPr>
          <p:cNvPr id="363" name="Google Shape;373;p14"/>
          <p:cNvSpPr/>
          <p:nvPr/>
        </p:nvSpPr>
        <p:spPr>
          <a:xfrm>
            <a:off x="10069920" y="2494080"/>
            <a:ext cx="4946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5B6A7D"/>
                </a:solidFill>
                <a:effectLst/>
                <a:uFillTx/>
                <a:latin typeface="Courier New"/>
                <a:ea typeface="Courier New"/>
              </a:rPr>
              <a:t>01</a:t>
            </a:r>
            <a:endParaRPr lang="en-US" sz="1950" b="0" u="none" strike="noStrike">
              <a:solidFill>
                <a:srgbClr val="FFFFFF"/>
              </a:solidFill>
              <a:effectLst/>
              <a:uFillTx/>
              <a:latin typeface="Arial"/>
            </a:endParaRPr>
          </a:p>
        </p:txBody>
      </p:sp>
      <p:sp>
        <p:nvSpPr>
          <p:cNvPr id="364" name="Google Shape;374;p14"/>
          <p:cNvSpPr/>
          <p:nvPr/>
        </p:nvSpPr>
        <p:spPr>
          <a:xfrm>
            <a:off x="10679760" y="2503800"/>
            <a:ext cx="73209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Arial"/>
                <a:ea typeface="Arial"/>
              </a:rPr>
              <a:t>Calculate dangling sum</a:t>
            </a:r>
            <a:endParaRPr lang="en-US" sz="1950" b="0" u="none" strike="noStrike">
              <a:solidFill>
                <a:srgbClr val="FFFFFF"/>
              </a:solidFill>
              <a:effectLst/>
              <a:uFillTx/>
              <a:latin typeface="Arial"/>
            </a:endParaRPr>
          </a:p>
        </p:txBody>
      </p:sp>
      <p:sp>
        <p:nvSpPr>
          <p:cNvPr id="365" name="Google Shape;375;p14"/>
          <p:cNvSpPr/>
          <p:nvPr/>
        </p:nvSpPr>
        <p:spPr>
          <a:xfrm>
            <a:off x="10069920" y="2937600"/>
            <a:ext cx="4946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5B6A7D"/>
                </a:solidFill>
                <a:effectLst/>
                <a:uFillTx/>
                <a:latin typeface="Courier New"/>
                <a:ea typeface="Courier New"/>
              </a:rPr>
              <a:t>02</a:t>
            </a:r>
            <a:endParaRPr lang="en-US" sz="1950" b="0" u="none" strike="noStrike">
              <a:solidFill>
                <a:srgbClr val="FFFFFF"/>
              </a:solidFill>
              <a:effectLst/>
              <a:uFillTx/>
              <a:latin typeface="Arial"/>
            </a:endParaRPr>
          </a:p>
        </p:txBody>
      </p:sp>
      <p:sp>
        <p:nvSpPr>
          <p:cNvPr id="366" name="Google Shape;376;p14"/>
          <p:cNvSpPr/>
          <p:nvPr/>
        </p:nvSpPr>
        <p:spPr>
          <a:xfrm>
            <a:off x="10679760" y="2947680"/>
            <a:ext cx="73209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Arial"/>
                <a:ea typeface="Arial"/>
              </a:rPr>
              <a:t>Parallelize node updates</a:t>
            </a:r>
            <a:endParaRPr lang="en-US" sz="1950" b="0" u="none" strike="noStrike">
              <a:solidFill>
                <a:srgbClr val="FFFFFF"/>
              </a:solidFill>
              <a:effectLst/>
              <a:uFillTx/>
              <a:latin typeface="Arial"/>
            </a:endParaRPr>
          </a:p>
        </p:txBody>
      </p:sp>
      <p:sp>
        <p:nvSpPr>
          <p:cNvPr id="367" name="Google Shape;377;p14"/>
          <p:cNvSpPr/>
          <p:nvPr/>
        </p:nvSpPr>
        <p:spPr>
          <a:xfrm>
            <a:off x="10069920" y="3381480"/>
            <a:ext cx="4946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5B6A7D"/>
                </a:solidFill>
                <a:effectLst/>
                <a:uFillTx/>
                <a:latin typeface="Courier New"/>
                <a:ea typeface="Courier New"/>
              </a:rPr>
              <a:t>03</a:t>
            </a:r>
            <a:endParaRPr lang="en-US" sz="1950" b="0" u="none" strike="noStrike">
              <a:solidFill>
                <a:srgbClr val="FFFFFF"/>
              </a:solidFill>
              <a:effectLst/>
              <a:uFillTx/>
              <a:latin typeface="Arial"/>
            </a:endParaRPr>
          </a:p>
        </p:txBody>
      </p:sp>
      <p:sp>
        <p:nvSpPr>
          <p:cNvPr id="368" name="Google Shape;378;p14"/>
          <p:cNvSpPr/>
          <p:nvPr/>
        </p:nvSpPr>
        <p:spPr>
          <a:xfrm>
            <a:off x="10679760" y="3391200"/>
            <a:ext cx="73209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Arial"/>
                <a:ea typeface="Arial"/>
              </a:rPr>
              <a:t>Synchronize</a:t>
            </a:r>
            <a:endParaRPr lang="en-US" sz="1950" b="0" u="none" strike="noStrike">
              <a:solidFill>
                <a:srgbClr val="FFFFFF"/>
              </a:solidFill>
              <a:effectLst/>
              <a:uFillTx/>
              <a:latin typeface="Arial"/>
            </a:endParaRPr>
          </a:p>
        </p:txBody>
      </p:sp>
      <p:sp>
        <p:nvSpPr>
          <p:cNvPr id="369" name="Google Shape;379;p14"/>
          <p:cNvSpPr/>
          <p:nvPr/>
        </p:nvSpPr>
        <p:spPr>
          <a:xfrm>
            <a:off x="10069920" y="3825000"/>
            <a:ext cx="4946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5B6A7D"/>
                </a:solidFill>
                <a:effectLst/>
                <a:uFillTx/>
                <a:latin typeface="Courier New"/>
                <a:ea typeface="Courier New"/>
              </a:rPr>
              <a:t>04</a:t>
            </a:r>
            <a:endParaRPr lang="en-US" sz="1950" b="0" u="none" strike="noStrike">
              <a:solidFill>
                <a:srgbClr val="FFFFFF"/>
              </a:solidFill>
              <a:effectLst/>
              <a:uFillTx/>
              <a:latin typeface="Arial"/>
            </a:endParaRPr>
          </a:p>
        </p:txBody>
      </p:sp>
      <p:sp>
        <p:nvSpPr>
          <p:cNvPr id="370" name="Google Shape;380;p14"/>
          <p:cNvSpPr/>
          <p:nvPr/>
        </p:nvSpPr>
        <p:spPr>
          <a:xfrm>
            <a:off x="10679760" y="3835080"/>
            <a:ext cx="73209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Arial"/>
                <a:ea typeface="Arial"/>
              </a:rPr>
              <a:t>Calculate error</a:t>
            </a:r>
            <a:endParaRPr lang="en-US" sz="1950" b="0" u="none" strike="noStrike">
              <a:solidFill>
                <a:srgbClr val="FFFFFF"/>
              </a:solidFill>
              <a:effectLst/>
              <a:uFillTx/>
              <a:latin typeface="Arial"/>
            </a:endParaRPr>
          </a:p>
        </p:txBody>
      </p:sp>
      <p:sp>
        <p:nvSpPr>
          <p:cNvPr id="371" name="Google Shape;381;p14"/>
          <p:cNvSpPr/>
          <p:nvPr/>
        </p:nvSpPr>
        <p:spPr>
          <a:xfrm>
            <a:off x="10069920" y="4268880"/>
            <a:ext cx="4946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5B6A7D"/>
                </a:solidFill>
                <a:effectLst/>
                <a:uFillTx/>
                <a:latin typeface="Courier New"/>
                <a:ea typeface="Courier New"/>
              </a:rPr>
              <a:t>05</a:t>
            </a:r>
            <a:endParaRPr lang="en-US" sz="1950" b="0" u="none" strike="noStrike">
              <a:solidFill>
                <a:srgbClr val="FFFFFF"/>
              </a:solidFill>
              <a:effectLst/>
              <a:uFillTx/>
              <a:latin typeface="Arial"/>
            </a:endParaRPr>
          </a:p>
        </p:txBody>
      </p:sp>
      <p:sp>
        <p:nvSpPr>
          <p:cNvPr id="372" name="Google Shape;382;p14"/>
          <p:cNvSpPr/>
          <p:nvPr/>
        </p:nvSpPr>
        <p:spPr>
          <a:xfrm>
            <a:off x="10679760" y="4278960"/>
            <a:ext cx="73209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Arial"/>
                <a:ea typeface="Arial"/>
              </a:rPr>
              <a:t>Swap PR / newPR</a:t>
            </a:r>
            <a:endParaRPr lang="en-US" sz="1950" b="0" u="none" strike="noStrike">
              <a:solidFill>
                <a:srgbClr val="FFFFFF"/>
              </a:solidFill>
              <a:effectLst/>
              <a:uFillTx/>
              <a:latin typeface="Arial"/>
            </a:endParaRPr>
          </a:p>
        </p:txBody>
      </p:sp>
      <p:sp>
        <p:nvSpPr>
          <p:cNvPr id="373" name="Google Shape;383;p14"/>
          <p:cNvSpPr/>
          <p:nvPr/>
        </p:nvSpPr>
        <p:spPr>
          <a:xfrm>
            <a:off x="10069920" y="4712400"/>
            <a:ext cx="49464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5B6A7D"/>
                </a:solidFill>
                <a:effectLst/>
                <a:uFillTx/>
                <a:latin typeface="Courier New"/>
                <a:ea typeface="Courier New"/>
              </a:rPr>
              <a:t>06</a:t>
            </a:r>
            <a:endParaRPr lang="en-US" sz="1950" b="0" u="none" strike="noStrike">
              <a:solidFill>
                <a:srgbClr val="FFFFFF"/>
              </a:solidFill>
              <a:effectLst/>
              <a:uFillTx/>
              <a:latin typeface="Arial"/>
            </a:endParaRPr>
          </a:p>
        </p:txBody>
      </p:sp>
      <p:sp>
        <p:nvSpPr>
          <p:cNvPr id="374" name="Google Shape;384;p14"/>
          <p:cNvSpPr/>
          <p:nvPr/>
        </p:nvSpPr>
        <p:spPr>
          <a:xfrm>
            <a:off x="10679760" y="4722480"/>
            <a:ext cx="7320960" cy="3549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Arial"/>
                <a:ea typeface="Arial"/>
              </a:rPr>
              <a:t>Repeat until converged</a:t>
            </a:r>
            <a:endParaRPr lang="en-US" sz="1950" b="0" u="none" strike="noStrike">
              <a:solidFill>
                <a:srgbClr val="FFFFFF"/>
              </a:solidFill>
              <a:effectLst/>
              <a:uFillTx/>
              <a:latin typeface="Arial"/>
            </a:endParaRPr>
          </a:p>
        </p:txBody>
      </p:sp>
      <p:sp>
        <p:nvSpPr>
          <p:cNvPr id="375" name="Google Shape;385;p14"/>
          <p:cNvSpPr/>
          <p:nvPr/>
        </p:nvSpPr>
        <p:spPr>
          <a:xfrm>
            <a:off x="10069920" y="5327640"/>
            <a:ext cx="7264800" cy="8640"/>
          </a:xfrm>
          <a:prstGeom prst="rect">
            <a:avLst/>
          </a:prstGeom>
          <a:solidFill>
            <a:srgbClr val="1E2733"/>
          </a:solidFill>
          <a:ln w="0">
            <a:noFill/>
          </a:ln>
        </p:spPr>
        <p:style>
          <a:lnRef idx="0"/>
          <a:fillRef idx="0"/>
          <a:effectRef idx="0"/>
          <a:fontRef idx="minor"/>
        </p:style>
        <p:txBody>
          <a:bodyPr lIns="90000" tIns="4320" rIns="90000" bIns="4320" anchor="ctr">
            <a:noAutofit/>
          </a:bodyPr>
          <a:p>
            <a:pPr/>
            <a:endParaRPr lang="en-US" sz="1400" b="0" u="none" strike="noStrike">
              <a:solidFill>
                <a:srgbClr val="FFFFFF"/>
              </a:solidFill>
              <a:effectLst/>
              <a:uFillTx/>
              <a:latin typeface="Arial"/>
            </a:endParaRPr>
          </a:p>
        </p:txBody>
      </p:sp>
      <p:sp>
        <p:nvSpPr>
          <p:cNvPr id="376" name="Google Shape;386;p14"/>
          <p:cNvSpPr/>
          <p:nvPr/>
        </p:nvSpPr>
        <p:spPr>
          <a:xfrm>
            <a:off x="10069920" y="5583240"/>
            <a:ext cx="799128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STATIC PARTITION · 2 THREADS · NODES 0–3</a:t>
            </a:r>
            <a:endParaRPr lang="en-US" sz="1800" b="0" u="none" strike="noStrike">
              <a:solidFill>
                <a:srgbClr val="FFFFFF"/>
              </a:solidFill>
              <a:effectLst/>
              <a:uFillTx/>
              <a:latin typeface="Arial"/>
            </a:endParaRPr>
          </a:p>
        </p:txBody>
      </p:sp>
      <p:sp>
        <p:nvSpPr>
          <p:cNvPr id="377" name="Google Shape;387;p14"/>
          <p:cNvSpPr/>
          <p:nvPr/>
        </p:nvSpPr>
        <p:spPr>
          <a:xfrm>
            <a:off x="10069920" y="6075360"/>
            <a:ext cx="3536640" cy="1174680"/>
          </a:xfrm>
          <a:prstGeom prst="rect">
            <a:avLst/>
          </a:prstGeom>
          <a:solidFill>
            <a:srgbClr val="0D131C"/>
          </a:solidFill>
          <a:ln w="9525">
            <a:solidFill>
              <a:srgbClr val="22304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78" name="Google Shape;388;p14"/>
          <p:cNvSpPr/>
          <p:nvPr/>
        </p:nvSpPr>
        <p:spPr>
          <a:xfrm>
            <a:off x="10306440" y="6273720"/>
            <a:ext cx="336996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T0</a:t>
            </a:r>
            <a:endParaRPr lang="en-US" sz="1800" b="0" u="none" strike="noStrike">
              <a:solidFill>
                <a:srgbClr val="FFFFFF"/>
              </a:solidFill>
              <a:effectLst/>
              <a:uFillTx/>
              <a:latin typeface="Arial"/>
            </a:endParaRPr>
          </a:p>
        </p:txBody>
      </p:sp>
      <p:sp>
        <p:nvSpPr>
          <p:cNvPr id="379" name="Google Shape;389;p14"/>
          <p:cNvSpPr/>
          <p:nvPr/>
        </p:nvSpPr>
        <p:spPr>
          <a:xfrm>
            <a:off x="10306440" y="6651720"/>
            <a:ext cx="3369960" cy="438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400" b="0" u="none" strike="noStrike">
                <a:solidFill>
                  <a:srgbClr val="EEF2F7"/>
                </a:solidFill>
                <a:effectLst/>
                <a:uFillTx/>
                <a:latin typeface="Courier New"/>
                <a:ea typeface="Courier New"/>
              </a:rPr>
              <a:t>{ 0, 1 }</a:t>
            </a:r>
            <a:endParaRPr lang="en-US" sz="2400" b="0" u="none" strike="noStrike">
              <a:solidFill>
                <a:srgbClr val="FFFFFF"/>
              </a:solidFill>
              <a:effectLst/>
              <a:uFillTx/>
              <a:latin typeface="Arial"/>
            </a:endParaRPr>
          </a:p>
        </p:txBody>
      </p:sp>
      <p:sp>
        <p:nvSpPr>
          <p:cNvPr id="380" name="Google Shape;390;p14"/>
          <p:cNvSpPr/>
          <p:nvPr/>
        </p:nvSpPr>
        <p:spPr>
          <a:xfrm>
            <a:off x="13798080" y="6075360"/>
            <a:ext cx="3537000" cy="1174680"/>
          </a:xfrm>
          <a:prstGeom prst="rect">
            <a:avLst/>
          </a:prstGeom>
          <a:solidFill>
            <a:srgbClr val="0D131C"/>
          </a:solidFill>
          <a:ln w="9525">
            <a:solidFill>
              <a:srgbClr val="223045"/>
            </a:solidFill>
            <a:round/>
          </a:ln>
        </p:spPr>
        <p:style>
          <a:lnRef idx="0"/>
          <a:fillRef idx="0"/>
          <a:effectRef idx="0"/>
          <a:fontRef idx="minor"/>
        </p:style>
        <p:txBody>
          <a:bodyPr lIns="90000" tIns="91440" rIns="90000" bIns="91440" anchor="ctr">
            <a:noAutofit/>
          </a:bodyPr>
          <a:p>
            <a:pPr/>
            <a:endParaRPr lang="en-US" sz="1400" b="0" u="none" strike="noStrike">
              <a:solidFill>
                <a:srgbClr val="FFFFFF"/>
              </a:solidFill>
              <a:effectLst/>
              <a:uFillTx/>
              <a:latin typeface="Arial"/>
            </a:endParaRPr>
          </a:p>
        </p:txBody>
      </p:sp>
      <p:sp>
        <p:nvSpPr>
          <p:cNvPr id="381" name="Google Shape;391;p14"/>
          <p:cNvSpPr/>
          <p:nvPr/>
        </p:nvSpPr>
        <p:spPr>
          <a:xfrm>
            <a:off x="14034600" y="6273720"/>
            <a:ext cx="33703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4D9FFF"/>
                </a:solidFill>
                <a:effectLst/>
                <a:uFillTx/>
                <a:latin typeface="Courier New"/>
                <a:ea typeface="Courier New"/>
              </a:rPr>
              <a:t>T1</a:t>
            </a:r>
            <a:endParaRPr lang="en-US" sz="1800" b="0" u="none" strike="noStrike">
              <a:solidFill>
                <a:srgbClr val="FFFFFF"/>
              </a:solidFill>
              <a:effectLst/>
              <a:uFillTx/>
              <a:latin typeface="Arial"/>
            </a:endParaRPr>
          </a:p>
        </p:txBody>
      </p:sp>
      <p:sp>
        <p:nvSpPr>
          <p:cNvPr id="382" name="Google Shape;392;p14"/>
          <p:cNvSpPr/>
          <p:nvPr/>
        </p:nvSpPr>
        <p:spPr>
          <a:xfrm>
            <a:off x="14034600" y="6651720"/>
            <a:ext cx="3370320" cy="438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400" b="0" u="none" strike="noStrike">
                <a:solidFill>
                  <a:srgbClr val="EEF2F7"/>
                </a:solidFill>
                <a:effectLst/>
                <a:uFillTx/>
                <a:latin typeface="Courier New"/>
                <a:ea typeface="Courier New"/>
              </a:rPr>
              <a:t>{ 2, 3 }</a:t>
            </a:r>
            <a:endParaRPr lang="en-US" sz="2400" b="0" u="none" strike="noStrike">
              <a:solidFill>
                <a:srgbClr val="FFFFFF"/>
              </a:solidFill>
              <a:effectLst/>
              <a:uFillTx/>
              <a:latin typeface="Arial"/>
            </a:endParaRPr>
          </a:p>
        </p:txBody>
      </p:sp>
      <p:sp>
        <p:nvSpPr>
          <p:cNvPr id="383" name="Google Shape;393;p14"/>
          <p:cNvSpPr/>
          <p:nvPr/>
        </p:nvSpPr>
        <p:spPr>
          <a:xfrm>
            <a:off x="10069920" y="7403400"/>
            <a:ext cx="7264800" cy="15120"/>
          </a:xfrm>
          <a:prstGeom prst="rect">
            <a:avLst/>
          </a:prstGeom>
          <a:solidFill>
            <a:srgbClr val="F5A524"/>
          </a:solidFill>
          <a:ln w="0">
            <a:noFill/>
          </a:ln>
        </p:spPr>
        <p:style>
          <a:lnRef idx="0"/>
          <a:fillRef idx="0"/>
          <a:effectRef idx="0"/>
          <a:fontRef idx="minor"/>
        </p:style>
        <p:txBody>
          <a:bodyPr lIns="90000" tIns="7560" rIns="90000" bIns="7560" anchor="ctr">
            <a:noAutofit/>
          </a:bodyPr>
          <a:p>
            <a:pPr/>
            <a:endParaRPr lang="en-US" sz="1400" b="0" u="none" strike="noStrike">
              <a:solidFill>
                <a:srgbClr val="000000"/>
              </a:solidFill>
              <a:effectLst/>
              <a:uFillTx/>
              <a:latin typeface="Arial"/>
            </a:endParaRPr>
          </a:p>
        </p:txBody>
      </p:sp>
      <p:sp>
        <p:nvSpPr>
          <p:cNvPr id="384" name="Google Shape;394;p14"/>
          <p:cNvSpPr/>
          <p:nvPr/>
        </p:nvSpPr>
        <p:spPr>
          <a:xfrm>
            <a:off x="9960840" y="7533360"/>
            <a:ext cx="7482600" cy="351000"/>
          </a:xfrm>
          <a:prstGeom prst="rect">
            <a:avLst/>
          </a:prstGeom>
          <a:noFill/>
          <a:ln w="0">
            <a:noFill/>
          </a:ln>
        </p:spPr>
        <p:style>
          <a:lnRef idx="0"/>
          <a:fillRef idx="0"/>
          <a:effectRef idx="0"/>
          <a:fontRef idx="minor"/>
        </p:style>
        <p:txBody>
          <a:bodyPr lIns="25560" tIns="25560" rIns="25560" bIns="25560" anchor="t">
            <a:noAutofit/>
          </a:bodyPr>
          <a:p>
            <a:pPr algn="ctr">
              <a:lnSpc>
                <a:spcPct val="100000"/>
              </a:lnSpc>
              <a:tabLst>
                <a:tab pos="0" algn="l"/>
              </a:tabLst>
            </a:pPr>
            <a:r>
              <a:rPr lang="en-US" sz="1870" b="0" u="none" strike="noStrike">
                <a:solidFill>
                  <a:srgbClr val="F5A524"/>
                </a:solidFill>
                <a:effectLst/>
                <a:uFillTx/>
                <a:latin typeface="Courier New"/>
                <a:ea typeface="Courier New"/>
              </a:rPr>
              <a:t>BARRIER</a:t>
            </a:r>
            <a:endParaRPr lang="en-US" sz="1870" b="0" u="none" strike="noStrike">
              <a:solidFill>
                <a:srgbClr val="FFFFFF"/>
              </a:solidFill>
              <a:effectLst/>
              <a:uFillTx/>
              <a:latin typeface="Arial"/>
            </a:endParaRPr>
          </a:p>
        </p:txBody>
      </p:sp>
      <p:sp>
        <p:nvSpPr>
          <p:cNvPr id="385" name="Google Shape;395;p14"/>
          <p:cNvSpPr/>
          <p:nvPr/>
        </p:nvSpPr>
        <p:spPr>
          <a:xfrm>
            <a:off x="10069920" y="8132760"/>
            <a:ext cx="15120" cy="1228680"/>
          </a:xfrm>
          <a:prstGeom prst="rect">
            <a:avLst/>
          </a:prstGeom>
          <a:solidFill>
            <a:srgbClr val="3DDC97"/>
          </a:solidFill>
          <a:ln w="0">
            <a:noFill/>
          </a:ln>
        </p:spPr>
        <p:style>
          <a:lnRef idx="0"/>
          <a:fillRef idx="0"/>
          <a:effectRef idx="0"/>
          <a:fontRef idx="minor"/>
        </p:style>
        <p:txBody>
          <a:bodyPr lIns="7560" tIns="91440" rIns="7560" bIns="91440" anchor="ctr">
            <a:noAutofit/>
          </a:bodyPr>
          <a:p>
            <a:pPr/>
            <a:endParaRPr lang="en-US" sz="1400" b="0" u="none" strike="noStrike">
              <a:solidFill>
                <a:srgbClr val="000000"/>
              </a:solidFill>
              <a:effectLst/>
              <a:uFillTx/>
              <a:latin typeface="Arial"/>
            </a:endParaRPr>
          </a:p>
        </p:txBody>
      </p:sp>
      <p:sp>
        <p:nvSpPr>
          <p:cNvPr id="386" name="Google Shape;396;p14"/>
          <p:cNvSpPr/>
          <p:nvPr/>
        </p:nvSpPr>
        <p:spPr>
          <a:xfrm>
            <a:off x="10352520" y="8132760"/>
            <a:ext cx="7680600" cy="4262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400" b="1" u="none" strike="noStrike">
                <a:solidFill>
                  <a:srgbClr val="3DDC97"/>
                </a:solidFill>
                <a:effectLst/>
                <a:uFillTx/>
                <a:latin typeface="Arial"/>
                <a:ea typeface="Arial"/>
              </a:rPr>
              <a:t>Parallel result = serial result</a:t>
            </a:r>
            <a:endParaRPr lang="en-US" sz="2400" b="0" u="none" strike="noStrike">
              <a:solidFill>
                <a:srgbClr val="FFFFFF"/>
              </a:solidFill>
              <a:effectLst/>
              <a:uFillTx/>
              <a:latin typeface="Arial"/>
            </a:endParaRPr>
          </a:p>
        </p:txBody>
      </p:sp>
      <p:sp>
        <p:nvSpPr>
          <p:cNvPr id="387" name="Google Shape;397;p14"/>
          <p:cNvSpPr/>
          <p:nvPr/>
        </p:nvSpPr>
        <p:spPr>
          <a:xfrm>
            <a:off x="10352520" y="8655120"/>
            <a:ext cx="7680600" cy="36684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950" b="0" u="none" strike="noStrike">
                <a:solidFill>
                  <a:srgbClr val="DBE4EE"/>
                </a:solidFill>
                <a:effectLst/>
                <a:uFillTx/>
                <a:latin typeface="Courier New"/>
                <a:ea typeface="Courier New"/>
              </a:rPr>
              <a:t>PR = (0.2646, 0.3079, 0.2138, 0.2138)</a:t>
            </a:r>
            <a:endParaRPr lang="en-US" sz="1950" b="0" u="none" strike="noStrike">
              <a:solidFill>
                <a:srgbClr val="FFFFFF"/>
              </a:solidFill>
              <a:effectLst/>
              <a:uFillTx/>
              <a:latin typeface="Arial"/>
            </a:endParaRPr>
          </a:p>
        </p:txBody>
      </p:sp>
      <p:sp>
        <p:nvSpPr>
          <p:cNvPr id="388" name="Google Shape;398;p14"/>
          <p:cNvSpPr/>
          <p:nvPr/>
        </p:nvSpPr>
        <p:spPr>
          <a:xfrm>
            <a:off x="10352520" y="9060480"/>
            <a:ext cx="768060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7A8A9C"/>
                </a:solidFill>
                <a:effectLst/>
                <a:uFillTx/>
                <a:latin typeface="Courier New"/>
                <a:ea typeface="Courier New"/>
              </a:rPr>
              <a:t>32 iterations — identical to serial</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D"/>
        </a:solidFill>
      </p:bgPr>
    </p:bg>
    <p:spTree>
      <p:nvGrpSpPr>
        <p:cNvPr id="1" name=""/>
        <p:cNvGrpSpPr/>
        <p:nvPr/>
      </p:nvGrpSpPr>
      <p:grpSpPr>
        <a:xfrm>
          <a:off x="0" y="0"/>
          <a:ext cx="0" cy="0"/>
          <a:chOff x="0" y="0"/>
          <a:chExt cx="0" cy="0"/>
        </a:xfrm>
      </p:grpSpPr>
      <p:sp>
        <p:nvSpPr>
          <p:cNvPr id="389" name="TextBox 44"/>
          <p:cNvSpPr/>
          <p:nvPr/>
        </p:nvSpPr>
        <p:spPr>
          <a:xfrm>
            <a:off x="658440" y="302040"/>
            <a:ext cx="16870320" cy="38412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2400" b="1" u="none" strike="noStrike">
                <a:solidFill>
                  <a:srgbClr val="F6F8FC"/>
                </a:solidFill>
                <a:effectLst/>
                <a:uFillTx/>
                <a:latin typeface="Aptos"/>
              </a:rPr>
              <a:t>PageRank OpenMP: Synchronization Strategy Benchmark</a:t>
            </a:r>
            <a:endParaRPr lang="en-US" sz="2400" b="0" u="none" strike="noStrike">
              <a:solidFill>
                <a:srgbClr val="FFFFFF"/>
              </a:solidFill>
              <a:effectLst/>
              <a:uFillTx/>
              <a:latin typeface="Arial"/>
            </a:endParaRPr>
          </a:p>
        </p:txBody>
      </p:sp>
      <p:sp>
        <p:nvSpPr>
          <p:cNvPr id="390" name="TextBox 45"/>
          <p:cNvSpPr/>
          <p:nvPr/>
        </p:nvSpPr>
        <p:spPr>
          <a:xfrm>
            <a:off x="699480" y="1042200"/>
            <a:ext cx="16733160" cy="18612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100" b="0" u="none" strike="noStrike">
                <a:solidFill>
                  <a:srgbClr val="AEBCD0"/>
                </a:solidFill>
                <a:effectLst/>
                <a:uFillTx/>
                <a:latin typeface="Aptos"/>
              </a:rPr>
              <a:t>N = 10,000  •  4 threads  •  55,000 edges  •  tolerance = 10⁻⁸  •  8 iterations</a:t>
            </a:r>
            <a:endParaRPr lang="en-US" sz="1100" b="0" u="none" strike="noStrike">
              <a:solidFill>
                <a:srgbClr val="FFFFFF"/>
              </a:solidFill>
              <a:effectLst/>
              <a:uFillTx/>
              <a:latin typeface="Arial"/>
            </a:endParaRPr>
          </a:p>
        </p:txBody>
      </p:sp>
      <p:sp>
        <p:nvSpPr>
          <p:cNvPr id="391" name="Rectangle 3"/>
          <p:cNvSpPr/>
          <p:nvPr/>
        </p:nvSpPr>
        <p:spPr>
          <a:xfrm>
            <a:off x="685800" y="1742040"/>
            <a:ext cx="712800" cy="588960"/>
          </a:xfrm>
          <a:prstGeom prst="rect">
            <a:avLst/>
          </a:prstGeom>
          <a:solidFill>
            <a:srgbClr val="26354E"/>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50" b="1" u="none" strike="noStrike">
                <a:solidFill>
                  <a:srgbClr val="F6F8FC"/>
                </a:solidFill>
                <a:effectLst/>
                <a:uFillTx/>
                <a:latin typeface="Aptos"/>
              </a:rPr>
              <a:t>No.</a:t>
            </a:r>
            <a:endParaRPr lang="en-US" sz="1050" b="0" u="none" strike="noStrike">
              <a:solidFill>
                <a:srgbClr val="FFFFFF"/>
              </a:solidFill>
              <a:effectLst/>
              <a:uFillTx/>
              <a:latin typeface="Arial"/>
            </a:endParaRPr>
          </a:p>
        </p:txBody>
      </p:sp>
      <p:sp>
        <p:nvSpPr>
          <p:cNvPr id="392" name="Rectangle 4"/>
          <p:cNvSpPr/>
          <p:nvPr/>
        </p:nvSpPr>
        <p:spPr>
          <a:xfrm>
            <a:off x="1398960" y="1742040"/>
            <a:ext cx="2262600" cy="588960"/>
          </a:xfrm>
          <a:prstGeom prst="rect">
            <a:avLst/>
          </a:prstGeom>
          <a:solidFill>
            <a:srgbClr val="26354E"/>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50" b="1" u="none" strike="noStrike">
                <a:solidFill>
                  <a:srgbClr val="F6F8FC"/>
                </a:solidFill>
                <a:effectLst/>
                <a:uFillTx/>
                <a:latin typeface="Aptos"/>
              </a:rPr>
              <a:t>Dangling Sum</a:t>
            </a:r>
            <a:endParaRPr lang="en-US" sz="1050" b="0" u="none" strike="noStrike">
              <a:solidFill>
                <a:srgbClr val="FFFFFF"/>
              </a:solidFill>
              <a:effectLst/>
              <a:uFillTx/>
              <a:latin typeface="Arial"/>
            </a:endParaRPr>
          </a:p>
        </p:txBody>
      </p:sp>
      <p:sp>
        <p:nvSpPr>
          <p:cNvPr id="393" name="Rectangle 5"/>
          <p:cNvSpPr/>
          <p:nvPr/>
        </p:nvSpPr>
        <p:spPr>
          <a:xfrm>
            <a:off x="3662280" y="1742040"/>
            <a:ext cx="2125440" cy="588960"/>
          </a:xfrm>
          <a:prstGeom prst="rect">
            <a:avLst/>
          </a:prstGeom>
          <a:solidFill>
            <a:srgbClr val="26354E"/>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50" b="1" u="none" strike="noStrike">
                <a:solidFill>
                  <a:srgbClr val="F6F8FC"/>
                </a:solidFill>
                <a:effectLst/>
                <a:uFillTx/>
                <a:latin typeface="Aptos"/>
              </a:rPr>
              <a:t>Error Sum</a:t>
            </a:r>
            <a:endParaRPr lang="en-US" sz="1050" b="0" u="none" strike="noStrike">
              <a:solidFill>
                <a:srgbClr val="FFFFFF"/>
              </a:solidFill>
              <a:effectLst/>
              <a:uFillTx/>
              <a:latin typeface="Arial"/>
            </a:endParaRPr>
          </a:p>
        </p:txBody>
      </p:sp>
      <p:sp>
        <p:nvSpPr>
          <p:cNvPr id="394" name="Rectangle 6"/>
          <p:cNvSpPr/>
          <p:nvPr/>
        </p:nvSpPr>
        <p:spPr>
          <a:xfrm>
            <a:off x="5788080" y="1742040"/>
            <a:ext cx="2948400" cy="588960"/>
          </a:xfrm>
          <a:prstGeom prst="rect">
            <a:avLst/>
          </a:prstGeom>
          <a:solidFill>
            <a:srgbClr val="26354E"/>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50" b="1" u="none" strike="noStrike">
                <a:solidFill>
                  <a:srgbClr val="F6F8FC"/>
                </a:solidFill>
                <a:effectLst/>
                <a:uFillTx/>
                <a:latin typeface="Aptos"/>
              </a:rPr>
              <a:t>Runtime (s)</a:t>
            </a:r>
            <a:endParaRPr lang="en-US" sz="1050" b="0" u="none" strike="noStrike">
              <a:solidFill>
                <a:srgbClr val="FFFFFF"/>
              </a:solidFill>
              <a:effectLst/>
              <a:uFillTx/>
              <a:latin typeface="Arial"/>
            </a:endParaRPr>
          </a:p>
        </p:txBody>
      </p:sp>
      <p:sp>
        <p:nvSpPr>
          <p:cNvPr id="395" name="Rectangle 7"/>
          <p:cNvSpPr/>
          <p:nvPr/>
        </p:nvSpPr>
        <p:spPr>
          <a:xfrm>
            <a:off x="8737200" y="1742040"/>
            <a:ext cx="2125440" cy="588960"/>
          </a:xfrm>
          <a:prstGeom prst="rect">
            <a:avLst/>
          </a:prstGeom>
          <a:solidFill>
            <a:srgbClr val="26354E"/>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50" b="1" u="none" strike="noStrike">
                <a:solidFill>
                  <a:srgbClr val="F6F8FC"/>
                </a:solidFill>
                <a:effectLst/>
                <a:uFillTx/>
                <a:latin typeface="Aptos"/>
              </a:rPr>
              <a:t>Iterations</a:t>
            </a:r>
            <a:endParaRPr lang="en-US" sz="1050" b="0" u="none" strike="noStrike">
              <a:solidFill>
                <a:srgbClr val="FFFFFF"/>
              </a:solidFill>
              <a:effectLst/>
              <a:uFillTx/>
              <a:latin typeface="Arial"/>
            </a:endParaRPr>
          </a:p>
        </p:txBody>
      </p:sp>
      <p:sp>
        <p:nvSpPr>
          <p:cNvPr id="396" name="Rectangle 8"/>
          <p:cNvSpPr/>
          <p:nvPr/>
        </p:nvSpPr>
        <p:spPr>
          <a:xfrm>
            <a:off x="685800" y="2331720"/>
            <a:ext cx="7128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1</a:t>
            </a:r>
            <a:endParaRPr lang="en-US" sz="1020" b="0" u="none" strike="noStrike">
              <a:solidFill>
                <a:srgbClr val="FFFFFF"/>
              </a:solidFill>
              <a:effectLst/>
              <a:uFillTx/>
              <a:latin typeface="Arial"/>
            </a:endParaRPr>
          </a:p>
        </p:txBody>
      </p:sp>
      <p:sp>
        <p:nvSpPr>
          <p:cNvPr id="397" name="Rectangle 9"/>
          <p:cNvSpPr/>
          <p:nvPr/>
        </p:nvSpPr>
        <p:spPr>
          <a:xfrm>
            <a:off x="1398960" y="2331720"/>
            <a:ext cx="22626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Reduction</a:t>
            </a:r>
            <a:endParaRPr lang="en-US" sz="1020" b="0" u="none" strike="noStrike">
              <a:solidFill>
                <a:srgbClr val="FFFFFF"/>
              </a:solidFill>
              <a:effectLst/>
              <a:uFillTx/>
              <a:latin typeface="Arial"/>
            </a:endParaRPr>
          </a:p>
        </p:txBody>
      </p:sp>
      <p:sp>
        <p:nvSpPr>
          <p:cNvPr id="398" name="Rectangle 10"/>
          <p:cNvSpPr/>
          <p:nvPr/>
        </p:nvSpPr>
        <p:spPr>
          <a:xfrm>
            <a:off x="3662280" y="233172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Reduction</a:t>
            </a:r>
            <a:endParaRPr lang="en-US" sz="1020" b="0" u="none" strike="noStrike">
              <a:solidFill>
                <a:srgbClr val="FFFFFF"/>
              </a:solidFill>
              <a:effectLst/>
              <a:uFillTx/>
              <a:latin typeface="Arial"/>
            </a:endParaRPr>
          </a:p>
        </p:txBody>
      </p:sp>
      <p:sp>
        <p:nvSpPr>
          <p:cNvPr id="399" name="Rectangle 11"/>
          <p:cNvSpPr/>
          <p:nvPr/>
        </p:nvSpPr>
        <p:spPr>
          <a:xfrm>
            <a:off x="5788080" y="2331720"/>
            <a:ext cx="29484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0.00165437</a:t>
            </a:r>
            <a:endParaRPr lang="en-US" sz="1020" b="0" u="none" strike="noStrike">
              <a:solidFill>
                <a:srgbClr val="FFFFFF"/>
              </a:solidFill>
              <a:effectLst/>
              <a:uFillTx/>
              <a:latin typeface="Arial"/>
            </a:endParaRPr>
          </a:p>
        </p:txBody>
      </p:sp>
      <p:sp>
        <p:nvSpPr>
          <p:cNvPr id="400" name="Rectangle 12"/>
          <p:cNvSpPr/>
          <p:nvPr/>
        </p:nvSpPr>
        <p:spPr>
          <a:xfrm>
            <a:off x="8737200" y="233172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01" name="Rectangle 13"/>
          <p:cNvSpPr/>
          <p:nvPr/>
        </p:nvSpPr>
        <p:spPr>
          <a:xfrm>
            <a:off x="685800" y="2887200"/>
            <a:ext cx="7128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2</a:t>
            </a:r>
            <a:endParaRPr lang="en-US" sz="1020" b="0" u="none" strike="noStrike">
              <a:solidFill>
                <a:srgbClr val="FFFFFF"/>
              </a:solidFill>
              <a:effectLst/>
              <a:uFillTx/>
              <a:latin typeface="Arial"/>
            </a:endParaRPr>
          </a:p>
        </p:txBody>
      </p:sp>
      <p:sp>
        <p:nvSpPr>
          <p:cNvPr id="402" name="Rectangle 14"/>
          <p:cNvSpPr/>
          <p:nvPr/>
        </p:nvSpPr>
        <p:spPr>
          <a:xfrm>
            <a:off x="1398960" y="2887200"/>
            <a:ext cx="22626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Critical</a:t>
            </a:r>
            <a:endParaRPr lang="en-US" sz="1020" b="0" u="none" strike="noStrike">
              <a:solidFill>
                <a:srgbClr val="FFFFFF"/>
              </a:solidFill>
              <a:effectLst/>
              <a:uFillTx/>
              <a:latin typeface="Arial"/>
            </a:endParaRPr>
          </a:p>
        </p:txBody>
      </p:sp>
      <p:sp>
        <p:nvSpPr>
          <p:cNvPr id="403" name="Rectangle 15"/>
          <p:cNvSpPr/>
          <p:nvPr/>
        </p:nvSpPr>
        <p:spPr>
          <a:xfrm>
            <a:off x="3662280" y="288720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Critical</a:t>
            </a:r>
            <a:endParaRPr lang="en-US" sz="1020" b="0" u="none" strike="noStrike">
              <a:solidFill>
                <a:srgbClr val="FFFFFF"/>
              </a:solidFill>
              <a:effectLst/>
              <a:uFillTx/>
              <a:latin typeface="Arial"/>
            </a:endParaRPr>
          </a:p>
        </p:txBody>
      </p:sp>
      <p:sp>
        <p:nvSpPr>
          <p:cNvPr id="404" name="Rectangle 16"/>
          <p:cNvSpPr/>
          <p:nvPr/>
        </p:nvSpPr>
        <p:spPr>
          <a:xfrm>
            <a:off x="5788080" y="2887200"/>
            <a:ext cx="29484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0.02187610</a:t>
            </a:r>
            <a:endParaRPr lang="en-US" sz="1020" b="0" u="none" strike="noStrike">
              <a:solidFill>
                <a:srgbClr val="FFFFFF"/>
              </a:solidFill>
              <a:effectLst/>
              <a:uFillTx/>
              <a:latin typeface="Arial"/>
            </a:endParaRPr>
          </a:p>
        </p:txBody>
      </p:sp>
      <p:sp>
        <p:nvSpPr>
          <p:cNvPr id="405" name="Rectangle 17"/>
          <p:cNvSpPr/>
          <p:nvPr/>
        </p:nvSpPr>
        <p:spPr>
          <a:xfrm>
            <a:off x="8737200" y="288720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06" name="Rectangle 18"/>
          <p:cNvSpPr/>
          <p:nvPr/>
        </p:nvSpPr>
        <p:spPr>
          <a:xfrm>
            <a:off x="685800" y="3442320"/>
            <a:ext cx="7128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3</a:t>
            </a:r>
            <a:endParaRPr lang="en-US" sz="1020" b="0" u="none" strike="noStrike">
              <a:solidFill>
                <a:srgbClr val="FFFFFF"/>
              </a:solidFill>
              <a:effectLst/>
              <a:uFillTx/>
              <a:latin typeface="Arial"/>
            </a:endParaRPr>
          </a:p>
        </p:txBody>
      </p:sp>
      <p:sp>
        <p:nvSpPr>
          <p:cNvPr id="407" name="Rectangle 19"/>
          <p:cNvSpPr/>
          <p:nvPr/>
        </p:nvSpPr>
        <p:spPr>
          <a:xfrm>
            <a:off x="1398960" y="3442320"/>
            <a:ext cx="22626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Atomic</a:t>
            </a:r>
            <a:endParaRPr lang="en-US" sz="1020" b="0" u="none" strike="noStrike">
              <a:solidFill>
                <a:srgbClr val="FFFFFF"/>
              </a:solidFill>
              <a:effectLst/>
              <a:uFillTx/>
              <a:latin typeface="Arial"/>
            </a:endParaRPr>
          </a:p>
        </p:txBody>
      </p:sp>
      <p:sp>
        <p:nvSpPr>
          <p:cNvPr id="408" name="Rectangle 20"/>
          <p:cNvSpPr/>
          <p:nvPr/>
        </p:nvSpPr>
        <p:spPr>
          <a:xfrm>
            <a:off x="3662280" y="344232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Atomic</a:t>
            </a:r>
            <a:endParaRPr lang="en-US" sz="1020" b="0" u="none" strike="noStrike">
              <a:solidFill>
                <a:srgbClr val="FFFFFF"/>
              </a:solidFill>
              <a:effectLst/>
              <a:uFillTx/>
              <a:latin typeface="Arial"/>
            </a:endParaRPr>
          </a:p>
        </p:txBody>
      </p:sp>
      <p:sp>
        <p:nvSpPr>
          <p:cNvPr id="409" name="Rectangle 21"/>
          <p:cNvSpPr/>
          <p:nvPr/>
        </p:nvSpPr>
        <p:spPr>
          <a:xfrm>
            <a:off x="5788080" y="3442320"/>
            <a:ext cx="29484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0.01539558</a:t>
            </a:r>
            <a:endParaRPr lang="en-US" sz="1020" b="0" u="none" strike="noStrike">
              <a:solidFill>
                <a:srgbClr val="FFFFFF"/>
              </a:solidFill>
              <a:effectLst/>
              <a:uFillTx/>
              <a:latin typeface="Arial"/>
            </a:endParaRPr>
          </a:p>
        </p:txBody>
      </p:sp>
      <p:sp>
        <p:nvSpPr>
          <p:cNvPr id="410" name="Rectangle 22"/>
          <p:cNvSpPr/>
          <p:nvPr/>
        </p:nvSpPr>
        <p:spPr>
          <a:xfrm>
            <a:off x="8737200" y="344232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11" name="Rectangle 23"/>
          <p:cNvSpPr/>
          <p:nvPr/>
        </p:nvSpPr>
        <p:spPr>
          <a:xfrm>
            <a:off x="685800" y="3998160"/>
            <a:ext cx="7128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4</a:t>
            </a:r>
            <a:endParaRPr lang="en-US" sz="1020" b="0" u="none" strike="noStrike">
              <a:solidFill>
                <a:srgbClr val="FFFFFF"/>
              </a:solidFill>
              <a:effectLst/>
              <a:uFillTx/>
              <a:latin typeface="Arial"/>
            </a:endParaRPr>
          </a:p>
        </p:txBody>
      </p:sp>
      <p:sp>
        <p:nvSpPr>
          <p:cNvPr id="412" name="Rectangle 24"/>
          <p:cNvSpPr/>
          <p:nvPr/>
        </p:nvSpPr>
        <p:spPr>
          <a:xfrm>
            <a:off x="1398960" y="3998160"/>
            <a:ext cx="22626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Reduction</a:t>
            </a:r>
            <a:endParaRPr lang="en-US" sz="1020" b="0" u="none" strike="noStrike">
              <a:solidFill>
                <a:srgbClr val="FFFFFF"/>
              </a:solidFill>
              <a:effectLst/>
              <a:uFillTx/>
              <a:latin typeface="Arial"/>
            </a:endParaRPr>
          </a:p>
        </p:txBody>
      </p:sp>
      <p:sp>
        <p:nvSpPr>
          <p:cNvPr id="413" name="Rectangle 25"/>
          <p:cNvSpPr/>
          <p:nvPr/>
        </p:nvSpPr>
        <p:spPr>
          <a:xfrm>
            <a:off x="3662280" y="399816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Critical</a:t>
            </a:r>
            <a:endParaRPr lang="en-US" sz="1020" b="0" u="none" strike="noStrike">
              <a:solidFill>
                <a:srgbClr val="FFFFFF"/>
              </a:solidFill>
              <a:effectLst/>
              <a:uFillTx/>
              <a:latin typeface="Arial"/>
            </a:endParaRPr>
          </a:p>
        </p:txBody>
      </p:sp>
      <p:sp>
        <p:nvSpPr>
          <p:cNvPr id="414" name="Rectangle 26"/>
          <p:cNvSpPr/>
          <p:nvPr/>
        </p:nvSpPr>
        <p:spPr>
          <a:xfrm>
            <a:off x="5788080" y="3998160"/>
            <a:ext cx="29484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0.01919751</a:t>
            </a:r>
            <a:endParaRPr lang="en-US" sz="1020" b="0" u="none" strike="noStrike">
              <a:solidFill>
                <a:srgbClr val="FFFFFF"/>
              </a:solidFill>
              <a:effectLst/>
              <a:uFillTx/>
              <a:latin typeface="Arial"/>
            </a:endParaRPr>
          </a:p>
        </p:txBody>
      </p:sp>
      <p:sp>
        <p:nvSpPr>
          <p:cNvPr id="415" name="Rectangle 27"/>
          <p:cNvSpPr/>
          <p:nvPr/>
        </p:nvSpPr>
        <p:spPr>
          <a:xfrm>
            <a:off x="8737200" y="399816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16" name="Rectangle 28"/>
          <p:cNvSpPr/>
          <p:nvPr/>
        </p:nvSpPr>
        <p:spPr>
          <a:xfrm>
            <a:off x="685800" y="4553640"/>
            <a:ext cx="7128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5</a:t>
            </a:r>
            <a:endParaRPr lang="en-US" sz="1020" b="0" u="none" strike="noStrike">
              <a:solidFill>
                <a:srgbClr val="FFFFFF"/>
              </a:solidFill>
              <a:effectLst/>
              <a:uFillTx/>
              <a:latin typeface="Arial"/>
            </a:endParaRPr>
          </a:p>
        </p:txBody>
      </p:sp>
      <p:sp>
        <p:nvSpPr>
          <p:cNvPr id="417" name="Rectangle 29"/>
          <p:cNvSpPr/>
          <p:nvPr/>
        </p:nvSpPr>
        <p:spPr>
          <a:xfrm>
            <a:off x="1398960" y="4553640"/>
            <a:ext cx="22626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Reduction</a:t>
            </a:r>
            <a:endParaRPr lang="en-US" sz="1020" b="0" u="none" strike="noStrike">
              <a:solidFill>
                <a:srgbClr val="FFFFFF"/>
              </a:solidFill>
              <a:effectLst/>
              <a:uFillTx/>
              <a:latin typeface="Arial"/>
            </a:endParaRPr>
          </a:p>
        </p:txBody>
      </p:sp>
      <p:sp>
        <p:nvSpPr>
          <p:cNvPr id="418" name="Rectangle 30"/>
          <p:cNvSpPr/>
          <p:nvPr/>
        </p:nvSpPr>
        <p:spPr>
          <a:xfrm>
            <a:off x="3662280" y="455364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Atomic</a:t>
            </a:r>
            <a:endParaRPr lang="en-US" sz="1020" b="0" u="none" strike="noStrike">
              <a:solidFill>
                <a:srgbClr val="FFFFFF"/>
              </a:solidFill>
              <a:effectLst/>
              <a:uFillTx/>
              <a:latin typeface="Arial"/>
            </a:endParaRPr>
          </a:p>
        </p:txBody>
      </p:sp>
      <p:sp>
        <p:nvSpPr>
          <p:cNvPr id="419" name="Rectangle 31"/>
          <p:cNvSpPr/>
          <p:nvPr/>
        </p:nvSpPr>
        <p:spPr>
          <a:xfrm>
            <a:off x="5788080" y="4553640"/>
            <a:ext cx="29484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0.01346428</a:t>
            </a:r>
            <a:endParaRPr lang="en-US" sz="1020" b="0" u="none" strike="noStrike">
              <a:solidFill>
                <a:srgbClr val="FFFFFF"/>
              </a:solidFill>
              <a:effectLst/>
              <a:uFillTx/>
              <a:latin typeface="Arial"/>
            </a:endParaRPr>
          </a:p>
        </p:txBody>
      </p:sp>
      <p:sp>
        <p:nvSpPr>
          <p:cNvPr id="420" name="Rectangle 32"/>
          <p:cNvSpPr/>
          <p:nvPr/>
        </p:nvSpPr>
        <p:spPr>
          <a:xfrm>
            <a:off x="8737200" y="455364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21" name="Rectangle 33"/>
          <p:cNvSpPr/>
          <p:nvPr/>
        </p:nvSpPr>
        <p:spPr>
          <a:xfrm>
            <a:off x="685800" y="5109480"/>
            <a:ext cx="7128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6</a:t>
            </a:r>
            <a:endParaRPr lang="en-US" sz="1020" b="0" u="none" strike="noStrike">
              <a:solidFill>
                <a:srgbClr val="FFFFFF"/>
              </a:solidFill>
              <a:effectLst/>
              <a:uFillTx/>
              <a:latin typeface="Arial"/>
            </a:endParaRPr>
          </a:p>
        </p:txBody>
      </p:sp>
      <p:sp>
        <p:nvSpPr>
          <p:cNvPr id="422" name="Rectangle 34"/>
          <p:cNvSpPr/>
          <p:nvPr/>
        </p:nvSpPr>
        <p:spPr>
          <a:xfrm>
            <a:off x="1398960" y="5109480"/>
            <a:ext cx="22626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Critical</a:t>
            </a:r>
            <a:endParaRPr lang="en-US" sz="1020" b="0" u="none" strike="noStrike">
              <a:solidFill>
                <a:srgbClr val="FFFFFF"/>
              </a:solidFill>
              <a:effectLst/>
              <a:uFillTx/>
              <a:latin typeface="Arial"/>
            </a:endParaRPr>
          </a:p>
        </p:txBody>
      </p:sp>
      <p:sp>
        <p:nvSpPr>
          <p:cNvPr id="423" name="Rectangle 35"/>
          <p:cNvSpPr/>
          <p:nvPr/>
        </p:nvSpPr>
        <p:spPr>
          <a:xfrm>
            <a:off x="3662280" y="510948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Reduction</a:t>
            </a:r>
            <a:endParaRPr lang="en-US" sz="1020" b="0" u="none" strike="noStrike">
              <a:solidFill>
                <a:srgbClr val="FFFFFF"/>
              </a:solidFill>
              <a:effectLst/>
              <a:uFillTx/>
              <a:latin typeface="Arial"/>
            </a:endParaRPr>
          </a:p>
        </p:txBody>
      </p:sp>
      <p:sp>
        <p:nvSpPr>
          <p:cNvPr id="424" name="Rectangle 36"/>
          <p:cNvSpPr/>
          <p:nvPr/>
        </p:nvSpPr>
        <p:spPr>
          <a:xfrm>
            <a:off x="5788080" y="5109480"/>
            <a:ext cx="29484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0.00179802</a:t>
            </a:r>
            <a:endParaRPr lang="en-US" sz="1020" b="0" u="none" strike="noStrike">
              <a:solidFill>
                <a:srgbClr val="FFFFFF"/>
              </a:solidFill>
              <a:effectLst/>
              <a:uFillTx/>
              <a:latin typeface="Arial"/>
            </a:endParaRPr>
          </a:p>
        </p:txBody>
      </p:sp>
      <p:sp>
        <p:nvSpPr>
          <p:cNvPr id="425" name="Rectangle 37"/>
          <p:cNvSpPr/>
          <p:nvPr/>
        </p:nvSpPr>
        <p:spPr>
          <a:xfrm>
            <a:off x="8737200" y="510948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26" name="Rectangle 38"/>
          <p:cNvSpPr/>
          <p:nvPr/>
        </p:nvSpPr>
        <p:spPr>
          <a:xfrm>
            <a:off x="685800" y="5664600"/>
            <a:ext cx="7128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7</a:t>
            </a:r>
            <a:endParaRPr lang="en-US" sz="1020" b="0" u="none" strike="noStrike">
              <a:solidFill>
                <a:srgbClr val="FFFFFF"/>
              </a:solidFill>
              <a:effectLst/>
              <a:uFillTx/>
              <a:latin typeface="Arial"/>
            </a:endParaRPr>
          </a:p>
        </p:txBody>
      </p:sp>
      <p:sp>
        <p:nvSpPr>
          <p:cNvPr id="427" name="Rectangle 39"/>
          <p:cNvSpPr/>
          <p:nvPr/>
        </p:nvSpPr>
        <p:spPr>
          <a:xfrm>
            <a:off x="1398960" y="5664600"/>
            <a:ext cx="22626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Critical</a:t>
            </a:r>
            <a:endParaRPr lang="en-US" sz="1020" b="0" u="none" strike="noStrike">
              <a:solidFill>
                <a:srgbClr val="FFFFFF"/>
              </a:solidFill>
              <a:effectLst/>
              <a:uFillTx/>
              <a:latin typeface="Arial"/>
            </a:endParaRPr>
          </a:p>
        </p:txBody>
      </p:sp>
      <p:sp>
        <p:nvSpPr>
          <p:cNvPr id="428" name="Rectangle 40"/>
          <p:cNvSpPr/>
          <p:nvPr/>
        </p:nvSpPr>
        <p:spPr>
          <a:xfrm>
            <a:off x="3662280" y="566460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Atomic</a:t>
            </a:r>
            <a:endParaRPr lang="en-US" sz="1020" b="0" u="none" strike="noStrike">
              <a:solidFill>
                <a:srgbClr val="FFFFFF"/>
              </a:solidFill>
              <a:effectLst/>
              <a:uFillTx/>
              <a:latin typeface="Arial"/>
            </a:endParaRPr>
          </a:p>
        </p:txBody>
      </p:sp>
      <p:sp>
        <p:nvSpPr>
          <p:cNvPr id="429" name="Rectangle 41"/>
          <p:cNvSpPr/>
          <p:nvPr/>
        </p:nvSpPr>
        <p:spPr>
          <a:xfrm>
            <a:off x="5788080" y="5664600"/>
            <a:ext cx="29484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0.01527215</a:t>
            </a:r>
            <a:endParaRPr lang="en-US" sz="1020" b="0" u="none" strike="noStrike">
              <a:solidFill>
                <a:srgbClr val="FFFFFF"/>
              </a:solidFill>
              <a:effectLst/>
              <a:uFillTx/>
              <a:latin typeface="Arial"/>
            </a:endParaRPr>
          </a:p>
        </p:txBody>
      </p:sp>
      <p:sp>
        <p:nvSpPr>
          <p:cNvPr id="430" name="Rectangle 42"/>
          <p:cNvSpPr/>
          <p:nvPr/>
        </p:nvSpPr>
        <p:spPr>
          <a:xfrm>
            <a:off x="8737200" y="566460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31" name="Rectangle 43"/>
          <p:cNvSpPr/>
          <p:nvPr/>
        </p:nvSpPr>
        <p:spPr>
          <a:xfrm>
            <a:off x="685800" y="6220080"/>
            <a:ext cx="7128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32" name="Rectangle 44"/>
          <p:cNvSpPr/>
          <p:nvPr/>
        </p:nvSpPr>
        <p:spPr>
          <a:xfrm>
            <a:off x="1398960" y="6220080"/>
            <a:ext cx="22626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Atomic</a:t>
            </a:r>
            <a:endParaRPr lang="en-US" sz="1020" b="0" u="none" strike="noStrike">
              <a:solidFill>
                <a:srgbClr val="FFFFFF"/>
              </a:solidFill>
              <a:effectLst/>
              <a:uFillTx/>
              <a:latin typeface="Arial"/>
            </a:endParaRPr>
          </a:p>
        </p:txBody>
      </p:sp>
      <p:sp>
        <p:nvSpPr>
          <p:cNvPr id="433" name="Rectangle 45"/>
          <p:cNvSpPr/>
          <p:nvPr/>
        </p:nvSpPr>
        <p:spPr>
          <a:xfrm>
            <a:off x="3662280" y="622008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Reduction</a:t>
            </a:r>
            <a:endParaRPr lang="en-US" sz="1020" b="0" u="none" strike="noStrike">
              <a:solidFill>
                <a:srgbClr val="FFFFFF"/>
              </a:solidFill>
              <a:effectLst/>
              <a:uFillTx/>
              <a:latin typeface="Arial"/>
            </a:endParaRPr>
          </a:p>
        </p:txBody>
      </p:sp>
      <p:sp>
        <p:nvSpPr>
          <p:cNvPr id="434" name="Rectangle 46"/>
          <p:cNvSpPr/>
          <p:nvPr/>
        </p:nvSpPr>
        <p:spPr>
          <a:xfrm>
            <a:off x="5788080" y="6220080"/>
            <a:ext cx="294840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0.00231659</a:t>
            </a:r>
            <a:endParaRPr lang="en-US" sz="1020" b="0" u="none" strike="noStrike">
              <a:solidFill>
                <a:srgbClr val="FFFFFF"/>
              </a:solidFill>
              <a:effectLst/>
              <a:uFillTx/>
              <a:latin typeface="Arial"/>
            </a:endParaRPr>
          </a:p>
        </p:txBody>
      </p:sp>
      <p:sp>
        <p:nvSpPr>
          <p:cNvPr id="435" name="Rectangle 47"/>
          <p:cNvSpPr/>
          <p:nvPr/>
        </p:nvSpPr>
        <p:spPr>
          <a:xfrm>
            <a:off x="8737200" y="6220080"/>
            <a:ext cx="2125440" cy="555120"/>
          </a:xfrm>
          <a:prstGeom prst="rect">
            <a:avLst/>
          </a:prstGeom>
          <a:solidFill>
            <a:srgbClr val="1B2539"/>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36" name="Rectangle 48"/>
          <p:cNvSpPr/>
          <p:nvPr/>
        </p:nvSpPr>
        <p:spPr>
          <a:xfrm>
            <a:off x="685800" y="6775920"/>
            <a:ext cx="7128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1" u="none" strike="noStrike">
                <a:solidFill>
                  <a:srgbClr val="F6F8FC"/>
                </a:solidFill>
                <a:effectLst/>
                <a:uFillTx/>
                <a:latin typeface="Aptos"/>
              </a:rPr>
              <a:t>9</a:t>
            </a:r>
            <a:endParaRPr lang="en-US" sz="1020" b="0" u="none" strike="noStrike">
              <a:solidFill>
                <a:srgbClr val="FFFFFF"/>
              </a:solidFill>
              <a:effectLst/>
              <a:uFillTx/>
              <a:latin typeface="Arial"/>
            </a:endParaRPr>
          </a:p>
        </p:txBody>
      </p:sp>
      <p:sp>
        <p:nvSpPr>
          <p:cNvPr id="437" name="Rectangle 49"/>
          <p:cNvSpPr/>
          <p:nvPr/>
        </p:nvSpPr>
        <p:spPr>
          <a:xfrm>
            <a:off x="1398960" y="6775920"/>
            <a:ext cx="22626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Atomic</a:t>
            </a:r>
            <a:endParaRPr lang="en-US" sz="1020" b="0" u="none" strike="noStrike">
              <a:solidFill>
                <a:srgbClr val="FFFFFF"/>
              </a:solidFill>
              <a:effectLst/>
              <a:uFillTx/>
              <a:latin typeface="Arial"/>
            </a:endParaRPr>
          </a:p>
        </p:txBody>
      </p:sp>
      <p:sp>
        <p:nvSpPr>
          <p:cNvPr id="438" name="Rectangle 50"/>
          <p:cNvSpPr/>
          <p:nvPr/>
        </p:nvSpPr>
        <p:spPr>
          <a:xfrm>
            <a:off x="3662280" y="677592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Critical</a:t>
            </a:r>
            <a:endParaRPr lang="en-US" sz="1020" b="0" u="none" strike="noStrike">
              <a:solidFill>
                <a:srgbClr val="FFFFFF"/>
              </a:solidFill>
              <a:effectLst/>
              <a:uFillTx/>
              <a:latin typeface="Arial"/>
            </a:endParaRPr>
          </a:p>
        </p:txBody>
      </p:sp>
      <p:sp>
        <p:nvSpPr>
          <p:cNvPr id="439" name="Rectangle 51"/>
          <p:cNvSpPr/>
          <p:nvPr/>
        </p:nvSpPr>
        <p:spPr>
          <a:xfrm>
            <a:off x="5788080" y="6775920"/>
            <a:ext cx="294840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0.01645321</a:t>
            </a:r>
            <a:endParaRPr lang="en-US" sz="1020" b="0" u="none" strike="noStrike">
              <a:solidFill>
                <a:srgbClr val="FFFFFF"/>
              </a:solidFill>
              <a:effectLst/>
              <a:uFillTx/>
              <a:latin typeface="Arial"/>
            </a:endParaRPr>
          </a:p>
        </p:txBody>
      </p:sp>
      <p:sp>
        <p:nvSpPr>
          <p:cNvPr id="440" name="Rectangle 52"/>
          <p:cNvSpPr/>
          <p:nvPr/>
        </p:nvSpPr>
        <p:spPr>
          <a:xfrm>
            <a:off x="8737200" y="6775920"/>
            <a:ext cx="2125440" cy="555120"/>
          </a:xfrm>
          <a:prstGeom prst="rect">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9000" rIns="45720" bIns="9000" anchor="ctr">
            <a:noAutofit/>
          </a:bodyPr>
          <a:p>
            <a:pPr algn="ctr" defTabSz="457200">
              <a:lnSpc>
                <a:spcPct val="100000"/>
              </a:lnSpc>
            </a:pPr>
            <a:r>
              <a:rPr lang="en-US" sz="1020" b="0" u="none" strike="noStrike">
                <a:solidFill>
                  <a:srgbClr val="F6F8FC"/>
                </a:solidFill>
                <a:effectLst/>
                <a:uFillTx/>
                <a:latin typeface="Aptos"/>
              </a:rPr>
              <a:t>8</a:t>
            </a:r>
            <a:endParaRPr lang="en-US" sz="1020" b="0" u="none" strike="noStrike">
              <a:solidFill>
                <a:srgbClr val="FFFFFF"/>
              </a:solidFill>
              <a:effectLst/>
              <a:uFillTx/>
              <a:latin typeface="Arial"/>
            </a:endParaRPr>
          </a:p>
        </p:txBody>
      </p:sp>
      <p:sp>
        <p:nvSpPr>
          <p:cNvPr id="441" name="Rounded Rectangle 53"/>
          <p:cNvSpPr/>
          <p:nvPr/>
        </p:nvSpPr>
        <p:spPr>
          <a:xfrm>
            <a:off x="11137680" y="1742040"/>
            <a:ext cx="6446160" cy="6281280"/>
          </a:xfrm>
          <a:prstGeom prst="roundRect">
            <a:avLst>
              <a:gd name="adj" fmla="val 16667"/>
            </a:avLst>
          </a:prstGeom>
          <a:solidFill>
            <a:srgbClr val="161E2F"/>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2" name="TextBox 46"/>
          <p:cNvSpPr/>
          <p:nvPr/>
        </p:nvSpPr>
        <p:spPr>
          <a:xfrm>
            <a:off x="11439720" y="1947960"/>
            <a:ext cx="5842080" cy="20124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200" b="1" u="none" strike="noStrike">
                <a:solidFill>
                  <a:srgbClr val="48CDB1"/>
                </a:solidFill>
                <a:effectLst/>
                <a:uFillTx/>
                <a:latin typeface="Aptos"/>
              </a:rPr>
              <a:t>WHAT THE RESULTS SAY</a:t>
            </a:r>
            <a:endParaRPr lang="en-US" sz="1200" b="0" u="none" strike="noStrike">
              <a:solidFill>
                <a:srgbClr val="FFFFFF"/>
              </a:solidFill>
              <a:effectLst/>
              <a:uFillTx/>
              <a:latin typeface="Arial"/>
            </a:endParaRPr>
          </a:p>
        </p:txBody>
      </p:sp>
      <p:sp>
        <p:nvSpPr>
          <p:cNvPr id="443" name="Rounded Rectangle 55"/>
          <p:cNvSpPr/>
          <p:nvPr/>
        </p:nvSpPr>
        <p:spPr>
          <a:xfrm>
            <a:off x="11412000" y="2523960"/>
            <a:ext cx="5897160" cy="1069200"/>
          </a:xfrm>
          <a:prstGeom prst="roundRect">
            <a:avLst>
              <a:gd name="adj" fmla="val 16667"/>
            </a:avLst>
          </a:prstGeom>
          <a:solidFill>
            <a:srgbClr val="124942"/>
          </a:solidFill>
          <a:ln w="7620">
            <a:solidFill>
              <a:srgbClr val="1249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4" name="TextBox 47"/>
          <p:cNvSpPr/>
          <p:nvPr/>
        </p:nvSpPr>
        <p:spPr>
          <a:xfrm>
            <a:off x="11603520" y="2619720"/>
            <a:ext cx="5513400" cy="155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00" b="1" u="none" strike="noStrike">
                <a:solidFill>
                  <a:srgbClr val="48CDB1"/>
                </a:solidFill>
                <a:effectLst/>
                <a:uFillTx/>
                <a:latin typeface="Aptos"/>
              </a:rPr>
              <a:t>FASTEST OBSERVED</a:t>
            </a:r>
            <a:endParaRPr lang="en-US" sz="900" b="0" u="none" strike="noStrike">
              <a:solidFill>
                <a:srgbClr val="FFFFFF"/>
              </a:solidFill>
              <a:effectLst/>
              <a:uFillTx/>
              <a:latin typeface="Arial"/>
            </a:endParaRPr>
          </a:p>
        </p:txBody>
      </p:sp>
      <p:sp>
        <p:nvSpPr>
          <p:cNvPr id="445" name="TextBox 48"/>
          <p:cNvSpPr/>
          <p:nvPr/>
        </p:nvSpPr>
        <p:spPr>
          <a:xfrm>
            <a:off x="11603520" y="2949120"/>
            <a:ext cx="5513400" cy="20124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200" b="1" u="none" strike="noStrike">
                <a:solidFill>
                  <a:srgbClr val="F6F8FC"/>
                </a:solidFill>
                <a:effectLst/>
                <a:uFillTx/>
                <a:latin typeface="Aptos"/>
              </a:rPr>
              <a:t>Reduction + Reduction  ·  0.00165437 s</a:t>
            </a:r>
            <a:endParaRPr lang="en-US" sz="1200" b="0" u="none" strike="noStrike">
              <a:solidFill>
                <a:srgbClr val="FFFFFF"/>
              </a:solidFill>
              <a:effectLst/>
              <a:uFillTx/>
              <a:latin typeface="Arial"/>
            </a:endParaRPr>
          </a:p>
        </p:txBody>
      </p:sp>
      <p:sp>
        <p:nvSpPr>
          <p:cNvPr id="446" name="Rounded Rectangle 58"/>
          <p:cNvSpPr/>
          <p:nvPr/>
        </p:nvSpPr>
        <p:spPr>
          <a:xfrm>
            <a:off x="11412000" y="3730680"/>
            <a:ext cx="5897160" cy="1069200"/>
          </a:xfrm>
          <a:prstGeom prst="roundRect">
            <a:avLst>
              <a:gd name="adj" fmla="val 16667"/>
            </a:avLst>
          </a:prstGeom>
          <a:solidFill>
            <a:srgbClr val="562834"/>
          </a:solidFill>
          <a:ln w="7620">
            <a:solidFill>
              <a:srgbClr val="56283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7" name="TextBox 49"/>
          <p:cNvSpPr/>
          <p:nvPr/>
        </p:nvSpPr>
        <p:spPr>
          <a:xfrm>
            <a:off x="11603520" y="3827160"/>
            <a:ext cx="5513400" cy="155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00" b="1" u="none" strike="noStrike">
                <a:solidFill>
                  <a:srgbClr val="FF8491"/>
                </a:solidFill>
                <a:effectLst/>
                <a:uFillTx/>
                <a:latin typeface="Aptos"/>
              </a:rPr>
              <a:t>SLOWEST OBSERVED</a:t>
            </a:r>
            <a:endParaRPr lang="en-US" sz="900" b="0" u="none" strike="noStrike">
              <a:solidFill>
                <a:srgbClr val="FFFFFF"/>
              </a:solidFill>
              <a:effectLst/>
              <a:uFillTx/>
              <a:latin typeface="Arial"/>
            </a:endParaRPr>
          </a:p>
        </p:txBody>
      </p:sp>
      <p:sp>
        <p:nvSpPr>
          <p:cNvPr id="448" name="TextBox 50"/>
          <p:cNvSpPr/>
          <p:nvPr/>
        </p:nvSpPr>
        <p:spPr>
          <a:xfrm>
            <a:off x="11603520" y="4155840"/>
            <a:ext cx="5513400" cy="19080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130" b="1" u="none" strike="noStrike">
                <a:solidFill>
                  <a:srgbClr val="F6F8FC"/>
                </a:solidFill>
                <a:effectLst/>
                <a:uFillTx/>
                <a:latin typeface="Aptos"/>
              </a:rPr>
              <a:t>Critical + Critical  ·  0.02187610 s</a:t>
            </a:r>
            <a:endParaRPr lang="en-US" sz="1130" b="0" u="none" strike="noStrike">
              <a:solidFill>
                <a:srgbClr val="FFFFFF"/>
              </a:solidFill>
              <a:effectLst/>
              <a:uFillTx/>
              <a:latin typeface="Arial"/>
            </a:endParaRPr>
          </a:p>
        </p:txBody>
      </p:sp>
      <p:sp>
        <p:nvSpPr>
          <p:cNvPr id="449" name="TextBox 51"/>
          <p:cNvSpPr/>
          <p:nvPr/>
        </p:nvSpPr>
        <p:spPr>
          <a:xfrm>
            <a:off x="11466360" y="5019840"/>
            <a:ext cx="5787720" cy="17820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050" b="1" u="none" strike="noStrike">
                <a:solidFill>
                  <a:srgbClr val="F6C25C"/>
                </a:solidFill>
                <a:effectLst/>
                <a:uFillTx/>
                <a:latin typeface="Aptos"/>
              </a:rPr>
              <a:t>INTERPRETATION</a:t>
            </a:r>
            <a:endParaRPr lang="en-US" sz="1050" b="0" u="none" strike="noStrike">
              <a:solidFill>
                <a:srgbClr val="FFFFFF"/>
              </a:solidFill>
              <a:effectLst/>
              <a:uFillTx/>
              <a:latin typeface="Arial"/>
            </a:endParaRPr>
          </a:p>
        </p:txBody>
      </p:sp>
      <p:sp>
        <p:nvSpPr>
          <p:cNvPr id="450" name="TextBox 52"/>
          <p:cNvSpPr/>
          <p:nvPr/>
        </p:nvSpPr>
        <p:spPr>
          <a:xfrm>
            <a:off x="11466360" y="5445360"/>
            <a:ext cx="5787720" cy="33804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050" b="0" u="none" strike="noStrike">
                <a:solidFill>
                  <a:srgbClr val="F6F8FC"/>
                </a:solidFill>
                <a:effectLst/>
                <a:uFillTx/>
                <a:latin typeface="Aptos"/>
              </a:rPr>
              <a:t>Reduction + Reduction is the recommended baseline: it avoids per-update locking. The fastest single run is not proof of a generally faster method.</a:t>
            </a:r>
            <a:endParaRPr lang="en-US" sz="1050" b="0" u="none" strike="noStrike">
              <a:solidFill>
                <a:srgbClr val="FFFFFF"/>
              </a:solidFill>
              <a:effectLst/>
              <a:uFillTx/>
              <a:latin typeface="Arial"/>
            </a:endParaRPr>
          </a:p>
        </p:txBody>
      </p:sp>
      <p:sp>
        <p:nvSpPr>
          <p:cNvPr id="451" name="TextBox 53"/>
          <p:cNvSpPr/>
          <p:nvPr/>
        </p:nvSpPr>
        <p:spPr>
          <a:xfrm>
            <a:off x="11466360" y="6611400"/>
            <a:ext cx="5787720" cy="30780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50" b="0" u="none" strike="noStrike">
                <a:solidFill>
                  <a:srgbClr val="AEBCD0"/>
                </a:solidFill>
                <a:effectLst/>
                <a:uFillTx/>
                <a:latin typeface="Aptos"/>
              </a:rPr>
              <a:t>Important: this graph has no dangling nodes, so the dangling-sum loop performs no shared updates. Repeat runs on a graph with dangling nodes for a fairer comparison.</a:t>
            </a:r>
            <a:endParaRPr lang="en-US" sz="950" b="0" u="none" strike="noStrike">
              <a:solidFill>
                <a:srgbClr val="FFFFFF"/>
              </a:solidFill>
              <a:effectLst/>
              <a:uFillTx/>
              <a:latin typeface="Arial"/>
            </a:endParaRPr>
          </a:p>
        </p:txBody>
      </p:sp>
      <p:sp>
        <p:nvSpPr>
          <p:cNvPr id="452" name="TextBox 54"/>
          <p:cNvSpPr/>
          <p:nvPr/>
        </p:nvSpPr>
        <p:spPr>
          <a:xfrm>
            <a:off x="713520" y="7475400"/>
            <a:ext cx="16596000" cy="17820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050" b="1" u="none" strike="noStrike">
                <a:solidFill>
                  <a:srgbClr val="48CDB1"/>
                </a:solidFill>
                <a:effectLst/>
                <a:uFillTx/>
                <a:latin typeface="Aptos"/>
              </a:rPr>
              <a:t>PRACTICAL TAKEAWAY</a:t>
            </a:r>
            <a:endParaRPr lang="en-US" sz="1050" b="0" u="none" strike="noStrike">
              <a:solidFill>
                <a:srgbClr val="FFFFFF"/>
              </a:solidFill>
              <a:effectLst/>
              <a:uFillTx/>
              <a:latin typeface="Arial"/>
            </a:endParaRPr>
          </a:p>
        </p:txBody>
      </p:sp>
      <p:sp>
        <p:nvSpPr>
          <p:cNvPr id="453" name="Rounded Rectangle 65"/>
          <p:cNvSpPr/>
          <p:nvPr/>
        </p:nvSpPr>
        <p:spPr>
          <a:xfrm>
            <a:off x="685800" y="7927560"/>
            <a:ext cx="5476680" cy="1247400"/>
          </a:xfrm>
          <a:prstGeom prst="roundRect">
            <a:avLst>
              <a:gd name="adj" fmla="val 16667"/>
            </a:avLst>
          </a:prstGeom>
          <a:solidFill>
            <a:srgbClr val="124942"/>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4" name="TextBox 55"/>
          <p:cNvSpPr/>
          <p:nvPr/>
        </p:nvSpPr>
        <p:spPr>
          <a:xfrm>
            <a:off x="891360" y="8065080"/>
            <a:ext cx="5065200" cy="1630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50" b="1" u="none" strike="noStrike">
                <a:solidFill>
                  <a:srgbClr val="F6F8FC"/>
                </a:solidFill>
                <a:effectLst/>
                <a:uFillTx/>
                <a:latin typeface="Aptos"/>
              </a:rPr>
              <a:t>REDUCTION + REDUCTION</a:t>
            </a:r>
            <a:endParaRPr lang="en-US" sz="950" b="0" u="none" strike="noStrike">
              <a:solidFill>
                <a:srgbClr val="FFFFFF"/>
              </a:solidFill>
              <a:effectLst/>
              <a:uFillTx/>
              <a:latin typeface="Arial"/>
            </a:endParaRPr>
          </a:p>
        </p:txBody>
      </p:sp>
      <p:sp>
        <p:nvSpPr>
          <p:cNvPr id="455" name="TextBox 56"/>
          <p:cNvSpPr/>
          <p:nvPr/>
        </p:nvSpPr>
        <p:spPr>
          <a:xfrm>
            <a:off x="891360" y="8407800"/>
            <a:ext cx="5065200" cy="173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020" b="1" u="none" strike="noStrike">
                <a:solidFill>
                  <a:srgbClr val="48CDB1"/>
                </a:solidFill>
                <a:effectLst/>
                <a:uFillTx/>
                <a:latin typeface="Aptos"/>
              </a:rPr>
              <a:t>Best default to benchmark</a:t>
            </a:r>
            <a:endParaRPr lang="en-US" sz="1020" b="0" u="none" strike="noStrike">
              <a:solidFill>
                <a:srgbClr val="FFFFFF"/>
              </a:solidFill>
              <a:effectLst/>
              <a:uFillTx/>
              <a:latin typeface="Arial"/>
            </a:endParaRPr>
          </a:p>
        </p:txBody>
      </p:sp>
      <p:sp>
        <p:nvSpPr>
          <p:cNvPr id="456" name="TextBox 57"/>
          <p:cNvSpPr/>
          <p:nvPr/>
        </p:nvSpPr>
        <p:spPr>
          <a:xfrm>
            <a:off x="891360" y="8750880"/>
            <a:ext cx="5065200" cy="155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00" b="0" u="none" strike="noStrike">
                <a:solidFill>
                  <a:srgbClr val="AEBCD0"/>
                </a:solidFill>
                <a:effectLst/>
                <a:uFillTx/>
                <a:latin typeface="Aptos"/>
              </a:rPr>
              <a:t>Low synchronization overhead</a:t>
            </a:r>
            <a:endParaRPr lang="en-US" sz="900" b="0" u="none" strike="noStrike">
              <a:solidFill>
                <a:srgbClr val="FFFFFF"/>
              </a:solidFill>
              <a:effectLst/>
              <a:uFillTx/>
              <a:latin typeface="Arial"/>
            </a:endParaRPr>
          </a:p>
        </p:txBody>
      </p:sp>
      <p:sp>
        <p:nvSpPr>
          <p:cNvPr id="457" name="Rounded Rectangle 69"/>
          <p:cNvSpPr/>
          <p:nvPr/>
        </p:nvSpPr>
        <p:spPr>
          <a:xfrm>
            <a:off x="6382080" y="7927560"/>
            <a:ext cx="5476680" cy="1247400"/>
          </a:xfrm>
          <a:prstGeom prst="roundRect">
            <a:avLst>
              <a:gd name="adj" fmla="val 16667"/>
            </a:avLst>
          </a:prstGeom>
          <a:solidFill>
            <a:srgbClr val="26354E"/>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8" name="TextBox 58"/>
          <p:cNvSpPr/>
          <p:nvPr/>
        </p:nvSpPr>
        <p:spPr>
          <a:xfrm>
            <a:off x="6588000" y="8065080"/>
            <a:ext cx="5065200" cy="1630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50" b="1" u="none" strike="noStrike">
                <a:solidFill>
                  <a:srgbClr val="F6F8FC"/>
                </a:solidFill>
                <a:effectLst/>
                <a:uFillTx/>
                <a:latin typeface="Aptos"/>
              </a:rPr>
              <a:t>ATOMIC + REDUCTION</a:t>
            </a:r>
            <a:endParaRPr lang="en-US" sz="950" b="0" u="none" strike="noStrike">
              <a:solidFill>
                <a:srgbClr val="FFFFFF"/>
              </a:solidFill>
              <a:effectLst/>
              <a:uFillTx/>
              <a:latin typeface="Arial"/>
            </a:endParaRPr>
          </a:p>
        </p:txBody>
      </p:sp>
      <p:sp>
        <p:nvSpPr>
          <p:cNvPr id="459" name="TextBox 59"/>
          <p:cNvSpPr/>
          <p:nvPr/>
        </p:nvSpPr>
        <p:spPr>
          <a:xfrm>
            <a:off x="6588000" y="8407800"/>
            <a:ext cx="5065200" cy="173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020" b="1" u="none" strike="noStrike">
                <a:solidFill>
                  <a:srgbClr val="48CDB1"/>
                </a:solidFill>
                <a:effectLst/>
                <a:uFillTx/>
                <a:latin typeface="Aptos"/>
              </a:rPr>
              <a:t>Fastest in this run</a:t>
            </a:r>
            <a:endParaRPr lang="en-US" sz="1020" b="0" u="none" strike="noStrike">
              <a:solidFill>
                <a:srgbClr val="FFFFFF"/>
              </a:solidFill>
              <a:effectLst/>
              <a:uFillTx/>
              <a:latin typeface="Arial"/>
            </a:endParaRPr>
          </a:p>
        </p:txBody>
      </p:sp>
      <p:sp>
        <p:nvSpPr>
          <p:cNvPr id="460" name="TextBox 60"/>
          <p:cNvSpPr/>
          <p:nvPr/>
        </p:nvSpPr>
        <p:spPr>
          <a:xfrm>
            <a:off x="6588000" y="8750880"/>
            <a:ext cx="5065200" cy="155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00" b="0" u="none" strike="noStrike">
                <a:solidFill>
                  <a:srgbClr val="AEBCD0"/>
                </a:solidFill>
                <a:effectLst/>
                <a:uFillTx/>
                <a:latin typeface="Aptos"/>
              </a:rPr>
              <a:t>Validate with repeated runs</a:t>
            </a:r>
            <a:endParaRPr lang="en-US" sz="900" b="0" u="none" strike="noStrike">
              <a:solidFill>
                <a:srgbClr val="FFFFFF"/>
              </a:solidFill>
              <a:effectLst/>
              <a:uFillTx/>
              <a:latin typeface="Arial"/>
            </a:endParaRPr>
          </a:p>
        </p:txBody>
      </p:sp>
      <p:sp>
        <p:nvSpPr>
          <p:cNvPr id="461" name="Rounded Rectangle 73"/>
          <p:cNvSpPr/>
          <p:nvPr/>
        </p:nvSpPr>
        <p:spPr>
          <a:xfrm>
            <a:off x="12079440" y="7927560"/>
            <a:ext cx="5476680" cy="1247400"/>
          </a:xfrm>
          <a:prstGeom prst="roundRect">
            <a:avLst>
              <a:gd name="adj" fmla="val 16667"/>
            </a:avLst>
          </a:prstGeom>
          <a:solidFill>
            <a:srgbClr val="562834"/>
          </a:solidFill>
          <a:ln w="7620">
            <a:solidFill>
              <a:srgbClr val="3644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62" name="TextBox 61"/>
          <p:cNvSpPr/>
          <p:nvPr/>
        </p:nvSpPr>
        <p:spPr>
          <a:xfrm>
            <a:off x="12285000" y="8065080"/>
            <a:ext cx="5065200" cy="1630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50" b="1" u="none" strike="noStrike">
                <a:solidFill>
                  <a:srgbClr val="F6F8FC"/>
                </a:solidFill>
                <a:effectLst/>
                <a:uFillTx/>
                <a:latin typeface="Aptos"/>
              </a:rPr>
              <a:t>CRITICAL + CRITICAL</a:t>
            </a:r>
            <a:endParaRPr lang="en-US" sz="950" b="0" u="none" strike="noStrike">
              <a:solidFill>
                <a:srgbClr val="FFFFFF"/>
              </a:solidFill>
              <a:effectLst/>
              <a:uFillTx/>
              <a:latin typeface="Arial"/>
            </a:endParaRPr>
          </a:p>
        </p:txBody>
      </p:sp>
      <p:sp>
        <p:nvSpPr>
          <p:cNvPr id="463" name="TextBox 62"/>
          <p:cNvSpPr/>
          <p:nvPr/>
        </p:nvSpPr>
        <p:spPr>
          <a:xfrm>
            <a:off x="12285000" y="8407800"/>
            <a:ext cx="5065200" cy="173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1020" b="1" u="none" strike="noStrike">
                <a:solidFill>
                  <a:srgbClr val="FF8491"/>
                </a:solidFill>
                <a:effectLst/>
                <a:uFillTx/>
                <a:latin typeface="Aptos"/>
              </a:rPr>
              <a:t>Slowest in this run</a:t>
            </a:r>
            <a:endParaRPr lang="en-US" sz="1020" b="0" u="none" strike="noStrike">
              <a:solidFill>
                <a:srgbClr val="FFFFFF"/>
              </a:solidFill>
              <a:effectLst/>
              <a:uFillTx/>
              <a:latin typeface="Arial"/>
            </a:endParaRPr>
          </a:p>
        </p:txBody>
      </p:sp>
      <p:sp>
        <p:nvSpPr>
          <p:cNvPr id="464" name="TextBox 63"/>
          <p:cNvSpPr/>
          <p:nvPr/>
        </p:nvSpPr>
        <p:spPr>
          <a:xfrm>
            <a:off x="12285000" y="8750880"/>
            <a:ext cx="5065200" cy="15588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900" b="0" u="none" strike="noStrike">
                <a:solidFill>
                  <a:srgbClr val="AEBCD0"/>
                </a:solidFill>
                <a:effectLst/>
                <a:uFillTx/>
                <a:latin typeface="Aptos"/>
              </a:rPr>
              <a:t>Frequent serialized updates</a:t>
            </a:r>
            <a:endParaRPr lang="en-US" sz="900" b="0" u="none" strike="noStrike">
              <a:solidFill>
                <a:srgbClr val="FFFFFF"/>
              </a:solidFill>
              <a:effectLst/>
              <a:uFillTx/>
              <a:latin typeface="Arial"/>
            </a:endParaRPr>
          </a:p>
        </p:txBody>
      </p:sp>
      <p:sp>
        <p:nvSpPr>
          <p:cNvPr id="465" name="TextBox 64"/>
          <p:cNvSpPr/>
          <p:nvPr/>
        </p:nvSpPr>
        <p:spPr>
          <a:xfrm>
            <a:off x="713520" y="9477720"/>
            <a:ext cx="16733160" cy="147960"/>
          </a:xfrm>
          <a:prstGeom prst="rect">
            <a:avLst/>
          </a:prstGeom>
          <a:noFill/>
          <a:ln w="0">
            <a:noFill/>
          </a:ln>
        </p:spPr>
        <p:style>
          <a:lnRef idx="0"/>
          <a:fillRef idx="0"/>
          <a:effectRef idx="0"/>
          <a:fontRef idx="minor"/>
        </p:style>
        <p:txBody>
          <a:bodyPr lIns="36720" tIns="9000" rIns="36720" bIns="9000" anchor="t">
            <a:spAutoFit/>
          </a:bodyPr>
          <a:p>
            <a:pPr defTabSz="457200">
              <a:lnSpc>
                <a:spcPct val="100000"/>
              </a:lnSpc>
            </a:pPr>
            <a:r>
              <a:rPr lang="en-US" sz="850" b="0" u="none" strike="noStrike">
                <a:solidFill>
                  <a:srgbClr val="AEBCD0"/>
                </a:solidFill>
                <a:effectLst/>
                <a:uFillTx/>
                <a:latin typeface="Aptos"/>
              </a:rPr>
              <a:t>Use identical inputs and compiler flags; report median runtime across 7–10 runs. Do not alter measured values to fit an expected result.</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72A"/>
        </a:solidFill>
      </p:bgPr>
    </p:bg>
    <p:spTree>
      <p:nvGrpSpPr>
        <p:cNvPr id="1" name=""/>
        <p:cNvGrpSpPr/>
        <p:nvPr/>
      </p:nvGrpSpPr>
      <p:grpSpPr>
        <a:xfrm>
          <a:off x="0" y="0"/>
          <a:ext cx="0" cy="0"/>
          <a:chOff x="0" y="0"/>
          <a:chExt cx="0" cy="0"/>
        </a:xfrm>
      </p:grpSpPr>
      <p:sp>
        <p:nvSpPr>
          <p:cNvPr id="466" name="Rectangle 403"/>
          <p:cNvSpPr/>
          <p:nvPr/>
        </p:nvSpPr>
        <p:spPr>
          <a:xfrm>
            <a:off x="0" y="0"/>
            <a:ext cx="18287280" cy="90720"/>
          </a:xfrm>
          <a:prstGeom prst="rect">
            <a:avLst/>
          </a:prstGeom>
          <a:solidFill>
            <a:srgbClr val="31C4B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467" name="TextBox 404"/>
          <p:cNvSpPr/>
          <p:nvPr/>
        </p:nvSpPr>
        <p:spPr>
          <a:xfrm>
            <a:off x="457200" y="255960"/>
            <a:ext cx="11246400" cy="502200"/>
          </a:xfrm>
          <a:prstGeom prst="rect">
            <a:avLst/>
          </a:prstGeom>
          <a:noFill/>
          <a:ln w="0">
            <a:noFill/>
          </a:ln>
        </p:spPr>
        <p:style>
          <a:lnRef idx="0"/>
          <a:fillRef idx="0"/>
          <a:effectRef idx="0"/>
          <a:fontRef idx="minor"/>
        </p:style>
        <p:txBody>
          <a:bodyPr wrap="none" lIns="18360" tIns="0" rIns="18360" bIns="0" anchor="t">
            <a:spAutoFit/>
          </a:bodyPr>
          <a:p>
            <a:pPr>
              <a:lnSpc>
                <a:spcPct val="100000"/>
              </a:lnSpc>
            </a:pPr>
            <a:r>
              <a:rPr lang="en-US" sz="2500" b="1" u="none" strike="noStrike">
                <a:solidFill>
                  <a:srgbClr val="FFFFFF"/>
                </a:solidFill>
                <a:effectLst/>
                <a:uFillTx/>
                <a:latin typeface="Aptos"/>
                <a:ea typeface="Arial"/>
              </a:rPr>
              <a:t>PageRank: Serial vs Parallel Performance</a:t>
            </a:r>
            <a:endParaRPr lang="en-US" sz="2500" b="0" u="none" strike="noStrike">
              <a:solidFill>
                <a:srgbClr val="FFFFFF"/>
              </a:solidFill>
              <a:effectLst/>
              <a:uFillTx/>
              <a:latin typeface="Arial"/>
            </a:endParaRPr>
          </a:p>
        </p:txBody>
      </p:sp>
      <p:sp>
        <p:nvSpPr>
          <p:cNvPr id="468" name="TextBox 405"/>
          <p:cNvSpPr/>
          <p:nvPr/>
        </p:nvSpPr>
        <p:spPr>
          <a:xfrm>
            <a:off x="475560" y="768240"/>
            <a:ext cx="11246400" cy="273600"/>
          </a:xfrm>
          <a:prstGeom prst="rect">
            <a:avLst/>
          </a:prstGeom>
          <a:noFill/>
          <a:ln w="0">
            <a:noFill/>
          </a:ln>
        </p:spPr>
        <p:style>
          <a:lnRef idx="0"/>
          <a:fillRef idx="0"/>
          <a:effectRef idx="0"/>
          <a:fontRef idx="minor"/>
        </p:style>
        <p:txBody>
          <a:bodyPr wrap="none" lIns="18360" tIns="0" rIns="18360" bIns="0" anchor="t">
            <a:spAutoFit/>
          </a:bodyPr>
          <a:p>
            <a:pPr>
              <a:lnSpc>
                <a:spcPct val="100000"/>
              </a:lnSpc>
            </a:pPr>
            <a:r>
              <a:rPr lang="en-US" sz="1100" b="0" u="none" strike="noStrike">
                <a:solidFill>
                  <a:srgbClr val="B2BECF"/>
                </a:solidFill>
                <a:effectLst/>
                <a:uFillTx/>
                <a:latin typeface="Aptos"/>
                <a:ea typeface="Arial"/>
              </a:rPr>
              <a:t>Measured results across six graph sizes</a:t>
            </a:r>
            <a:endParaRPr lang="en-US" sz="1100" b="0" u="none" strike="noStrike">
              <a:solidFill>
                <a:srgbClr val="FFFFFF"/>
              </a:solidFill>
              <a:effectLst/>
              <a:uFillTx/>
              <a:latin typeface="Arial"/>
            </a:endParaRPr>
          </a:p>
        </p:txBody>
      </p:sp>
      <p:graphicFrame>
        <p:nvGraphicFramePr>
          <p:cNvPr id="469" name="Table 406"/>
          <p:cNvGraphicFramePr/>
          <p:nvPr/>
        </p:nvGraphicFramePr>
        <p:xfrm>
          <a:off x="1519560" y="1376280"/>
          <a:ext cx="15369120" cy="6933240"/>
        </p:xfrm>
        <a:graphic>
          <a:graphicData uri="http://schemas.openxmlformats.org/drawingml/2006/table">
            <a:tbl>
              <a:tblPr/>
              <a:tblGrid>
                <a:gridCol w="2630520"/>
                <a:gridCol w="2007360"/>
                <a:gridCol w="3115080"/>
                <a:gridCol w="3322800"/>
                <a:gridCol w="2145600"/>
                <a:gridCol w="2148120"/>
              </a:tblGrid>
              <a:tr h="981360">
                <a:tc>
                  <a:txBody>
                    <a:bodyPr lIns="36360" rIns="36360" anchor="ctr">
                      <a:noAutofit/>
                    </a:bodyPr>
                    <a:p>
                      <a:pPr algn="ctr">
                        <a:lnSpc>
                          <a:spcPct val="100000"/>
                        </a:lnSpc>
                      </a:pPr>
                      <a:r>
                        <a:rPr lang="en-US" sz="2400" b="1" u="none" strike="noStrike">
                          <a:solidFill>
                            <a:srgbClr val="FFFFFF"/>
                          </a:solidFill>
                          <a:effectLst/>
                          <a:uFillTx/>
                          <a:latin typeface="Aptos"/>
                          <a:ea typeface="Arial"/>
                        </a:rPr>
                        <a:t>Input nodes (N)</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26435E"/>
                    </a:solidFill>
                  </a:tcPr>
                </a:tc>
                <a:tc>
                  <a:txBody>
                    <a:bodyPr lIns="36360" rIns="36360" anchor="ctr">
                      <a:noAutofit/>
                    </a:bodyPr>
                    <a:p>
                      <a:pPr algn="ctr">
                        <a:lnSpc>
                          <a:spcPct val="100000"/>
                        </a:lnSpc>
                      </a:pPr>
                      <a:r>
                        <a:rPr lang="en-US" sz="2400" b="1" u="none" strike="noStrike">
                          <a:solidFill>
                            <a:srgbClr val="FFFFFF"/>
                          </a:solidFill>
                          <a:effectLst/>
                          <a:uFillTx/>
                          <a:latin typeface="Aptos"/>
                          <a:ea typeface="Arial"/>
                        </a:rPr>
                        <a:t>Threads (P)</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26435E"/>
                    </a:solidFill>
                  </a:tcPr>
                </a:tc>
                <a:tc>
                  <a:txBody>
                    <a:bodyPr lIns="36360" rIns="36360" anchor="ctr">
                      <a:noAutofit/>
                    </a:bodyPr>
                    <a:p>
                      <a:pPr algn="ctr">
                        <a:lnSpc>
                          <a:spcPct val="100000"/>
                        </a:lnSpc>
                      </a:pPr>
                      <a:r>
                        <a:rPr lang="en-US" sz="2400" b="1" u="none" strike="noStrike">
                          <a:solidFill>
                            <a:srgbClr val="FFFFFF"/>
                          </a:solidFill>
                          <a:effectLst/>
                          <a:uFillTx/>
                          <a:latin typeface="Aptos"/>
                          <a:ea typeface="Arial"/>
                        </a:rPr>
                        <a:t>Serial time (s)</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26435E"/>
                    </a:solidFill>
                  </a:tcPr>
                </a:tc>
                <a:tc>
                  <a:txBody>
                    <a:bodyPr lIns="36360" rIns="36360" anchor="ctr">
                      <a:noAutofit/>
                    </a:bodyPr>
                    <a:p>
                      <a:pPr algn="ctr">
                        <a:lnSpc>
                          <a:spcPct val="100000"/>
                        </a:lnSpc>
                      </a:pPr>
                      <a:r>
                        <a:rPr lang="en-US" sz="2400" b="1" u="none" strike="noStrike">
                          <a:solidFill>
                            <a:srgbClr val="FFFFFF"/>
                          </a:solidFill>
                          <a:effectLst/>
                          <a:uFillTx/>
                          <a:latin typeface="Aptos"/>
                          <a:ea typeface="Arial"/>
                        </a:rPr>
                        <a:t>Parallel time (s)</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26435E"/>
                    </a:solidFill>
                  </a:tcPr>
                </a:tc>
                <a:tc>
                  <a:txBody>
                    <a:bodyPr lIns="36360" rIns="36360" anchor="ctr">
                      <a:noAutofit/>
                    </a:bodyPr>
                    <a:p>
                      <a:pPr algn="ctr">
                        <a:lnSpc>
                          <a:spcPct val="100000"/>
                        </a:lnSpc>
                      </a:pPr>
                      <a:r>
                        <a:rPr lang="en-US" sz="2400" b="1" u="none" strike="noStrike">
                          <a:solidFill>
                            <a:srgbClr val="FFFFFF"/>
                          </a:solidFill>
                          <a:effectLst/>
                          <a:uFillTx/>
                          <a:latin typeface="Aptos"/>
                          <a:ea typeface="Arial"/>
                        </a:rPr>
                        <a:t>Speedup</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26435E"/>
                    </a:solidFill>
                  </a:tcPr>
                </a:tc>
                <a:tc>
                  <a:txBody>
                    <a:bodyPr lIns="36360" rIns="36360" anchor="ctr">
                      <a:noAutofit/>
                    </a:bodyPr>
                    <a:p>
                      <a:pPr algn="ctr">
                        <a:lnSpc>
                          <a:spcPct val="100000"/>
                        </a:lnSpc>
                      </a:pPr>
                      <a:r>
                        <a:rPr lang="en-US" sz="2400" b="1" u="none" strike="noStrike">
                          <a:solidFill>
                            <a:srgbClr val="FFFFFF"/>
                          </a:solidFill>
                          <a:effectLst/>
                          <a:uFillTx/>
                          <a:latin typeface="Aptos"/>
                          <a:ea typeface="Arial"/>
                        </a:rPr>
                        <a:t>Efficiency</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26435E"/>
                    </a:solidFill>
                  </a:tcPr>
                </a:tc>
              </a:tr>
              <a:tr h="981360">
                <a:tc>
                  <a:txBody>
                    <a:bodyPr lIns="36360" rIns="36360" anchor="ctr">
                      <a:noAutofit/>
                    </a:bodyPr>
                    <a:p>
                      <a:pPr algn="ctr">
                        <a:lnSpc>
                          <a:spcPct val="100000"/>
                        </a:lnSpc>
                      </a:pPr>
                      <a:r>
                        <a:rPr lang="en-US" sz="2400" b="0" u="none" strike="noStrike">
                          <a:solidFill>
                            <a:srgbClr val="FFFFFF"/>
                          </a:solidFill>
                          <a:effectLst/>
                          <a:uFillTx/>
                          <a:latin typeface="Aptos"/>
                          <a:ea typeface="Arial"/>
                        </a:rPr>
                        <a:t>5</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2</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0.00000019</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0.00025754</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1" u="none" strike="noStrike">
                          <a:solidFill>
                            <a:srgbClr val="FFBE76"/>
                          </a:solidFill>
                          <a:effectLst/>
                          <a:uFillTx/>
                          <a:latin typeface="Aptos"/>
                          <a:ea typeface="Arial"/>
                        </a:rPr>
                        <a:t>0.0007×</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0.04%</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r>
              <a:tr h="981360">
                <a:tc>
                  <a:txBody>
                    <a:bodyPr lIns="36360" rIns="36360" anchor="ctr">
                      <a:noAutofit/>
                    </a:bodyPr>
                    <a:p>
                      <a:pPr algn="ctr">
                        <a:lnSpc>
                          <a:spcPct val="100000"/>
                        </a:lnSpc>
                      </a:pPr>
                      <a:r>
                        <a:rPr lang="en-US" sz="2400" b="0" u="none" strike="noStrike">
                          <a:solidFill>
                            <a:srgbClr val="FFFFFF"/>
                          </a:solidFill>
                          <a:effectLst/>
                          <a:uFillTx/>
                          <a:latin typeface="Aptos"/>
                          <a:ea typeface="Arial"/>
                        </a:rPr>
                        <a:t>1,000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2</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0.00010956</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0.00020852</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1" u="none" strike="noStrike">
                          <a:solidFill>
                            <a:srgbClr val="FFBE76"/>
                          </a:solidFill>
                          <a:effectLst/>
                          <a:uFillTx/>
                          <a:latin typeface="Aptos"/>
                          <a:ea typeface="Arial"/>
                        </a:rPr>
                        <a:t>0.53×</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26.27%</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r>
              <a:tr h="981360">
                <a:tc>
                  <a:txBody>
                    <a:bodyPr lIns="36360" rIns="36360" anchor="ctr">
                      <a:noAutofit/>
                    </a:bodyPr>
                    <a:p>
                      <a:pPr algn="ctr">
                        <a:lnSpc>
                          <a:spcPct val="100000"/>
                        </a:lnSpc>
                      </a:pPr>
                      <a:r>
                        <a:rPr lang="en-US" sz="2400" b="0" u="none" strike="noStrike">
                          <a:solidFill>
                            <a:srgbClr val="FFFFFF"/>
                          </a:solidFill>
                          <a:effectLst/>
                          <a:uFillTx/>
                          <a:latin typeface="Aptos"/>
                          <a:ea typeface="Arial"/>
                        </a:rPr>
                        <a:t>10,000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4</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0.00054458</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0.00061081</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1" u="none" strike="noStrike">
                          <a:solidFill>
                            <a:srgbClr val="FFBE76"/>
                          </a:solidFill>
                          <a:effectLst/>
                          <a:uFillTx/>
                          <a:latin typeface="Aptos"/>
                          <a:ea typeface="Arial"/>
                        </a:rPr>
                        <a:t>0.89×</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22.28%</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r>
              <a:tr h="981360">
                <a:tc>
                  <a:txBody>
                    <a:bodyPr lIns="36360" rIns="36360" anchor="ctr">
                      <a:noAutofit/>
                    </a:bodyPr>
                    <a:p>
                      <a:pPr algn="ctr">
                        <a:lnSpc>
                          <a:spcPct val="100000"/>
                        </a:lnSpc>
                      </a:pPr>
                      <a:r>
                        <a:rPr lang="en-US" sz="2400" b="0" u="none" strike="noStrike">
                          <a:solidFill>
                            <a:srgbClr val="FFFFFF"/>
                          </a:solidFill>
                          <a:effectLst/>
                          <a:uFillTx/>
                          <a:latin typeface="Aptos"/>
                          <a:ea typeface="Arial"/>
                        </a:rPr>
                        <a:t>100,000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8</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0.00483282</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0.00204145</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1" u="none" strike="noStrike">
                          <a:solidFill>
                            <a:srgbClr val="31C4BE"/>
                          </a:solidFill>
                          <a:effectLst/>
                          <a:uFillTx/>
                          <a:latin typeface="Aptos"/>
                          <a:ea typeface="Arial"/>
                        </a:rPr>
                        <a:t>2.37×</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29.60%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r>
              <a:tr h="1041840">
                <a:tc>
                  <a:txBody>
                    <a:bodyPr lIns="36360" rIns="36360" anchor="ctr">
                      <a:noAutofit/>
                    </a:bodyPr>
                    <a:p>
                      <a:pPr algn="ctr">
                        <a:lnSpc>
                          <a:spcPct val="100000"/>
                        </a:lnSpc>
                      </a:pPr>
                      <a:r>
                        <a:rPr lang="en-US" sz="2400" b="0" u="none" strike="noStrike">
                          <a:solidFill>
                            <a:srgbClr val="FFFFFF"/>
                          </a:solidFill>
                          <a:effectLst/>
                          <a:uFillTx/>
                          <a:latin typeface="Aptos"/>
                          <a:ea typeface="Arial"/>
                        </a:rPr>
                        <a:t>1,000,000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16</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0.04661068</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0.01645861</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1" u="none" strike="noStrike">
                          <a:solidFill>
                            <a:srgbClr val="31C4BE"/>
                          </a:solidFill>
                          <a:effectLst/>
                          <a:uFillTx/>
                          <a:latin typeface="Aptos"/>
                          <a:ea typeface="Arial"/>
                        </a:rPr>
                        <a:t>2.83×</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17.70%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62236"/>
                    </a:solidFill>
                  </a:tcPr>
                </a:tc>
              </a:tr>
              <a:tr h="984600">
                <a:tc>
                  <a:txBody>
                    <a:bodyPr lIns="36360" rIns="36360" anchor="ctr">
                      <a:noAutofit/>
                    </a:bodyPr>
                    <a:p>
                      <a:pPr algn="ctr">
                        <a:lnSpc>
                          <a:spcPct val="100000"/>
                        </a:lnSpc>
                      </a:pPr>
                      <a:r>
                        <a:rPr lang="en-US" sz="2400" b="0" u="none" strike="noStrike">
                          <a:solidFill>
                            <a:srgbClr val="FFFFFF"/>
                          </a:solidFill>
                          <a:effectLst/>
                          <a:uFillTx/>
                          <a:latin typeface="Aptos"/>
                          <a:ea typeface="Arial"/>
                        </a:rPr>
                        <a:t>10,000,000</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16</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0.49055496</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0.18424764</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1" u="none" strike="noStrike">
                          <a:solidFill>
                            <a:srgbClr val="31C4BE"/>
                          </a:solidFill>
                          <a:effectLst/>
                          <a:uFillTx/>
                          <a:latin typeface="Aptos"/>
                          <a:ea typeface="Arial"/>
                        </a:rPr>
                        <a:t>2.66×</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c>
                  <a:txBody>
                    <a:bodyPr lIns="36360" rIns="36360" anchor="ctr">
                      <a:noAutofit/>
                    </a:bodyPr>
                    <a:p>
                      <a:pPr algn="ctr">
                        <a:lnSpc>
                          <a:spcPct val="100000"/>
                        </a:lnSpc>
                      </a:pPr>
                      <a:r>
                        <a:rPr lang="en-US" sz="2400" b="0" u="none" strike="noStrike">
                          <a:solidFill>
                            <a:srgbClr val="FFFFFF"/>
                          </a:solidFill>
                          <a:effectLst/>
                          <a:uFillTx/>
                          <a:latin typeface="Aptos"/>
                          <a:ea typeface="Arial"/>
                        </a:rPr>
                        <a:t>16.64%</a:t>
                      </a:r>
                      <a:endParaRPr lang="en-US" sz="2400" b="0" u="none" strike="noStrike">
                        <a:solidFill>
                          <a:srgbClr val="FFFFFF"/>
                        </a:solidFill>
                        <a:effectLst/>
                        <a:uFillTx/>
                        <a:latin typeface="Arial"/>
                      </a:endParaRPr>
                    </a:p>
                  </a:txBody>
                  <a:tcPr anchor="ctr" marL="36360" marR="3636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D2C42"/>
                    </a:solidFill>
                  </a:tcPr>
                </a:tc>
              </a:tr>
            </a:tbl>
          </a:graphicData>
        </a:graphic>
      </p:graphicFrame>
      <p:sp>
        <p:nvSpPr>
          <p:cNvPr id="470" name="Rounded Rectangle 407"/>
          <p:cNvSpPr/>
          <p:nvPr/>
        </p:nvSpPr>
        <p:spPr>
          <a:xfrm>
            <a:off x="3722040" y="8824320"/>
            <a:ext cx="11365200" cy="547920"/>
          </a:xfrm>
          <a:prstGeom prst="roundRect">
            <a:avLst>
              <a:gd name="adj" fmla="val 16667"/>
            </a:avLst>
          </a:prstGeom>
          <a:solidFill>
            <a:srgbClr val="19273F"/>
          </a:solidFill>
          <a:ln w="10160">
            <a:solidFill>
              <a:srgbClr val="31C4B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471" name="TextBox 408"/>
          <p:cNvSpPr/>
          <p:nvPr/>
        </p:nvSpPr>
        <p:spPr>
          <a:xfrm>
            <a:off x="4023720" y="9061920"/>
            <a:ext cx="11063520" cy="310320"/>
          </a:xfrm>
          <a:prstGeom prst="rect">
            <a:avLst/>
          </a:prstGeom>
          <a:noFill/>
          <a:ln w="0">
            <a:noFill/>
          </a:ln>
        </p:spPr>
        <p:style>
          <a:lnRef idx="0"/>
          <a:fillRef idx="0"/>
          <a:effectRef idx="0"/>
          <a:fontRef idx="minor"/>
        </p:style>
        <p:txBody>
          <a:bodyPr wrap="none" lIns="18360" tIns="0" rIns="18360" bIns="0" anchor="t">
            <a:spAutoFit/>
          </a:bodyPr>
          <a:p>
            <a:pPr algn="ctr">
              <a:lnSpc>
                <a:spcPct val="100000"/>
              </a:lnSpc>
            </a:pPr>
            <a:r>
              <a:rPr lang="en-US" sz="1300" b="1" u="none" strike="noStrike">
                <a:solidFill>
                  <a:srgbClr val="FFFFFF"/>
                </a:solidFill>
                <a:effectLst/>
                <a:uFillTx/>
                <a:latin typeface="Aptos"/>
                <a:ea typeface="Arial"/>
              </a:rPr>
              <a:t>SERIAL   ./pagerank_serial N       •       PARALLEL   ./pagerank_openmp N P</a:t>
            </a:r>
            <a:endParaRPr lang="en-US" sz="1300" b="0" u="none" strike="noStrike">
              <a:solidFill>
                <a:srgbClr val="FFFFFF"/>
              </a:solidFill>
              <a:effectLst/>
              <a:uFillTx/>
              <a:latin typeface="Arial"/>
            </a:endParaRPr>
          </a:p>
        </p:txBody>
      </p:sp>
      <p:sp>
        <p:nvSpPr>
          <p:cNvPr id="472" name="TextBox 409"/>
          <p:cNvSpPr/>
          <p:nvPr/>
        </p:nvSpPr>
        <p:spPr>
          <a:xfrm>
            <a:off x="3659760" y="9464040"/>
            <a:ext cx="11427480" cy="365400"/>
          </a:xfrm>
          <a:prstGeom prst="rect">
            <a:avLst/>
          </a:prstGeom>
          <a:noFill/>
          <a:ln w="0">
            <a:noFill/>
          </a:ln>
        </p:spPr>
        <p:style>
          <a:lnRef idx="0"/>
          <a:fillRef idx="0"/>
          <a:effectRef idx="0"/>
          <a:fontRef idx="minor"/>
        </p:style>
        <p:txBody>
          <a:bodyPr wrap="none" lIns="18360" tIns="0" rIns="18360" bIns="0" anchor="t">
            <a:spAutoFit/>
          </a:bodyPr>
          <a:p>
            <a:pPr algn="ctr">
              <a:lnSpc>
                <a:spcPct val="100000"/>
              </a:lnSpc>
            </a:pPr>
            <a:r>
              <a:rPr lang="en-US" sz="2400" b="0" u="none" strike="noStrike">
                <a:solidFill>
                  <a:srgbClr val="B2BECF"/>
                </a:solidFill>
                <a:effectLst/>
                <a:uFillTx/>
                <a:latin typeface="Aptos"/>
                <a:ea typeface="Arial"/>
              </a:rPr>
              <a:t>Speedup = Serial time ÷ Parallel time     |     Efficiency = Speedup ÷ Threads × 100%</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sp>
        <p:nvSpPr>
          <p:cNvPr id="473" name="Google Shape;466;p16"/>
          <p:cNvSpPr/>
          <p:nvPr/>
        </p:nvSpPr>
        <p:spPr>
          <a:xfrm>
            <a:off x="952560" y="800280"/>
            <a:ext cx="18020520" cy="3391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1800" b="0" u="none" strike="noStrike">
                <a:solidFill>
                  <a:srgbClr val="5B6A7D"/>
                </a:solidFill>
                <a:effectLst/>
                <a:uFillTx/>
                <a:latin typeface="Courier New"/>
                <a:ea typeface="Courier New"/>
              </a:rPr>
              <a:t>CONCLUSION</a:t>
            </a:r>
            <a:endParaRPr lang="en-US" sz="1800" b="0" u="none" strike="noStrike">
              <a:solidFill>
                <a:srgbClr val="FFFFFF"/>
              </a:solidFill>
              <a:effectLst/>
              <a:uFillTx/>
              <a:latin typeface="Arial"/>
            </a:endParaRPr>
          </a:p>
        </p:txBody>
      </p:sp>
      <p:sp>
        <p:nvSpPr>
          <p:cNvPr id="474" name="Google Shape;467;p16"/>
          <p:cNvSpPr/>
          <p:nvPr/>
        </p:nvSpPr>
        <p:spPr>
          <a:xfrm>
            <a:off x="952560" y="1292400"/>
            <a:ext cx="18020520" cy="8391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4950" b="1" u="none" strike="noStrike">
                <a:solidFill>
                  <a:srgbClr val="EEF2F7"/>
                </a:solidFill>
                <a:effectLst/>
                <a:uFillTx/>
                <a:latin typeface="Arial"/>
                <a:ea typeface="Arial"/>
              </a:rPr>
              <a:t>PageRank: from links → rank → parallel work</a:t>
            </a:r>
            <a:endParaRPr lang="en-US" sz="4950" b="0" u="none" strike="noStrike">
              <a:solidFill>
                <a:srgbClr val="FFFFFF"/>
              </a:solidFill>
              <a:effectLst/>
              <a:uFillTx/>
              <a:latin typeface="Arial"/>
            </a:endParaRPr>
          </a:p>
        </p:txBody>
      </p:sp>
      <p:pic>
        <p:nvPicPr>
          <p:cNvPr id="475" name="Google Shape;468;p16" descr="preencoded.png"/>
          <p:cNvPicPr/>
          <p:nvPr/>
        </p:nvPicPr>
        <p:blipFill>
          <a:blip r:embed="rId1"/>
          <a:stretch/>
        </p:blipFill>
        <p:spPr>
          <a:xfrm>
            <a:off x="952560" y="2475000"/>
            <a:ext cx="4952160" cy="2856960"/>
          </a:xfrm>
          <a:prstGeom prst="rect">
            <a:avLst/>
          </a:prstGeom>
          <a:noFill/>
          <a:ln w="0">
            <a:noFill/>
          </a:ln>
        </p:spPr>
      </p:pic>
      <p:sp>
        <p:nvSpPr>
          <p:cNvPr id="476" name="Google Shape;469;p16"/>
          <p:cNvSpPr/>
          <p:nvPr/>
        </p:nvSpPr>
        <p:spPr>
          <a:xfrm>
            <a:off x="6667560" y="3713040"/>
            <a:ext cx="10987200" cy="418320"/>
          </a:xfrm>
          <a:prstGeom prst="rect">
            <a:avLst/>
          </a:prstGeom>
          <a:noFill/>
          <a:ln w="0">
            <a:noFill/>
          </a:ln>
        </p:spPr>
        <p:style>
          <a:lnRef idx="0"/>
          <a:fillRef idx="0"/>
          <a:effectRef idx="0"/>
          <a:fontRef idx="minor"/>
        </p:style>
        <p:txBody>
          <a:bodyPr lIns="25560" tIns="25560" rIns="25560" bIns="25560" anchor="t">
            <a:noAutofit/>
          </a:bodyPr>
          <a:p>
            <a:pPr>
              <a:lnSpc>
                <a:spcPct val="139000"/>
              </a:lnSpc>
              <a:tabLst>
                <a:tab pos="0" algn="l"/>
              </a:tabLst>
            </a:pPr>
            <a:r>
              <a:rPr lang="en-US" sz="1870" b="0" u="none" strike="noStrike">
                <a:solidFill>
                  <a:srgbClr val="A9B6C6"/>
                </a:solidFill>
                <a:effectLst/>
                <a:uFillTx/>
                <a:latin typeface="Courier New"/>
                <a:ea typeface="Courier New"/>
              </a:rPr>
              <a:t>GRAPH </a:t>
            </a:r>
            <a:r>
              <a:rPr lang="en-US" sz="1870" b="0" u="none" strike="noStrike">
                <a:solidFill>
                  <a:srgbClr val="4D9FFF"/>
                </a:solidFill>
                <a:effectLst/>
                <a:uFillTx/>
                <a:latin typeface="Courier New"/>
                <a:ea typeface="Courier New"/>
              </a:rPr>
              <a:t>→ </a:t>
            </a:r>
            <a:r>
              <a:rPr lang="en-US" sz="1870" b="0" u="none" strike="noStrike">
                <a:solidFill>
                  <a:srgbClr val="A9B6C6"/>
                </a:solidFill>
                <a:effectLst/>
                <a:uFillTx/>
                <a:latin typeface="Courier New"/>
                <a:ea typeface="Courier New"/>
              </a:rPr>
              <a:t>RECURRENCE </a:t>
            </a:r>
            <a:r>
              <a:rPr lang="en-US" sz="1870" b="0" u="none" strike="noStrike">
                <a:solidFill>
                  <a:srgbClr val="4D9FFF"/>
                </a:solidFill>
                <a:effectLst/>
                <a:uFillTx/>
                <a:latin typeface="Courier New"/>
                <a:ea typeface="Courier New"/>
              </a:rPr>
              <a:t>→ </a:t>
            </a:r>
            <a:r>
              <a:rPr lang="en-US" sz="1870" b="0" u="none" strike="noStrike">
                <a:solidFill>
                  <a:srgbClr val="A9B6C6"/>
                </a:solidFill>
                <a:effectLst/>
                <a:uFillTx/>
                <a:latin typeface="Courier New"/>
                <a:ea typeface="Courier New"/>
              </a:rPr>
              <a:t>ITERATIONS </a:t>
            </a:r>
            <a:r>
              <a:rPr lang="en-US" sz="1870" b="0" u="none" strike="noStrike">
                <a:solidFill>
                  <a:srgbClr val="4D9FFF"/>
                </a:solidFill>
                <a:effectLst/>
                <a:uFillTx/>
                <a:latin typeface="Courier New"/>
                <a:ea typeface="Courier New"/>
              </a:rPr>
              <a:t>→ </a:t>
            </a:r>
            <a:r>
              <a:rPr lang="en-US" sz="1870" b="0" u="none" strike="noStrike">
                <a:solidFill>
                  <a:srgbClr val="3DDC97"/>
                </a:solidFill>
                <a:effectLst/>
                <a:uFillTx/>
                <a:latin typeface="Courier New"/>
                <a:ea typeface="Courier New"/>
              </a:rPr>
              <a:t>CONVERGENCE </a:t>
            </a:r>
            <a:r>
              <a:rPr lang="en-US" sz="1870" b="0" u="none" strike="noStrike">
                <a:solidFill>
                  <a:srgbClr val="4D9FFF"/>
                </a:solidFill>
                <a:effectLst/>
                <a:uFillTx/>
                <a:latin typeface="Courier New"/>
                <a:ea typeface="Courier New"/>
              </a:rPr>
              <a:t>→ </a:t>
            </a:r>
            <a:r>
              <a:rPr lang="en-US" sz="1870" b="0" u="none" strike="noStrike">
                <a:solidFill>
                  <a:srgbClr val="A9B6C6"/>
                </a:solidFill>
                <a:effectLst/>
                <a:uFillTx/>
                <a:latin typeface="Courier New"/>
                <a:ea typeface="Courier New"/>
              </a:rPr>
              <a:t>OPENMP </a:t>
            </a:r>
            <a:r>
              <a:rPr lang="en-US" sz="1870" b="0" u="none" strike="noStrike">
                <a:solidFill>
                  <a:srgbClr val="4D9FFF"/>
                </a:solidFill>
                <a:effectLst/>
                <a:uFillTx/>
                <a:latin typeface="Courier New"/>
                <a:ea typeface="Courier New"/>
              </a:rPr>
              <a:t>→ </a:t>
            </a:r>
            <a:r>
              <a:rPr lang="en-US" sz="1870" b="0" u="none" strike="noStrike">
                <a:solidFill>
                  <a:srgbClr val="F5A524"/>
                </a:solidFill>
                <a:effectLst/>
                <a:uFillTx/>
                <a:latin typeface="Courier New"/>
                <a:ea typeface="Courier New"/>
              </a:rPr>
              <a:t>PERFORMANCE</a:t>
            </a:r>
            <a:endParaRPr lang="en-US" sz="1870" b="0" u="none" strike="noStrike">
              <a:solidFill>
                <a:srgbClr val="FFFFFF"/>
              </a:solidFill>
              <a:effectLst/>
              <a:uFillTx/>
              <a:latin typeface="Arial"/>
            </a:endParaRPr>
          </a:p>
        </p:txBody>
      </p:sp>
      <p:sp>
        <p:nvSpPr>
          <p:cNvPr id="477" name="Google Shape;470;p16"/>
          <p:cNvSpPr/>
          <p:nvPr/>
        </p:nvSpPr>
        <p:spPr>
          <a:xfrm>
            <a:off x="5040360" y="5865840"/>
            <a:ext cx="8640" cy="1552680"/>
          </a:xfrm>
          <a:prstGeom prst="rect">
            <a:avLst/>
          </a:prstGeom>
          <a:solidFill>
            <a:srgbClr val="1E2733"/>
          </a:solidFill>
          <a:ln w="0">
            <a:noFill/>
          </a:ln>
        </p:spPr>
        <p:style>
          <a:lnRef idx="0"/>
          <a:fillRef idx="0"/>
          <a:effectRef idx="0"/>
          <a:fontRef idx="minor"/>
        </p:style>
        <p:txBody>
          <a:bodyPr lIns="4320" tIns="91440" rIns="4320" bIns="91440" anchor="ctr">
            <a:noAutofit/>
          </a:bodyPr>
          <a:p>
            <a:pPr/>
            <a:endParaRPr lang="en-US" sz="1400" b="0" u="none" strike="noStrike">
              <a:solidFill>
                <a:srgbClr val="FFFFFF"/>
              </a:solidFill>
              <a:effectLst/>
              <a:uFillTx/>
              <a:latin typeface="Arial"/>
            </a:endParaRPr>
          </a:p>
        </p:txBody>
      </p:sp>
      <p:sp>
        <p:nvSpPr>
          <p:cNvPr id="478" name="Google Shape;471;p16"/>
          <p:cNvSpPr/>
          <p:nvPr/>
        </p:nvSpPr>
        <p:spPr>
          <a:xfrm>
            <a:off x="952560" y="5865840"/>
            <a:ext cx="4076640" cy="4024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250" b="1" u="none" strike="noStrike">
                <a:solidFill>
                  <a:srgbClr val="3DDC97"/>
                </a:solidFill>
                <a:effectLst/>
                <a:uFillTx/>
                <a:latin typeface="Arial"/>
                <a:ea typeface="Arial"/>
              </a:rPr>
              <a:t>Correctness first</a:t>
            </a:r>
            <a:endParaRPr lang="en-US" sz="2250" b="0" u="none" strike="noStrike">
              <a:solidFill>
                <a:srgbClr val="FFFFFF"/>
              </a:solidFill>
              <a:effectLst/>
              <a:uFillTx/>
              <a:latin typeface="Arial"/>
            </a:endParaRPr>
          </a:p>
        </p:txBody>
      </p:sp>
      <p:sp>
        <p:nvSpPr>
          <p:cNvPr id="479" name="Google Shape;472;p16"/>
          <p:cNvSpPr/>
          <p:nvPr/>
        </p:nvSpPr>
        <p:spPr>
          <a:xfrm>
            <a:off x="952560" y="6383160"/>
            <a:ext cx="3817440" cy="1073160"/>
          </a:xfrm>
          <a:prstGeom prst="rect">
            <a:avLst/>
          </a:prstGeom>
          <a:noFill/>
          <a:ln w="0">
            <a:noFill/>
          </a:ln>
        </p:spPr>
        <p:style>
          <a:lnRef idx="0"/>
          <a:fillRef idx="0"/>
          <a:effectRef idx="0"/>
          <a:fontRef idx="minor"/>
        </p:style>
        <p:txBody>
          <a:bodyPr lIns="25560" tIns="25560" rIns="25560" bIns="25560" anchor="t">
            <a:noAutofit/>
          </a:bodyPr>
          <a:p>
            <a:pPr>
              <a:lnSpc>
                <a:spcPct val="127000"/>
              </a:lnSpc>
              <a:tabLst>
                <a:tab pos="0" algn="l"/>
              </a:tabLst>
            </a:pPr>
            <a:r>
              <a:rPr lang="en-US" sz="1870" b="0" u="none" strike="noStrike">
                <a:solidFill>
                  <a:srgbClr val="A9B6C6"/>
                </a:solidFill>
                <a:effectLst/>
                <a:uFillTx/>
                <a:latin typeface="Arial"/>
                <a:ea typeface="Arial"/>
              </a:rPr>
              <a:t>Serial and OpenMP results match exactly on both test graphs.</a:t>
            </a:r>
            <a:endParaRPr lang="en-US" sz="1870" b="0" u="none" strike="noStrike">
              <a:solidFill>
                <a:srgbClr val="FFFFFF"/>
              </a:solidFill>
              <a:effectLst/>
              <a:uFillTx/>
              <a:latin typeface="Arial"/>
            </a:endParaRPr>
          </a:p>
        </p:txBody>
      </p:sp>
      <p:sp>
        <p:nvSpPr>
          <p:cNvPr id="480" name="Google Shape;473;p16"/>
          <p:cNvSpPr/>
          <p:nvPr/>
        </p:nvSpPr>
        <p:spPr>
          <a:xfrm>
            <a:off x="9136080" y="5865840"/>
            <a:ext cx="8640" cy="1207440"/>
          </a:xfrm>
          <a:prstGeom prst="rect">
            <a:avLst/>
          </a:prstGeom>
          <a:solidFill>
            <a:srgbClr val="1E2733"/>
          </a:solidFill>
          <a:ln w="0">
            <a:noFill/>
          </a:ln>
        </p:spPr>
        <p:style>
          <a:lnRef idx="0"/>
          <a:fillRef idx="0"/>
          <a:effectRef idx="0"/>
          <a:fontRef idx="minor"/>
        </p:style>
        <p:txBody>
          <a:bodyPr lIns="4320" tIns="91440" rIns="4320" bIns="91440" anchor="ctr">
            <a:noAutofit/>
          </a:bodyPr>
          <a:p>
            <a:pPr/>
            <a:endParaRPr lang="en-US" sz="1400" b="0" u="none" strike="noStrike">
              <a:solidFill>
                <a:srgbClr val="FFFFFF"/>
              </a:solidFill>
              <a:effectLst/>
              <a:uFillTx/>
              <a:latin typeface="Arial"/>
            </a:endParaRPr>
          </a:p>
        </p:txBody>
      </p:sp>
      <p:sp>
        <p:nvSpPr>
          <p:cNvPr id="481" name="Google Shape;474;p16"/>
          <p:cNvSpPr/>
          <p:nvPr/>
        </p:nvSpPr>
        <p:spPr>
          <a:xfrm>
            <a:off x="5429160" y="5865840"/>
            <a:ext cx="3657600" cy="4024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250" b="1" u="none" strike="noStrike">
                <a:solidFill>
                  <a:srgbClr val="EEF2F7"/>
                </a:solidFill>
                <a:effectLst/>
                <a:uFillTx/>
                <a:latin typeface="Arial"/>
                <a:ea typeface="Arial"/>
              </a:rPr>
              <a:t>PCAM gave structure</a:t>
            </a:r>
            <a:endParaRPr lang="en-US" sz="2250" b="0" u="none" strike="noStrike">
              <a:solidFill>
                <a:srgbClr val="FFFFFF"/>
              </a:solidFill>
              <a:effectLst/>
              <a:uFillTx/>
              <a:latin typeface="Arial"/>
            </a:endParaRPr>
          </a:p>
        </p:txBody>
      </p:sp>
      <p:sp>
        <p:nvSpPr>
          <p:cNvPr id="482" name="Google Shape;475;p16"/>
          <p:cNvSpPr/>
          <p:nvPr/>
        </p:nvSpPr>
        <p:spPr>
          <a:xfrm>
            <a:off x="5429160" y="6383160"/>
            <a:ext cx="3425040" cy="727920"/>
          </a:xfrm>
          <a:prstGeom prst="rect">
            <a:avLst/>
          </a:prstGeom>
          <a:noFill/>
          <a:ln w="0">
            <a:noFill/>
          </a:ln>
        </p:spPr>
        <p:style>
          <a:lnRef idx="0"/>
          <a:fillRef idx="0"/>
          <a:effectRef idx="0"/>
          <a:fontRef idx="minor"/>
        </p:style>
        <p:txBody>
          <a:bodyPr lIns="25560" tIns="25560" rIns="25560" bIns="25560" anchor="t">
            <a:noAutofit/>
          </a:bodyPr>
          <a:p>
            <a:pPr>
              <a:lnSpc>
                <a:spcPct val="127000"/>
              </a:lnSpc>
              <a:tabLst>
                <a:tab pos="0" algn="l"/>
              </a:tabLst>
            </a:pPr>
            <a:r>
              <a:rPr lang="en-US" sz="1870" b="0" u="none" strike="noStrike">
                <a:solidFill>
                  <a:srgbClr val="A9B6C6"/>
                </a:solidFill>
                <a:effectLst/>
                <a:uFillTx/>
                <a:latin typeface="Arial"/>
                <a:ea typeface="Arial"/>
              </a:rPr>
              <a:t>Partitioning + shared data + reductions + static mapping.</a:t>
            </a:r>
            <a:endParaRPr lang="en-US" sz="1870" b="0" u="none" strike="noStrike">
              <a:solidFill>
                <a:srgbClr val="FFFFFF"/>
              </a:solidFill>
              <a:effectLst/>
              <a:uFillTx/>
              <a:latin typeface="Arial"/>
            </a:endParaRPr>
          </a:p>
        </p:txBody>
      </p:sp>
      <p:sp>
        <p:nvSpPr>
          <p:cNvPr id="483" name="Google Shape;476;p16"/>
          <p:cNvSpPr/>
          <p:nvPr/>
        </p:nvSpPr>
        <p:spPr>
          <a:xfrm>
            <a:off x="13231800" y="5865840"/>
            <a:ext cx="8640" cy="2262960"/>
          </a:xfrm>
          <a:prstGeom prst="rect">
            <a:avLst/>
          </a:prstGeom>
          <a:solidFill>
            <a:srgbClr val="1E2733"/>
          </a:solidFill>
          <a:ln w="0">
            <a:noFill/>
          </a:ln>
        </p:spPr>
        <p:style>
          <a:lnRef idx="0"/>
          <a:fillRef idx="0"/>
          <a:effectRef idx="0"/>
          <a:fontRef idx="minor"/>
        </p:style>
        <p:txBody>
          <a:bodyPr lIns="4320" tIns="91440" rIns="4320" bIns="91440" anchor="ctr">
            <a:noAutofit/>
          </a:bodyPr>
          <a:p>
            <a:pPr/>
            <a:endParaRPr lang="en-US" sz="1400" b="0" u="none" strike="noStrike">
              <a:solidFill>
                <a:srgbClr val="FFFFFF"/>
              </a:solidFill>
              <a:effectLst/>
              <a:uFillTx/>
              <a:latin typeface="Arial"/>
            </a:endParaRPr>
          </a:p>
        </p:txBody>
      </p:sp>
      <p:sp>
        <p:nvSpPr>
          <p:cNvPr id="484" name="Google Shape;477;p16"/>
          <p:cNvSpPr/>
          <p:nvPr/>
        </p:nvSpPr>
        <p:spPr>
          <a:xfrm>
            <a:off x="9524880" y="5865840"/>
            <a:ext cx="3425040" cy="76752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250" b="1" u="none" strike="noStrike">
                <a:solidFill>
                  <a:srgbClr val="EEF2F7"/>
                </a:solidFill>
                <a:effectLst/>
                <a:uFillTx/>
                <a:latin typeface="Arial"/>
                <a:ea typeface="Arial"/>
              </a:rPr>
              <a:t>Scaling is data-dependent</a:t>
            </a:r>
            <a:endParaRPr lang="en-US" sz="2250" b="0" u="none" strike="noStrike">
              <a:solidFill>
                <a:srgbClr val="FFFFFF"/>
              </a:solidFill>
              <a:effectLst/>
              <a:uFillTx/>
              <a:latin typeface="Arial"/>
            </a:endParaRPr>
          </a:p>
        </p:txBody>
      </p:sp>
      <p:sp>
        <p:nvSpPr>
          <p:cNvPr id="485" name="Google Shape;478;p16"/>
          <p:cNvSpPr/>
          <p:nvPr/>
        </p:nvSpPr>
        <p:spPr>
          <a:xfrm>
            <a:off x="9524880" y="6748560"/>
            <a:ext cx="3425040" cy="1418400"/>
          </a:xfrm>
          <a:prstGeom prst="rect">
            <a:avLst/>
          </a:prstGeom>
          <a:noFill/>
          <a:ln w="0">
            <a:noFill/>
          </a:ln>
        </p:spPr>
        <p:style>
          <a:lnRef idx="0"/>
          <a:fillRef idx="0"/>
          <a:effectRef idx="0"/>
          <a:fontRef idx="minor"/>
        </p:style>
        <p:txBody>
          <a:bodyPr lIns="25560" tIns="25560" rIns="25560" bIns="25560" anchor="t">
            <a:noAutofit/>
          </a:bodyPr>
          <a:p>
            <a:pPr>
              <a:lnSpc>
                <a:spcPct val="127000"/>
              </a:lnSpc>
              <a:tabLst>
                <a:tab pos="0" algn="l"/>
              </a:tabLst>
            </a:pPr>
            <a:r>
              <a:rPr lang="en-US" sz="1870" b="0" u="none" strike="noStrike">
                <a:solidFill>
                  <a:srgbClr val="A9B6C6"/>
                </a:solidFill>
                <a:effectLst/>
                <a:uFillTx/>
                <a:latin typeface="Arial"/>
                <a:ea typeface="Arial"/>
              </a:rPr>
              <a:t>Runtime follows O(I·(N+E)); observed speedup is capped by available cores, not the algorithm.</a:t>
            </a:r>
            <a:endParaRPr lang="en-US" sz="1870" b="0" u="none" strike="noStrike">
              <a:solidFill>
                <a:srgbClr val="FFFFFF"/>
              </a:solidFill>
              <a:effectLst/>
              <a:uFillTx/>
              <a:latin typeface="Arial"/>
            </a:endParaRPr>
          </a:p>
        </p:txBody>
      </p:sp>
      <p:sp>
        <p:nvSpPr>
          <p:cNvPr id="486" name="Google Shape;479;p16"/>
          <p:cNvSpPr/>
          <p:nvPr/>
        </p:nvSpPr>
        <p:spPr>
          <a:xfrm>
            <a:off x="13620600" y="5865840"/>
            <a:ext cx="4085640" cy="40248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2250" b="1" u="none" strike="noStrike">
                <a:solidFill>
                  <a:srgbClr val="E05252"/>
                </a:solidFill>
                <a:effectLst/>
                <a:uFillTx/>
                <a:latin typeface="Arial"/>
                <a:ea typeface="Arial"/>
              </a:rPr>
              <a:t>Dangling nodes matter</a:t>
            </a:r>
            <a:endParaRPr lang="en-US" sz="2250" b="0" u="none" strike="noStrike">
              <a:solidFill>
                <a:srgbClr val="FFFFFF"/>
              </a:solidFill>
              <a:effectLst/>
              <a:uFillTx/>
              <a:latin typeface="Arial"/>
            </a:endParaRPr>
          </a:p>
        </p:txBody>
      </p:sp>
      <p:sp>
        <p:nvSpPr>
          <p:cNvPr id="487" name="Google Shape;480;p16"/>
          <p:cNvSpPr/>
          <p:nvPr/>
        </p:nvSpPr>
        <p:spPr>
          <a:xfrm>
            <a:off x="13620600" y="6383160"/>
            <a:ext cx="3825360" cy="727920"/>
          </a:xfrm>
          <a:prstGeom prst="rect">
            <a:avLst/>
          </a:prstGeom>
          <a:noFill/>
          <a:ln w="0">
            <a:noFill/>
          </a:ln>
        </p:spPr>
        <p:style>
          <a:lnRef idx="0"/>
          <a:fillRef idx="0"/>
          <a:effectRef idx="0"/>
          <a:fontRef idx="minor"/>
        </p:style>
        <p:txBody>
          <a:bodyPr lIns="25560" tIns="25560" rIns="25560" bIns="25560" anchor="t">
            <a:noAutofit/>
          </a:bodyPr>
          <a:p>
            <a:pPr>
              <a:lnSpc>
                <a:spcPct val="127000"/>
              </a:lnSpc>
              <a:tabLst>
                <a:tab pos="0" algn="l"/>
              </a:tabLst>
            </a:pPr>
            <a:r>
              <a:rPr lang="en-US" sz="1870" b="0" u="none" strike="noStrike">
                <a:solidFill>
                  <a:srgbClr val="A9B6C6"/>
                </a:solidFill>
                <a:effectLst/>
                <a:uFillTx/>
                <a:latin typeface="Arial"/>
                <a:ea typeface="Arial"/>
              </a:rPr>
              <a:t>Redistribution keeps total rank conserved across iterations.</a:t>
            </a:r>
            <a:endParaRPr lang="en-US" sz="187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726"/>
        </a:solidFill>
      </p:bgPr>
    </p:bg>
    <p:spTree>
      <p:nvGrpSpPr>
        <p:cNvPr id="1" name=""/>
        <p:cNvGrpSpPr/>
        <p:nvPr/>
      </p:nvGrpSpPr>
      <p:grpSpPr>
        <a:xfrm>
          <a:off x="0" y="0"/>
          <a:ext cx="0" cy="0"/>
          <a:chOff x="0" y="0"/>
          <a:chExt cx="0" cy="0"/>
        </a:xfrm>
      </p:grpSpPr>
      <p:sp>
        <p:nvSpPr>
          <p:cNvPr id="488" name="TextBox 7"/>
          <p:cNvSpPr/>
          <p:nvPr/>
        </p:nvSpPr>
        <p:spPr>
          <a:xfrm>
            <a:off x="754560" y="343080"/>
            <a:ext cx="7954560" cy="15588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1" u="none" strike="noStrike">
                <a:solidFill>
                  <a:srgbClr val="4DCAD7"/>
                </a:solidFill>
                <a:effectLst/>
                <a:uFillTx/>
                <a:latin typeface="Aptos Mono"/>
              </a:rPr>
              <a:t>GRAPH MACHINE LEARNING  ·  REAL-WORLD RELEVANCE</a:t>
            </a:r>
            <a:endParaRPr lang="en-US" sz="900" b="0" u="none" strike="noStrike">
              <a:solidFill>
                <a:srgbClr val="FFFFFF"/>
              </a:solidFill>
              <a:effectLst/>
              <a:uFillTx/>
              <a:latin typeface="Arial"/>
            </a:endParaRPr>
          </a:p>
        </p:txBody>
      </p:sp>
      <p:sp>
        <p:nvSpPr>
          <p:cNvPr id="489" name="TextBox 10"/>
          <p:cNvSpPr/>
          <p:nvPr/>
        </p:nvSpPr>
        <p:spPr>
          <a:xfrm>
            <a:off x="754560" y="781920"/>
            <a:ext cx="16596000" cy="399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2500" b="1" u="none" strike="noStrike">
                <a:solidFill>
                  <a:srgbClr val="E8EDF6"/>
                </a:solidFill>
                <a:effectLst/>
                <a:uFillTx/>
                <a:latin typeface="Aptos Display"/>
              </a:rPr>
              <a:t>PageRank + Graph ML in the modern world</a:t>
            </a:r>
            <a:endParaRPr lang="en-US" sz="2500" b="0" u="none" strike="noStrike">
              <a:solidFill>
                <a:srgbClr val="FFFFFF"/>
              </a:solidFill>
              <a:effectLst/>
              <a:uFillTx/>
              <a:latin typeface="Arial"/>
            </a:endParaRPr>
          </a:p>
        </p:txBody>
      </p:sp>
      <p:sp>
        <p:nvSpPr>
          <p:cNvPr id="490" name="TextBox 13"/>
          <p:cNvSpPr/>
          <p:nvPr/>
        </p:nvSpPr>
        <p:spPr>
          <a:xfrm>
            <a:off x="781920" y="1508760"/>
            <a:ext cx="164588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9DABC2"/>
                </a:solidFill>
                <a:effectLst/>
                <a:uFillTx/>
                <a:latin typeface="Aptos"/>
              </a:rPr>
              <a:t>PageRank measures network importance; Graph ML uses that signal to make better predictions.</a:t>
            </a:r>
            <a:endParaRPr lang="en-US" sz="1100" b="0" u="none" strike="noStrike">
              <a:solidFill>
                <a:srgbClr val="FFFFFF"/>
              </a:solidFill>
              <a:effectLst/>
              <a:uFillTx/>
              <a:latin typeface="Arial"/>
            </a:endParaRPr>
          </a:p>
        </p:txBody>
      </p:sp>
      <p:sp>
        <p:nvSpPr>
          <p:cNvPr id="491" name="Rounded Rectangle 4"/>
          <p:cNvSpPr/>
          <p:nvPr/>
        </p:nvSpPr>
        <p:spPr>
          <a:xfrm>
            <a:off x="754560" y="2125800"/>
            <a:ext cx="8228880" cy="1617840"/>
          </a:xfrm>
          <a:prstGeom prst="roundRect">
            <a:avLst>
              <a:gd name="adj" fmla="val 16667"/>
            </a:avLst>
          </a:prstGeom>
          <a:solidFill>
            <a:srgbClr val="1D273A"/>
          </a:solidFill>
          <a:ln w="13970">
            <a:solidFill>
              <a:srgbClr val="3141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2" name="TextBox 19"/>
          <p:cNvSpPr/>
          <p:nvPr/>
        </p:nvSpPr>
        <p:spPr>
          <a:xfrm>
            <a:off x="1028520" y="2331720"/>
            <a:ext cx="479520" cy="1710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00" b="1" u="none" strike="noStrike">
                <a:solidFill>
                  <a:srgbClr val="4DCAD7"/>
                </a:solidFill>
                <a:effectLst/>
                <a:uFillTx/>
                <a:latin typeface="Aptos Mono"/>
              </a:rPr>
              <a:t>01</a:t>
            </a:r>
            <a:endParaRPr lang="en-US" sz="1000" b="0" u="none" strike="noStrike">
              <a:solidFill>
                <a:srgbClr val="FFFFFF"/>
              </a:solidFill>
              <a:effectLst/>
              <a:uFillTx/>
              <a:latin typeface="Arial"/>
            </a:endParaRPr>
          </a:p>
        </p:txBody>
      </p:sp>
      <p:sp>
        <p:nvSpPr>
          <p:cNvPr id="493" name="TextBox 23"/>
          <p:cNvSpPr/>
          <p:nvPr/>
        </p:nvSpPr>
        <p:spPr>
          <a:xfrm>
            <a:off x="1577160" y="2304360"/>
            <a:ext cx="7104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4DCAD7"/>
                </a:solidFill>
                <a:effectLst/>
                <a:uFillTx/>
                <a:latin typeface="Aptos Mono"/>
              </a:rPr>
              <a:t>HOW THEY WORK TOGETHER</a:t>
            </a:r>
            <a:endParaRPr lang="en-US" sz="1100" b="0" u="none" strike="noStrike">
              <a:solidFill>
                <a:srgbClr val="FFFFFF"/>
              </a:solidFill>
              <a:effectLst/>
              <a:uFillTx/>
              <a:latin typeface="Arial"/>
            </a:endParaRPr>
          </a:p>
        </p:txBody>
      </p:sp>
      <p:sp>
        <p:nvSpPr>
          <p:cNvPr id="494" name="TextBox 25"/>
          <p:cNvSpPr/>
          <p:nvPr/>
        </p:nvSpPr>
        <p:spPr>
          <a:xfrm>
            <a:off x="1028880" y="2976480"/>
            <a:ext cx="7680240" cy="35388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E8EDF6"/>
                </a:solidFill>
                <a:effectLst/>
                <a:uFillTx/>
                <a:latin typeface="Aptos"/>
              </a:rPr>
              <a:t>PageRank scores identify influential nodes. Graph ML combines these scores with node features and connections to learn patterns.</a:t>
            </a:r>
            <a:endParaRPr lang="en-US" sz="1100" b="0" u="none" strike="noStrike">
              <a:solidFill>
                <a:srgbClr val="FFFFFF"/>
              </a:solidFill>
              <a:effectLst/>
              <a:uFillTx/>
              <a:latin typeface="Arial"/>
            </a:endParaRPr>
          </a:p>
        </p:txBody>
      </p:sp>
      <p:sp>
        <p:nvSpPr>
          <p:cNvPr id="495" name="Rounded Rectangle 8"/>
          <p:cNvSpPr/>
          <p:nvPr/>
        </p:nvSpPr>
        <p:spPr>
          <a:xfrm>
            <a:off x="9299520" y="2125800"/>
            <a:ext cx="8228880" cy="1617840"/>
          </a:xfrm>
          <a:prstGeom prst="roundRect">
            <a:avLst>
              <a:gd name="adj" fmla="val 16667"/>
            </a:avLst>
          </a:prstGeom>
          <a:solidFill>
            <a:srgbClr val="1D273A"/>
          </a:solidFill>
          <a:ln w="13970">
            <a:solidFill>
              <a:srgbClr val="3141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6" name="TextBox 26"/>
          <p:cNvSpPr/>
          <p:nvPr/>
        </p:nvSpPr>
        <p:spPr>
          <a:xfrm>
            <a:off x="9573840" y="2331720"/>
            <a:ext cx="479520" cy="1710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00" b="1" u="none" strike="noStrike">
                <a:solidFill>
                  <a:srgbClr val="AE8FFF"/>
                </a:solidFill>
                <a:effectLst/>
                <a:uFillTx/>
                <a:latin typeface="Aptos Mono"/>
              </a:rPr>
              <a:t>02</a:t>
            </a:r>
            <a:endParaRPr lang="en-US" sz="1000" b="0" u="none" strike="noStrike">
              <a:solidFill>
                <a:srgbClr val="FFFFFF"/>
              </a:solidFill>
              <a:effectLst/>
              <a:uFillTx/>
              <a:latin typeface="Arial"/>
            </a:endParaRPr>
          </a:p>
        </p:txBody>
      </p:sp>
      <p:sp>
        <p:nvSpPr>
          <p:cNvPr id="497" name="TextBox 27"/>
          <p:cNvSpPr/>
          <p:nvPr/>
        </p:nvSpPr>
        <p:spPr>
          <a:xfrm>
            <a:off x="10122480" y="2304360"/>
            <a:ext cx="7104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AE8FFF"/>
                </a:solidFill>
                <a:effectLst/>
                <a:uFillTx/>
                <a:latin typeface="Aptos Mono"/>
              </a:rPr>
              <a:t>SOCIAL NETWORKS</a:t>
            </a:r>
            <a:endParaRPr lang="en-US" sz="1100" b="0" u="none" strike="noStrike">
              <a:solidFill>
                <a:srgbClr val="FFFFFF"/>
              </a:solidFill>
              <a:effectLst/>
              <a:uFillTx/>
              <a:latin typeface="Arial"/>
            </a:endParaRPr>
          </a:p>
        </p:txBody>
      </p:sp>
      <p:sp>
        <p:nvSpPr>
          <p:cNvPr id="498" name="TextBox 28"/>
          <p:cNvSpPr/>
          <p:nvPr/>
        </p:nvSpPr>
        <p:spPr>
          <a:xfrm>
            <a:off x="9573840" y="2976480"/>
            <a:ext cx="7680240" cy="35388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E8EDF6"/>
                </a:solidFill>
                <a:effectLst/>
                <a:uFillTx/>
                <a:latin typeface="Aptos"/>
              </a:rPr>
              <a:t>Find influential accounts, suggest relevant people or communities, and improve content recommendations using relationship patterns.</a:t>
            </a:r>
            <a:endParaRPr lang="en-US" sz="1100" b="0" u="none" strike="noStrike">
              <a:solidFill>
                <a:srgbClr val="FFFFFF"/>
              </a:solidFill>
              <a:effectLst/>
              <a:uFillTx/>
              <a:latin typeface="Arial"/>
            </a:endParaRPr>
          </a:p>
        </p:txBody>
      </p:sp>
      <p:sp>
        <p:nvSpPr>
          <p:cNvPr id="499" name="Rounded Rectangle 12"/>
          <p:cNvSpPr/>
          <p:nvPr/>
        </p:nvSpPr>
        <p:spPr>
          <a:xfrm>
            <a:off x="754560" y="3990960"/>
            <a:ext cx="8228880" cy="1617840"/>
          </a:xfrm>
          <a:prstGeom prst="roundRect">
            <a:avLst>
              <a:gd name="adj" fmla="val 16667"/>
            </a:avLst>
          </a:prstGeom>
          <a:solidFill>
            <a:srgbClr val="1D273A"/>
          </a:solidFill>
          <a:ln w="13970">
            <a:solidFill>
              <a:srgbClr val="3141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0" name="TextBox 30"/>
          <p:cNvSpPr/>
          <p:nvPr/>
        </p:nvSpPr>
        <p:spPr>
          <a:xfrm>
            <a:off x="1028520" y="4196880"/>
            <a:ext cx="479520" cy="1710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00" b="1" u="none" strike="noStrike">
                <a:solidFill>
                  <a:srgbClr val="FFAE63"/>
                </a:solidFill>
                <a:effectLst/>
                <a:uFillTx/>
                <a:latin typeface="Aptos Mono"/>
              </a:rPr>
              <a:t>03</a:t>
            </a:r>
            <a:endParaRPr lang="en-US" sz="1000" b="0" u="none" strike="noStrike">
              <a:solidFill>
                <a:srgbClr val="FFFFFF"/>
              </a:solidFill>
              <a:effectLst/>
              <a:uFillTx/>
              <a:latin typeface="Arial"/>
            </a:endParaRPr>
          </a:p>
        </p:txBody>
      </p:sp>
      <p:sp>
        <p:nvSpPr>
          <p:cNvPr id="501" name="TextBox 65"/>
          <p:cNvSpPr/>
          <p:nvPr/>
        </p:nvSpPr>
        <p:spPr>
          <a:xfrm>
            <a:off x="1577160" y="4169880"/>
            <a:ext cx="7104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FFAE63"/>
                </a:solidFill>
                <a:effectLst/>
                <a:uFillTx/>
                <a:latin typeface="Aptos Mono"/>
              </a:rPr>
              <a:t>WEB SEARCH &amp; DISCOVERY</a:t>
            </a:r>
            <a:endParaRPr lang="en-US" sz="1100" b="0" u="none" strike="noStrike">
              <a:solidFill>
                <a:srgbClr val="FFFFFF"/>
              </a:solidFill>
              <a:effectLst/>
              <a:uFillTx/>
              <a:latin typeface="Arial"/>
            </a:endParaRPr>
          </a:p>
        </p:txBody>
      </p:sp>
      <p:sp>
        <p:nvSpPr>
          <p:cNvPr id="502" name="TextBox 66"/>
          <p:cNvSpPr/>
          <p:nvPr/>
        </p:nvSpPr>
        <p:spPr>
          <a:xfrm>
            <a:off x="1028880" y="4841640"/>
            <a:ext cx="7680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E8EDF6"/>
                </a:solidFill>
                <a:effectLst/>
                <a:uFillTx/>
                <a:latin typeface="Aptos"/>
              </a:rPr>
              <a:t>Link importance can help rank useful pages and entities, alongside content quality, freshness, and many other signals.</a:t>
            </a:r>
            <a:endParaRPr lang="en-US" sz="1100" b="0" u="none" strike="noStrike">
              <a:solidFill>
                <a:srgbClr val="FFFFFF"/>
              </a:solidFill>
              <a:effectLst/>
              <a:uFillTx/>
              <a:latin typeface="Arial"/>
            </a:endParaRPr>
          </a:p>
        </p:txBody>
      </p:sp>
      <p:sp>
        <p:nvSpPr>
          <p:cNvPr id="503" name="Rounded Rectangle 16"/>
          <p:cNvSpPr/>
          <p:nvPr/>
        </p:nvSpPr>
        <p:spPr>
          <a:xfrm>
            <a:off x="9299520" y="3990960"/>
            <a:ext cx="8228880" cy="1617840"/>
          </a:xfrm>
          <a:prstGeom prst="roundRect">
            <a:avLst>
              <a:gd name="adj" fmla="val 16667"/>
            </a:avLst>
          </a:prstGeom>
          <a:solidFill>
            <a:srgbClr val="1D273A"/>
          </a:solidFill>
          <a:ln w="13970">
            <a:solidFill>
              <a:srgbClr val="3141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4" name="TextBox 67"/>
          <p:cNvSpPr/>
          <p:nvPr/>
        </p:nvSpPr>
        <p:spPr>
          <a:xfrm>
            <a:off x="9573840" y="4196880"/>
            <a:ext cx="479520" cy="1710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00" b="1" u="none" strike="noStrike">
                <a:solidFill>
                  <a:srgbClr val="70D6AD"/>
                </a:solidFill>
                <a:effectLst/>
                <a:uFillTx/>
                <a:latin typeface="Aptos Mono"/>
              </a:rPr>
              <a:t>04</a:t>
            </a:r>
            <a:endParaRPr lang="en-US" sz="1000" b="0" u="none" strike="noStrike">
              <a:solidFill>
                <a:srgbClr val="FFFFFF"/>
              </a:solidFill>
              <a:effectLst/>
              <a:uFillTx/>
              <a:latin typeface="Arial"/>
            </a:endParaRPr>
          </a:p>
        </p:txBody>
      </p:sp>
      <p:sp>
        <p:nvSpPr>
          <p:cNvPr id="505" name="TextBox 68"/>
          <p:cNvSpPr/>
          <p:nvPr/>
        </p:nvSpPr>
        <p:spPr>
          <a:xfrm>
            <a:off x="10122480" y="4169880"/>
            <a:ext cx="7104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70D6AD"/>
                </a:solidFill>
                <a:effectLst/>
                <a:uFillTx/>
                <a:latin typeface="Aptos Mono"/>
              </a:rPr>
              <a:t>FRAUD &amp; SPAM DETECTION</a:t>
            </a:r>
            <a:endParaRPr lang="en-US" sz="1100" b="0" u="none" strike="noStrike">
              <a:solidFill>
                <a:srgbClr val="FFFFFF"/>
              </a:solidFill>
              <a:effectLst/>
              <a:uFillTx/>
              <a:latin typeface="Arial"/>
            </a:endParaRPr>
          </a:p>
        </p:txBody>
      </p:sp>
      <p:sp>
        <p:nvSpPr>
          <p:cNvPr id="506" name="TextBox 69"/>
          <p:cNvSpPr/>
          <p:nvPr/>
        </p:nvSpPr>
        <p:spPr>
          <a:xfrm>
            <a:off x="9573840" y="4841640"/>
            <a:ext cx="7680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E8EDF6"/>
                </a:solidFill>
                <a:effectLst/>
                <a:uFillTx/>
                <a:latin typeface="Aptos"/>
              </a:rPr>
              <a:t>Graph patterns can expose suspicious account clusters, coordinated activity, and links to known risky entities.</a:t>
            </a:r>
            <a:endParaRPr lang="en-US" sz="1100" b="0" u="none" strike="noStrike">
              <a:solidFill>
                <a:srgbClr val="FFFFFF"/>
              </a:solidFill>
              <a:effectLst/>
              <a:uFillTx/>
              <a:latin typeface="Arial"/>
            </a:endParaRPr>
          </a:p>
        </p:txBody>
      </p:sp>
      <p:sp>
        <p:nvSpPr>
          <p:cNvPr id="507" name="Rounded Rectangle 20"/>
          <p:cNvSpPr/>
          <p:nvPr/>
        </p:nvSpPr>
        <p:spPr>
          <a:xfrm>
            <a:off x="754560" y="5856840"/>
            <a:ext cx="8228880" cy="1617840"/>
          </a:xfrm>
          <a:prstGeom prst="roundRect">
            <a:avLst>
              <a:gd name="adj" fmla="val 16667"/>
            </a:avLst>
          </a:prstGeom>
          <a:solidFill>
            <a:srgbClr val="1D273A"/>
          </a:solidFill>
          <a:ln w="13970">
            <a:solidFill>
              <a:srgbClr val="3141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8" name="TextBox 70"/>
          <p:cNvSpPr/>
          <p:nvPr/>
        </p:nvSpPr>
        <p:spPr>
          <a:xfrm>
            <a:off x="1028520" y="6062760"/>
            <a:ext cx="479520" cy="1710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00" b="1" u="none" strike="noStrike">
                <a:solidFill>
                  <a:srgbClr val="FF758C"/>
                </a:solidFill>
                <a:effectLst/>
                <a:uFillTx/>
                <a:latin typeface="Aptos Mono"/>
              </a:rPr>
              <a:t>05</a:t>
            </a:r>
            <a:endParaRPr lang="en-US" sz="1000" b="0" u="none" strike="noStrike">
              <a:solidFill>
                <a:srgbClr val="FFFFFF"/>
              </a:solidFill>
              <a:effectLst/>
              <a:uFillTx/>
              <a:latin typeface="Arial"/>
            </a:endParaRPr>
          </a:p>
        </p:txBody>
      </p:sp>
      <p:sp>
        <p:nvSpPr>
          <p:cNvPr id="509" name="TextBox 71"/>
          <p:cNvSpPr/>
          <p:nvPr/>
        </p:nvSpPr>
        <p:spPr>
          <a:xfrm>
            <a:off x="1577160" y="6035040"/>
            <a:ext cx="7104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FF758C"/>
                </a:solidFill>
                <a:effectLst/>
                <a:uFillTx/>
                <a:latin typeface="Aptos Mono"/>
              </a:rPr>
              <a:t>RECOMMENDATIONS</a:t>
            </a:r>
            <a:endParaRPr lang="en-US" sz="1100" b="0" u="none" strike="noStrike">
              <a:solidFill>
                <a:srgbClr val="FFFFFF"/>
              </a:solidFill>
              <a:effectLst/>
              <a:uFillTx/>
              <a:latin typeface="Arial"/>
            </a:endParaRPr>
          </a:p>
        </p:txBody>
      </p:sp>
      <p:sp>
        <p:nvSpPr>
          <p:cNvPr id="510" name="TextBox 72"/>
          <p:cNvSpPr/>
          <p:nvPr/>
        </p:nvSpPr>
        <p:spPr>
          <a:xfrm>
            <a:off x="1028880" y="6707520"/>
            <a:ext cx="7680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E8EDF6"/>
                </a:solidFill>
                <a:effectLst/>
                <a:uFillTx/>
                <a:latin typeface="Aptos"/>
              </a:rPr>
              <a:t>Use graph relationships and importance scores to support product, video, paper, or friend recommendations.</a:t>
            </a:r>
            <a:endParaRPr lang="en-US" sz="1100" b="0" u="none" strike="noStrike">
              <a:solidFill>
                <a:srgbClr val="FFFFFF"/>
              </a:solidFill>
              <a:effectLst/>
              <a:uFillTx/>
              <a:latin typeface="Arial"/>
            </a:endParaRPr>
          </a:p>
        </p:txBody>
      </p:sp>
      <p:sp>
        <p:nvSpPr>
          <p:cNvPr id="511" name="Rounded Rectangle 24"/>
          <p:cNvSpPr/>
          <p:nvPr/>
        </p:nvSpPr>
        <p:spPr>
          <a:xfrm>
            <a:off x="9299520" y="5856840"/>
            <a:ext cx="8228880" cy="1617840"/>
          </a:xfrm>
          <a:prstGeom prst="roundRect">
            <a:avLst>
              <a:gd name="adj" fmla="val 16667"/>
            </a:avLst>
          </a:prstGeom>
          <a:solidFill>
            <a:srgbClr val="1D273A"/>
          </a:solidFill>
          <a:ln w="13970">
            <a:solidFill>
              <a:srgbClr val="3141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12" name="TextBox 73"/>
          <p:cNvSpPr/>
          <p:nvPr/>
        </p:nvSpPr>
        <p:spPr>
          <a:xfrm>
            <a:off x="9573840" y="6062760"/>
            <a:ext cx="479520" cy="1710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00" b="1" u="none" strike="noStrike">
                <a:solidFill>
                  <a:srgbClr val="4DCAD7"/>
                </a:solidFill>
                <a:effectLst/>
                <a:uFillTx/>
                <a:latin typeface="Aptos Mono"/>
              </a:rPr>
              <a:t>06</a:t>
            </a:r>
            <a:endParaRPr lang="en-US" sz="1000" b="0" u="none" strike="noStrike">
              <a:solidFill>
                <a:srgbClr val="FFFFFF"/>
              </a:solidFill>
              <a:effectLst/>
              <a:uFillTx/>
              <a:latin typeface="Arial"/>
            </a:endParaRPr>
          </a:p>
        </p:txBody>
      </p:sp>
      <p:sp>
        <p:nvSpPr>
          <p:cNvPr id="513" name="TextBox 74"/>
          <p:cNvSpPr/>
          <p:nvPr/>
        </p:nvSpPr>
        <p:spPr>
          <a:xfrm>
            <a:off x="10122480" y="6035040"/>
            <a:ext cx="710424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4DCAD7"/>
                </a:solidFill>
                <a:effectLst/>
                <a:uFillTx/>
                <a:latin typeface="Aptos Mono"/>
              </a:rPr>
              <a:t>WHY IT MATTERS TODAY</a:t>
            </a:r>
            <a:endParaRPr lang="en-US" sz="1100" b="0" u="none" strike="noStrike">
              <a:solidFill>
                <a:srgbClr val="FFFFFF"/>
              </a:solidFill>
              <a:effectLst/>
              <a:uFillTx/>
              <a:latin typeface="Arial"/>
            </a:endParaRPr>
          </a:p>
        </p:txBody>
      </p:sp>
      <p:sp>
        <p:nvSpPr>
          <p:cNvPr id="514" name="TextBox 75"/>
          <p:cNvSpPr/>
          <p:nvPr/>
        </p:nvSpPr>
        <p:spPr>
          <a:xfrm>
            <a:off x="9573840" y="6707520"/>
            <a:ext cx="7680240" cy="35388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E8EDF6"/>
                </a:solidFill>
                <a:effectLst/>
                <a:uFillTx/>
                <a:latin typeface="Aptos"/>
              </a:rPr>
              <a:t>Digital services are interconnected. Graph ML turns those connections into signals for ranking, discovery, risk analysis, and prediction.</a:t>
            </a:r>
            <a:endParaRPr lang="en-US" sz="1100" b="0" u="none" strike="noStrike">
              <a:solidFill>
                <a:srgbClr val="FFFFFF"/>
              </a:solidFill>
              <a:effectLst/>
              <a:uFillTx/>
              <a:latin typeface="Arial"/>
            </a:endParaRPr>
          </a:p>
        </p:txBody>
      </p:sp>
      <p:sp>
        <p:nvSpPr>
          <p:cNvPr id="515" name="TextBox 76"/>
          <p:cNvSpPr/>
          <p:nvPr/>
        </p:nvSpPr>
        <p:spPr>
          <a:xfrm>
            <a:off x="795600" y="7927920"/>
            <a:ext cx="16596000" cy="1861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1" u="none" strike="noStrike">
                <a:solidFill>
                  <a:srgbClr val="9DABC2"/>
                </a:solidFill>
                <a:effectLst/>
                <a:uFillTx/>
                <a:latin typeface="Aptos"/>
              </a:rPr>
              <a:t>KEY IDEA: PageRank provides an importance signal; Graph ML learns from that signal plus the wider graph.</a:t>
            </a:r>
            <a:endParaRPr lang="en-US" sz="1100" b="0" u="none" strike="noStrike">
              <a:solidFill>
                <a:srgbClr val="FFFFFF"/>
              </a:solidFill>
              <a:effectLst/>
              <a:uFillTx/>
              <a:latin typeface="Arial"/>
            </a:endParaRPr>
          </a:p>
        </p:txBody>
      </p:sp>
      <p:sp>
        <p:nvSpPr>
          <p:cNvPr id="516" name="Rectangle 29"/>
          <p:cNvSpPr/>
          <p:nvPr/>
        </p:nvSpPr>
        <p:spPr>
          <a:xfrm>
            <a:off x="795240" y="8572320"/>
            <a:ext cx="16458840" cy="34200"/>
          </a:xfrm>
          <a:prstGeom prst="rect">
            <a:avLst/>
          </a:prstGeom>
          <a:solidFill>
            <a:srgbClr val="314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0440" rIns="90000" bIns="-10440" anchor="ctr">
            <a:noAutofit/>
          </a:bodyPr>
          <a:p>
            <a:pPr/>
            <a:endParaRPr lang="en-US" sz="1800" b="0" u="none" strike="noStrike">
              <a:solidFill>
                <a:schemeClr val="lt1"/>
              </a:solidFill>
              <a:effectLst/>
              <a:uFillTx/>
              <a:latin typeface="Calibri"/>
            </a:endParaRPr>
          </a:p>
        </p:txBody>
      </p:sp>
      <p:sp>
        <p:nvSpPr>
          <p:cNvPr id="517" name="TextBox 77"/>
          <p:cNvSpPr/>
          <p:nvPr/>
        </p:nvSpPr>
        <p:spPr>
          <a:xfrm>
            <a:off x="795600" y="8805960"/>
            <a:ext cx="16458840" cy="15588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DABC2"/>
                </a:solidFill>
                <a:effectLst/>
                <a:uFillTx/>
                <a:latin typeface="Aptos"/>
              </a:rPr>
              <a:t>PageRank is one useful feature—not a complete ranking or decision system on its own.</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D12"/>
        </a:solidFill>
      </p:bgPr>
    </p:bg>
    <p:spTree>
      <p:nvGrpSpPr>
        <p:cNvPr id="1" name=""/>
        <p:cNvGrpSpPr/>
        <p:nvPr/>
      </p:nvGrpSpPr>
      <p:grpSpPr>
        <a:xfrm>
          <a:off x="0" y="0"/>
          <a:ext cx="0" cy="0"/>
          <a:chOff x="0" y="0"/>
          <a:chExt cx="0" cy="0"/>
        </a:xfrm>
      </p:grpSpPr>
      <p:pic>
        <p:nvPicPr>
          <p:cNvPr id="518" name="Google Shape;486;p17" descr="preencoded.png"/>
          <p:cNvPicPr/>
          <p:nvPr/>
        </p:nvPicPr>
        <p:blipFill>
          <a:blip r:embed="rId1">
            <a:alphaModFix amt="40000"/>
          </a:blip>
          <a:stretch/>
        </p:blipFill>
        <p:spPr>
          <a:xfrm>
            <a:off x="0" y="0"/>
            <a:ext cx="18287280" cy="10286280"/>
          </a:xfrm>
          <a:prstGeom prst="rect">
            <a:avLst/>
          </a:prstGeom>
          <a:noFill/>
          <a:ln w="0">
            <a:noFill/>
          </a:ln>
        </p:spPr>
      </p:pic>
      <p:sp>
        <p:nvSpPr>
          <p:cNvPr id="519" name="Google Shape;487;p17"/>
          <p:cNvSpPr/>
          <p:nvPr/>
        </p:nvSpPr>
        <p:spPr>
          <a:xfrm>
            <a:off x="952560" y="4000680"/>
            <a:ext cx="5435280" cy="1303560"/>
          </a:xfrm>
          <a:prstGeom prst="rect">
            <a:avLst/>
          </a:prstGeom>
          <a:noFill/>
          <a:ln w="0">
            <a:noFill/>
          </a:ln>
        </p:spPr>
        <p:style>
          <a:lnRef idx="0"/>
          <a:fillRef idx="0"/>
          <a:effectRef idx="0"/>
          <a:fontRef idx="minor"/>
        </p:style>
        <p:txBody>
          <a:bodyPr lIns="25560" tIns="25560" rIns="25560" bIns="25560" anchor="t">
            <a:noAutofit/>
          </a:bodyPr>
          <a:p>
            <a:pPr>
              <a:lnSpc>
                <a:spcPct val="100000"/>
              </a:lnSpc>
              <a:tabLst>
                <a:tab pos="0" algn="l"/>
              </a:tabLst>
            </a:pPr>
            <a:r>
              <a:rPr lang="en-US" sz="7800" b="1" u="none" strike="noStrike">
                <a:solidFill>
                  <a:srgbClr val="EEF2F7"/>
                </a:solidFill>
                <a:effectLst/>
                <a:uFillTx/>
                <a:latin typeface="Arial"/>
                <a:ea typeface="Arial"/>
              </a:rPr>
              <a:t>Thank you.</a:t>
            </a:r>
            <a:endParaRPr lang="en-US" sz="7800" b="0" u="none" strike="noStrike">
              <a:solidFill>
                <a:srgbClr val="FFFFFF"/>
              </a:solidFill>
              <a:effectLst/>
              <a:uFillTx/>
              <a:latin typeface="Arial"/>
            </a:endParaRPr>
          </a:p>
        </p:txBody>
      </p:sp>
      <p:sp>
        <p:nvSpPr>
          <p:cNvPr id="520" name="Google Shape;488;p17"/>
          <p:cNvSpPr/>
          <p:nvPr/>
        </p:nvSpPr>
        <p:spPr>
          <a:xfrm>
            <a:off x="952560" y="5552280"/>
            <a:ext cx="5435280" cy="390600"/>
          </a:xfrm>
          <a:prstGeom prst="rect">
            <a:avLst/>
          </a:prstGeom>
          <a:noFill/>
          <a:ln w="0">
            <a:noFill/>
          </a:ln>
        </p:spPr>
        <p:style>
          <a:lnRef idx="0"/>
          <a:fillRef idx="0"/>
          <a:effectRef idx="0"/>
          <a:fontRef idx="minor"/>
        </p:style>
        <p:txBody>
          <a:bodyPr lIns="25560" tIns="25560" rIns="25560" bIns="25560" anchor="t">
            <a:noAutofit/>
          </a:bodyPr>
          <a:p>
            <a:pP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47</TotalTime>
  <Application>LibreOffice/26.8.0.3$Linux_X86_64 LibreOffice_project/680$Build-3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lastPrinted>2026-10-14T01:07:52Z</cp:lastPrinted>
  <dcterms:modified xsi:type="dcterms:W3CDTF">2026-10-14T18:52:43Z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